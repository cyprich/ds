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8"/>
  </p:notesMasterIdLst>
  <p:handoutMasterIdLst>
    <p:handoutMasterId r:id="rId99"/>
  </p:handoutMasterIdLst>
  <p:sldIdLst>
    <p:sldId id="315" r:id="rId5"/>
    <p:sldId id="316" r:id="rId6"/>
    <p:sldId id="412" r:id="rId7"/>
    <p:sldId id="317" r:id="rId8"/>
    <p:sldId id="410" r:id="rId9"/>
    <p:sldId id="318" r:id="rId10"/>
    <p:sldId id="319" r:id="rId11"/>
    <p:sldId id="321" r:id="rId12"/>
    <p:sldId id="322" r:id="rId13"/>
    <p:sldId id="323" r:id="rId14"/>
    <p:sldId id="325" r:id="rId15"/>
    <p:sldId id="324" r:id="rId16"/>
    <p:sldId id="326" r:id="rId17"/>
    <p:sldId id="327" r:id="rId18"/>
    <p:sldId id="328" r:id="rId19"/>
    <p:sldId id="329" r:id="rId20"/>
    <p:sldId id="330" r:id="rId21"/>
    <p:sldId id="331" r:id="rId22"/>
    <p:sldId id="332" r:id="rId23"/>
    <p:sldId id="333" r:id="rId24"/>
    <p:sldId id="334" r:id="rId25"/>
    <p:sldId id="335" r:id="rId26"/>
    <p:sldId id="336" r:id="rId27"/>
    <p:sldId id="337" r:id="rId28"/>
    <p:sldId id="338" r:id="rId29"/>
    <p:sldId id="339" r:id="rId30"/>
    <p:sldId id="414" r:id="rId31"/>
    <p:sldId id="340" r:id="rId32"/>
    <p:sldId id="341" r:id="rId33"/>
    <p:sldId id="342" r:id="rId34"/>
    <p:sldId id="343" r:id="rId35"/>
    <p:sldId id="344" r:id="rId36"/>
    <p:sldId id="345" r:id="rId37"/>
    <p:sldId id="346" r:id="rId38"/>
    <p:sldId id="347" r:id="rId39"/>
    <p:sldId id="348" r:id="rId40"/>
    <p:sldId id="349" r:id="rId41"/>
    <p:sldId id="350" r:id="rId42"/>
    <p:sldId id="351" r:id="rId43"/>
    <p:sldId id="352" r:id="rId44"/>
    <p:sldId id="405" r:id="rId45"/>
    <p:sldId id="354" r:id="rId46"/>
    <p:sldId id="355" r:id="rId47"/>
    <p:sldId id="356" r:id="rId48"/>
    <p:sldId id="357" r:id="rId49"/>
    <p:sldId id="358" r:id="rId50"/>
    <p:sldId id="359" r:id="rId51"/>
    <p:sldId id="360" r:id="rId52"/>
    <p:sldId id="361" r:id="rId53"/>
    <p:sldId id="362" r:id="rId54"/>
    <p:sldId id="363" r:id="rId55"/>
    <p:sldId id="364" r:id="rId56"/>
    <p:sldId id="365" r:id="rId57"/>
    <p:sldId id="366" r:id="rId58"/>
    <p:sldId id="367" r:id="rId59"/>
    <p:sldId id="368" r:id="rId60"/>
    <p:sldId id="369" r:id="rId61"/>
    <p:sldId id="408" r:id="rId62"/>
    <p:sldId id="370" r:id="rId63"/>
    <p:sldId id="371" r:id="rId64"/>
    <p:sldId id="372" r:id="rId65"/>
    <p:sldId id="373" r:id="rId66"/>
    <p:sldId id="374" r:id="rId67"/>
    <p:sldId id="375" r:id="rId68"/>
    <p:sldId id="376" r:id="rId69"/>
    <p:sldId id="377" r:id="rId70"/>
    <p:sldId id="378" r:id="rId71"/>
    <p:sldId id="379" r:id="rId72"/>
    <p:sldId id="407" r:id="rId73"/>
    <p:sldId id="380" r:id="rId74"/>
    <p:sldId id="381" r:id="rId75"/>
    <p:sldId id="382" r:id="rId76"/>
    <p:sldId id="383" r:id="rId77"/>
    <p:sldId id="384" r:id="rId78"/>
    <p:sldId id="385" r:id="rId79"/>
    <p:sldId id="386" r:id="rId80"/>
    <p:sldId id="387" r:id="rId81"/>
    <p:sldId id="388" r:id="rId82"/>
    <p:sldId id="389" r:id="rId83"/>
    <p:sldId id="390" r:id="rId84"/>
    <p:sldId id="391" r:id="rId85"/>
    <p:sldId id="392" r:id="rId86"/>
    <p:sldId id="393" r:id="rId87"/>
    <p:sldId id="394" r:id="rId88"/>
    <p:sldId id="395" r:id="rId89"/>
    <p:sldId id="397" r:id="rId90"/>
    <p:sldId id="398" r:id="rId91"/>
    <p:sldId id="399" r:id="rId92"/>
    <p:sldId id="400" r:id="rId93"/>
    <p:sldId id="401" r:id="rId94"/>
    <p:sldId id="402" r:id="rId95"/>
    <p:sldId id="403" r:id="rId96"/>
    <p:sldId id="411" r:id="rId9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0CAF91-645A-4D4C-89C6-0C0B170D2710}" v="4" dt="2025-03-05T21:45:37.6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7" y="686"/>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presProps" Target="presProps.xml"/><Relationship Id="rId105"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UD - Anna Bačinská" userId="S::bacinska@stud.uniza.sk::7877418a-775f-42e2-bd4b-25414337379d" providerId="AD" clId="Web-{F53EA1B9-7E87-421B-9EFE-B9D1A8FF2D75}"/>
    <pc:docChg chg="modSld">
      <pc:chgData name="STUD - Anna Bačinská" userId="S::bacinska@stud.uniza.sk::7877418a-775f-42e2-bd4b-25414337379d" providerId="AD" clId="Web-{F53EA1B9-7E87-421B-9EFE-B9D1A8FF2D75}" dt="2025-03-03T20:25:41.955" v="0" actId="1076"/>
      <pc:docMkLst>
        <pc:docMk/>
      </pc:docMkLst>
      <pc:sldChg chg="modSp">
        <pc:chgData name="STUD - Anna Bačinská" userId="S::bacinska@stud.uniza.sk::7877418a-775f-42e2-bd4b-25414337379d" providerId="AD" clId="Web-{F53EA1B9-7E87-421B-9EFE-B9D1A8FF2D75}" dt="2025-03-03T20:25:41.955" v="0" actId="1076"/>
        <pc:sldMkLst>
          <pc:docMk/>
          <pc:sldMk cId="4034787348" sldId="345"/>
        </pc:sldMkLst>
        <pc:spChg chg="mod">
          <ac:chgData name="STUD - Anna Bačinská" userId="S::bacinska@stud.uniza.sk::7877418a-775f-42e2-bd4b-25414337379d" providerId="AD" clId="Web-{F53EA1B9-7E87-421B-9EFE-B9D1A8FF2D75}" dt="2025-03-03T20:25:41.955" v="0" actId="1076"/>
          <ac:spMkLst>
            <pc:docMk/>
            <pc:sldMk cId="4034787348" sldId="345"/>
            <ac:spMk id="68613" creationId="{00000000-0000-0000-0000-000000000000}"/>
          </ac:spMkLst>
        </pc:spChg>
      </pc:sldChg>
    </pc:docChg>
  </pc:docChgLst>
  <pc:docChgLst>
    <pc:chgData name="STUD - Anna Bačinská" userId="S::bacinska@stud.uniza.sk::7877418a-775f-42e2-bd4b-25414337379d" providerId="AD" clId="Web-{711B0E49-0FCB-4BF9-8DCD-447388374F64}"/>
    <pc:docChg chg="modSld">
      <pc:chgData name="STUD - Anna Bačinská" userId="S::bacinska@stud.uniza.sk::7877418a-775f-42e2-bd4b-25414337379d" providerId="AD" clId="Web-{711B0E49-0FCB-4BF9-8DCD-447388374F64}" dt="2025-02-20T08:23:15.850" v="1" actId="1076"/>
      <pc:docMkLst>
        <pc:docMk/>
      </pc:docMkLst>
      <pc:sldChg chg="modSp">
        <pc:chgData name="STUD - Anna Bačinská" userId="S::bacinska@stud.uniza.sk::7877418a-775f-42e2-bd4b-25414337379d" providerId="AD" clId="Web-{711B0E49-0FCB-4BF9-8DCD-447388374F64}" dt="2025-02-20T08:23:15.850" v="1" actId="1076"/>
        <pc:sldMkLst>
          <pc:docMk/>
          <pc:sldMk cId="4034787348" sldId="345"/>
        </pc:sldMkLst>
        <pc:spChg chg="mod">
          <ac:chgData name="STUD - Anna Bačinská" userId="S::bacinska@stud.uniza.sk::7877418a-775f-42e2-bd4b-25414337379d" providerId="AD" clId="Web-{711B0E49-0FCB-4BF9-8DCD-447388374F64}" dt="2025-02-20T08:23:15.850" v="1" actId="1076"/>
          <ac:spMkLst>
            <pc:docMk/>
            <pc:sldMk cId="4034787348" sldId="345"/>
            <ac:spMk id="68613" creationId="{00000000-0000-0000-0000-000000000000}"/>
          </ac:spMkLst>
        </pc:spChg>
      </pc:sldChg>
    </pc:docChg>
  </pc:docChgLst>
  <pc:docChgLst>
    <pc:chgData name="STUD - Pavol Hodás" userId="S::hodas4@stud.uniza.sk::d9ac1354-6e29-43ab-ba22-fc133993bcdc" providerId="AD" clId="Web-{B898D140-1BA4-84DE-2D8F-BC45682F50B8}"/>
    <pc:docChg chg="modSld">
      <pc:chgData name="STUD - Pavol Hodás" userId="S::hodas4@stud.uniza.sk::d9ac1354-6e29-43ab-ba22-fc133993bcdc" providerId="AD" clId="Web-{B898D140-1BA4-84DE-2D8F-BC45682F50B8}" dt="2025-02-23T18:47:43.003" v="3" actId="1076"/>
      <pc:docMkLst>
        <pc:docMk/>
      </pc:docMkLst>
      <pc:sldChg chg="modSp">
        <pc:chgData name="STUD - Pavol Hodás" userId="S::hodas4@stud.uniza.sk::d9ac1354-6e29-43ab-ba22-fc133993bcdc" providerId="AD" clId="Web-{B898D140-1BA4-84DE-2D8F-BC45682F50B8}" dt="2025-02-23T18:47:43.003" v="3" actId="1076"/>
        <pc:sldMkLst>
          <pc:docMk/>
          <pc:sldMk cId="3158406444" sldId="342"/>
        </pc:sldMkLst>
        <pc:grpChg chg="mod">
          <ac:chgData name="STUD - Pavol Hodás" userId="S::hodas4@stud.uniza.sk::d9ac1354-6e29-43ab-ba22-fc133993bcdc" providerId="AD" clId="Web-{B898D140-1BA4-84DE-2D8F-BC45682F50B8}" dt="2025-02-23T18:47:43.003" v="3" actId="1076"/>
          <ac:grpSpMkLst>
            <pc:docMk/>
            <pc:sldMk cId="3158406444" sldId="342"/>
            <ac:grpSpMk id="3" creationId="{00000000-0000-0000-0000-000000000000}"/>
          </ac:grpSpMkLst>
        </pc:grpChg>
      </pc:sldChg>
    </pc:docChg>
  </pc:docChgLst>
  <pc:docChgLst>
    <pc:chgData name="STUD - Maroš Rončák" userId="S::roncak8@stud.uniza.sk::f738009b-7b0a-449d-af64-493f65df3143" providerId="AD" clId="Web-{E302B3D5-8ADE-A5B9-5EAC-1A0367C2B61C}"/>
    <pc:docChg chg="sldOrd">
      <pc:chgData name="STUD - Maroš Rončák" userId="S::roncak8@stud.uniza.sk::f738009b-7b0a-449d-af64-493f65df3143" providerId="AD" clId="Web-{E302B3D5-8ADE-A5B9-5EAC-1A0367C2B61C}" dt="2025-02-19T19:47:03.522" v="0"/>
      <pc:docMkLst>
        <pc:docMk/>
      </pc:docMkLst>
      <pc:sldChg chg="ord">
        <pc:chgData name="STUD - Maroš Rončák" userId="S::roncak8@stud.uniza.sk::f738009b-7b0a-449d-af64-493f65df3143" providerId="AD" clId="Web-{E302B3D5-8ADE-A5B9-5EAC-1A0367C2B61C}" dt="2025-02-19T19:47:03.522" v="0"/>
        <pc:sldMkLst>
          <pc:docMk/>
          <pc:sldMk cId="3727932740" sldId="324"/>
        </pc:sldMkLst>
      </pc:sldChg>
    </pc:docChg>
  </pc:docChgLst>
  <pc:docChgLst>
    <pc:chgData name="STUD - Tobiáš Plavecký" userId="57799979-55bf-4ad6-b4af-78e19222f80c" providerId="ADAL" clId="{160CAF91-645A-4D4C-89C6-0C0B170D2710}"/>
    <pc:docChg chg="undo custSel addSld delSld modSld">
      <pc:chgData name="STUD - Tobiáš Plavecký" userId="57799979-55bf-4ad6-b4af-78e19222f80c" providerId="ADAL" clId="{160CAF91-645A-4D4C-89C6-0C0B170D2710}" dt="2025-03-05T22:16:06.098" v="7" actId="47"/>
      <pc:docMkLst>
        <pc:docMk/>
      </pc:docMkLst>
      <pc:sldChg chg="modSp">
        <pc:chgData name="STUD - Tobiáš Plavecký" userId="57799979-55bf-4ad6-b4af-78e19222f80c" providerId="ADAL" clId="{160CAF91-645A-4D4C-89C6-0C0B170D2710}" dt="2025-03-05T21:45:37.621" v="3" actId="1076"/>
        <pc:sldMkLst>
          <pc:docMk/>
          <pc:sldMk cId="3457963032" sldId="333"/>
        </pc:sldMkLst>
        <pc:spChg chg="mod">
          <ac:chgData name="STUD - Tobiáš Plavecký" userId="57799979-55bf-4ad6-b4af-78e19222f80c" providerId="ADAL" clId="{160CAF91-645A-4D4C-89C6-0C0B170D2710}" dt="2025-03-05T21:45:37.621" v="3" actId="1076"/>
          <ac:spMkLst>
            <pc:docMk/>
            <pc:sldMk cId="3457963032" sldId="333"/>
            <ac:spMk id="53252" creationId="{00000000-0000-0000-0000-000000000000}"/>
          </ac:spMkLst>
        </pc:spChg>
      </pc:sldChg>
      <pc:sldChg chg="add del">
        <pc:chgData name="STUD - Tobiáš Plavecký" userId="57799979-55bf-4ad6-b4af-78e19222f80c" providerId="ADAL" clId="{160CAF91-645A-4D4C-89C6-0C0B170D2710}" dt="2025-03-05T22:16:06.098" v="7" actId="47"/>
        <pc:sldMkLst>
          <pc:docMk/>
          <pc:sldMk cId="1782328275" sldId="380"/>
        </pc:sldMkLst>
      </pc:sldChg>
      <pc:sldChg chg="add del">
        <pc:chgData name="STUD - Tobiáš Plavecký" userId="57799979-55bf-4ad6-b4af-78e19222f80c" providerId="ADAL" clId="{160CAF91-645A-4D4C-89C6-0C0B170D2710}" dt="2025-03-05T22:16:05.579" v="6" actId="47"/>
        <pc:sldMkLst>
          <pc:docMk/>
          <pc:sldMk cId="4031095957" sldId="381"/>
        </pc:sldMkLst>
      </pc:sldChg>
    </pc:docChg>
  </pc:docChgLst>
  <pc:docChgLst>
    <pc:chgData name="STUD - Igor Bielik" userId="S::bielik5@stud.uniza.sk::1a93d5b5-9996-4bed-be4e-4a84e4ec0037" providerId="AD" clId="Web-{EE2231FF-13D7-F8DB-6862-C5DB4C27FB95}"/>
    <pc:docChg chg="modSld">
      <pc:chgData name="STUD - Igor Bielik" userId="S::bielik5@stud.uniza.sk::1a93d5b5-9996-4bed-be4e-4a84e4ec0037" providerId="AD" clId="Web-{EE2231FF-13D7-F8DB-6862-C5DB4C27FB95}" dt="2025-02-27T15:04:53.602" v="3" actId="20577"/>
      <pc:docMkLst>
        <pc:docMk/>
      </pc:docMkLst>
      <pc:sldChg chg="modSp">
        <pc:chgData name="STUD - Igor Bielik" userId="S::bielik5@stud.uniza.sk::1a93d5b5-9996-4bed-be4e-4a84e4ec0037" providerId="AD" clId="Web-{EE2231FF-13D7-F8DB-6862-C5DB4C27FB95}" dt="2025-02-27T15:04:53.602" v="3" actId="20577"/>
        <pc:sldMkLst>
          <pc:docMk/>
          <pc:sldMk cId="3368713474" sldId="316"/>
        </pc:sldMkLst>
        <pc:spChg chg="mod">
          <ac:chgData name="STUD - Igor Bielik" userId="S::bielik5@stud.uniza.sk::1a93d5b5-9996-4bed-be4e-4a84e4ec0037" providerId="AD" clId="Web-{EE2231FF-13D7-F8DB-6862-C5DB4C27FB95}" dt="2025-02-27T15:04:53.602" v="3" actId="20577"/>
          <ac:spMkLst>
            <pc:docMk/>
            <pc:sldMk cId="3368713474" sldId="316"/>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hlavičky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k-SK"/>
          </a:p>
        </p:txBody>
      </p:sp>
      <p:sp>
        <p:nvSpPr>
          <p:cNvPr id="3" name="Zástupný symbol dátumu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5B3CB66-D2E1-4EFE-9F88-65598CB95A42}" type="datetimeFigureOut">
              <a:rPr lang="sk-SK" smtClean="0"/>
              <a:pPr/>
              <a:t>5. 3. 2025</a:t>
            </a:fld>
            <a:endParaRPr lang="sk-SK"/>
          </a:p>
        </p:txBody>
      </p:sp>
      <p:sp>
        <p:nvSpPr>
          <p:cNvPr id="4" name="Zástupný symbol päty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sk-SK"/>
          </a:p>
        </p:txBody>
      </p:sp>
      <p:sp>
        <p:nvSpPr>
          <p:cNvPr id="5" name="Zástupný symbol čísla snímky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FBA1020-744A-4BA3-9512-D016CA461E00}" type="slidenum">
              <a:rPr lang="sk-SK" smtClean="0"/>
              <a:pPr/>
              <a:t>‹#›</a:t>
            </a:fld>
            <a:endParaRPr lang="sk-SK"/>
          </a:p>
        </p:txBody>
      </p:sp>
    </p:spTree>
    <p:extLst>
      <p:ext uri="{BB962C8B-B14F-4D97-AF65-F5344CB8AC3E}">
        <p14:creationId xmlns:p14="http://schemas.microsoft.com/office/powerpoint/2010/main" val="11561466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hlavičky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k-SK"/>
          </a:p>
        </p:txBody>
      </p:sp>
      <p:sp>
        <p:nvSpPr>
          <p:cNvPr id="3" name="Zástupný symbol dátum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B3760B-C415-4909-A0F3-FFC117C6CE2C}" type="datetimeFigureOut">
              <a:rPr lang="sk-SK" smtClean="0"/>
              <a:pPr/>
              <a:t>5. 3. 2025</a:t>
            </a:fld>
            <a:endParaRPr lang="sk-SK"/>
          </a:p>
        </p:txBody>
      </p:sp>
      <p:sp>
        <p:nvSpPr>
          <p:cNvPr id="4" name="Zástupný symbol obrazu snímky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sk-SK"/>
          </a:p>
        </p:txBody>
      </p:sp>
      <p:sp>
        <p:nvSpPr>
          <p:cNvPr id="5" name="Zástupný symbol poznámok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6" name="Zástupný symbol päty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sk-SK"/>
          </a:p>
        </p:txBody>
      </p:sp>
      <p:sp>
        <p:nvSpPr>
          <p:cNvPr id="7" name="Zástupný symbol čísla snímky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C8705EE-7B40-452A-86B0-13DCF6DBFA9A}" type="slidenum">
              <a:rPr lang="sk-SK" smtClean="0"/>
              <a:pPr/>
              <a:t>‹#›</a:t>
            </a:fld>
            <a:endParaRPr lang="sk-SK"/>
          </a:p>
        </p:txBody>
      </p:sp>
    </p:spTree>
    <p:extLst>
      <p:ext uri="{BB962C8B-B14F-4D97-AF65-F5344CB8AC3E}">
        <p14:creationId xmlns:p14="http://schemas.microsoft.com/office/powerpoint/2010/main" val="2363949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A2987168-F9F9-4B20-9CE9-563CD16B1C8E}" type="slidenum">
              <a:rPr lang="en-GB" altLang="en-US" sz="1300" smtClean="0"/>
              <a:pPr/>
              <a:t>1</a:t>
            </a:fld>
            <a:endParaRPr lang="en-GB" altLang="en-US" sz="1300"/>
          </a:p>
        </p:txBody>
      </p:sp>
      <p:sp>
        <p:nvSpPr>
          <p:cNvPr id="20483" name="Rectangle 2"/>
          <p:cNvSpPr>
            <a:spLocks noGrp="1" noChangeArrowheads="1"/>
          </p:cNvSpPr>
          <p:nvPr>
            <p:ph type="body" idx="1"/>
          </p:nvPr>
        </p:nvSpPr>
        <p:spPr>
          <a:xfrm>
            <a:off x="246063" y="5302250"/>
            <a:ext cx="6376987" cy="408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395" tIns="45199" rIns="90395" bIns="45199"/>
          <a:lstStyle/>
          <a:p>
            <a:pPr eaLnBrk="1" hangingPunct="1"/>
            <a:endParaRPr lang="en-GB" altLang="en-US">
              <a:latin typeface="Arial" panose="020B0604020202020204" pitchFamily="34" charset="0"/>
            </a:endParaRPr>
          </a:p>
        </p:txBody>
      </p:sp>
      <p:sp>
        <p:nvSpPr>
          <p:cNvPr id="20484" name="Rectangle 3"/>
          <p:cNvSpPr>
            <a:spLocks noGrp="1" noRot="1" noChangeAspect="1" noChangeArrowheads="1" noTextEdit="1"/>
          </p:cNvSpPr>
          <p:nvPr>
            <p:ph type="sldImg"/>
          </p:nvPr>
        </p:nvSpPr>
        <p:spPr>
          <a:xfrm>
            <a:off x="22225" y="0"/>
            <a:ext cx="6761163" cy="5070475"/>
          </a:xfrm>
          <a:ln/>
        </p:spPr>
      </p:sp>
    </p:spTree>
    <p:extLst>
      <p:ext uri="{BB962C8B-B14F-4D97-AF65-F5344CB8AC3E}">
        <p14:creationId xmlns:p14="http://schemas.microsoft.com/office/powerpoint/2010/main" val="3915416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Zástupný symbol obrazu snímky 1"/>
          <p:cNvSpPr>
            <a:spLocks noGrp="1" noRot="1" noChangeAspect="1" noTextEdit="1"/>
          </p:cNvSpPr>
          <p:nvPr>
            <p:ph type="sldImg"/>
          </p:nvPr>
        </p:nvSpPr>
        <p:spPr>
          <a:ln/>
        </p:spPr>
      </p:sp>
      <p:sp>
        <p:nvSpPr>
          <p:cNvPr id="23555"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23556"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86D21F9F-8D70-45AB-B6D1-72C913E3696C}" type="slidenum">
              <a:rPr lang="en-GB" altLang="en-US" sz="1300" smtClean="0"/>
              <a:pPr/>
              <a:t>4</a:t>
            </a:fld>
            <a:endParaRPr lang="en-GB" altLang="en-US" sz="1300"/>
          </a:p>
        </p:txBody>
      </p:sp>
    </p:spTree>
    <p:extLst>
      <p:ext uri="{BB962C8B-B14F-4D97-AF65-F5344CB8AC3E}">
        <p14:creationId xmlns:p14="http://schemas.microsoft.com/office/powerpoint/2010/main" val="2637814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Zástupný symbol obrazu snímky 1"/>
          <p:cNvSpPr>
            <a:spLocks noGrp="1" noRot="1" noChangeAspect="1" noTextEdit="1"/>
          </p:cNvSpPr>
          <p:nvPr>
            <p:ph type="sldImg"/>
          </p:nvPr>
        </p:nvSpPr>
        <p:spPr>
          <a:ln/>
        </p:spPr>
      </p:sp>
      <p:sp>
        <p:nvSpPr>
          <p:cNvPr id="23555"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23556"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86D21F9F-8D70-45AB-B6D1-72C913E3696C}" type="slidenum">
              <a:rPr lang="en-GB" altLang="en-US" sz="1300" smtClean="0"/>
              <a:pPr/>
              <a:t>5</a:t>
            </a:fld>
            <a:endParaRPr lang="en-GB" altLang="en-US" sz="1300"/>
          </a:p>
        </p:txBody>
      </p:sp>
    </p:spTree>
    <p:extLst>
      <p:ext uri="{BB962C8B-B14F-4D97-AF65-F5344CB8AC3E}">
        <p14:creationId xmlns:p14="http://schemas.microsoft.com/office/powerpoint/2010/main" val="2087267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Zástupný symbol obrazu snímky 1"/>
          <p:cNvSpPr>
            <a:spLocks noGrp="1" noRot="1" noChangeAspect="1" noTextEdit="1"/>
          </p:cNvSpPr>
          <p:nvPr>
            <p:ph type="sldImg"/>
          </p:nvPr>
        </p:nvSpPr>
        <p:spPr>
          <a:ln/>
        </p:spPr>
      </p:sp>
      <p:sp>
        <p:nvSpPr>
          <p:cNvPr id="25603"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25604"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F7153C52-1F98-4368-8AD8-A4A88D4D08F3}" type="slidenum">
              <a:rPr lang="en-GB" altLang="en-US" sz="1300" smtClean="0"/>
              <a:pPr/>
              <a:t>6</a:t>
            </a:fld>
            <a:endParaRPr lang="en-GB" altLang="en-US" sz="1300"/>
          </a:p>
        </p:txBody>
      </p:sp>
    </p:spTree>
    <p:extLst>
      <p:ext uri="{BB962C8B-B14F-4D97-AF65-F5344CB8AC3E}">
        <p14:creationId xmlns:p14="http://schemas.microsoft.com/office/powerpoint/2010/main" val="2546834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Zástupný symbol obrazu snímky 1"/>
          <p:cNvSpPr>
            <a:spLocks noGrp="1" noRot="1" noChangeAspect="1" noTextEdit="1"/>
          </p:cNvSpPr>
          <p:nvPr>
            <p:ph type="sldImg"/>
          </p:nvPr>
        </p:nvSpPr>
        <p:spPr>
          <a:ln/>
        </p:spPr>
      </p:sp>
      <p:sp>
        <p:nvSpPr>
          <p:cNvPr id="27651"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27652"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32CE15DC-94F5-40AA-AA13-C5FF5A1982D9}" type="slidenum">
              <a:rPr lang="en-GB" altLang="en-US" sz="1300" smtClean="0"/>
              <a:pPr/>
              <a:t>7</a:t>
            </a:fld>
            <a:endParaRPr lang="en-GB" altLang="en-US" sz="1300"/>
          </a:p>
        </p:txBody>
      </p:sp>
    </p:spTree>
    <p:extLst>
      <p:ext uri="{BB962C8B-B14F-4D97-AF65-F5344CB8AC3E}">
        <p14:creationId xmlns:p14="http://schemas.microsoft.com/office/powerpoint/2010/main" val="731093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Zástupný symbol obrazu snímky 1"/>
          <p:cNvSpPr>
            <a:spLocks noGrp="1" noRot="1" noChangeAspect="1" noTextEdit="1"/>
          </p:cNvSpPr>
          <p:nvPr>
            <p:ph type="sldImg"/>
          </p:nvPr>
        </p:nvSpPr>
        <p:spPr>
          <a:ln/>
        </p:spPr>
      </p:sp>
      <p:sp>
        <p:nvSpPr>
          <p:cNvPr id="30723"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30724"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1ECF816F-6402-4E46-B88E-65E4F41F4095}" type="slidenum">
              <a:rPr lang="en-GB" altLang="en-US" sz="1300" smtClean="0"/>
              <a:pPr/>
              <a:t>8</a:t>
            </a:fld>
            <a:endParaRPr lang="en-GB" altLang="en-US" sz="1300"/>
          </a:p>
        </p:txBody>
      </p:sp>
    </p:spTree>
    <p:extLst>
      <p:ext uri="{BB962C8B-B14F-4D97-AF65-F5344CB8AC3E}">
        <p14:creationId xmlns:p14="http://schemas.microsoft.com/office/powerpoint/2010/main" val="3118560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Zástupný symbol obrazu snímky 1"/>
          <p:cNvSpPr>
            <a:spLocks noGrp="1" noRot="1" noChangeAspect="1" noTextEdit="1"/>
          </p:cNvSpPr>
          <p:nvPr>
            <p:ph type="sldImg"/>
          </p:nvPr>
        </p:nvSpPr>
        <p:spPr>
          <a:ln/>
        </p:spPr>
      </p:sp>
      <p:sp>
        <p:nvSpPr>
          <p:cNvPr id="32771"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32772"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EEEAE211-4E7F-4119-8296-D8661402A8A0}" type="slidenum">
              <a:rPr lang="en-GB" altLang="en-US" sz="1300" smtClean="0"/>
              <a:pPr/>
              <a:t>9</a:t>
            </a:fld>
            <a:endParaRPr lang="en-GB" altLang="en-US" sz="1300"/>
          </a:p>
        </p:txBody>
      </p:sp>
    </p:spTree>
    <p:extLst>
      <p:ext uri="{BB962C8B-B14F-4D97-AF65-F5344CB8AC3E}">
        <p14:creationId xmlns:p14="http://schemas.microsoft.com/office/powerpoint/2010/main" val="2137603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Zástupný symbol obrazu snímky 1"/>
          <p:cNvSpPr>
            <a:spLocks noGrp="1" noRot="1" noChangeAspect="1" noTextEdit="1"/>
          </p:cNvSpPr>
          <p:nvPr>
            <p:ph type="sldImg"/>
          </p:nvPr>
        </p:nvSpPr>
        <p:spPr>
          <a:ln/>
        </p:spPr>
      </p:sp>
      <p:sp>
        <p:nvSpPr>
          <p:cNvPr id="34819"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34820"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EC2833F9-D15F-485F-BAC1-75E2C53820E9}" type="slidenum">
              <a:rPr lang="en-GB" altLang="en-US" sz="1300" smtClean="0"/>
              <a:pPr/>
              <a:t>10</a:t>
            </a:fld>
            <a:endParaRPr lang="en-GB" altLang="en-US" sz="1300"/>
          </a:p>
        </p:txBody>
      </p:sp>
    </p:spTree>
    <p:extLst>
      <p:ext uri="{BB962C8B-B14F-4D97-AF65-F5344CB8AC3E}">
        <p14:creationId xmlns:p14="http://schemas.microsoft.com/office/powerpoint/2010/main" val="2471639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Zástupný symbol obrazu snímky 1"/>
          <p:cNvSpPr>
            <a:spLocks noGrp="1" noRot="1" noChangeAspect="1" noTextEdit="1"/>
          </p:cNvSpPr>
          <p:nvPr>
            <p:ph type="sldImg"/>
          </p:nvPr>
        </p:nvSpPr>
        <p:spPr>
          <a:ln/>
        </p:spPr>
      </p:sp>
      <p:sp>
        <p:nvSpPr>
          <p:cNvPr id="36867"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36868"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286BB002-A9CE-4B9A-ABBE-CAD22265EAEE}" type="slidenum">
              <a:rPr lang="en-GB" altLang="en-US" sz="1300" smtClean="0"/>
              <a:pPr/>
              <a:t>12</a:t>
            </a:fld>
            <a:endParaRPr lang="en-GB" altLang="en-US" sz="1300"/>
          </a:p>
        </p:txBody>
      </p:sp>
    </p:spTree>
    <p:extLst>
      <p:ext uri="{BB962C8B-B14F-4D97-AF65-F5344CB8AC3E}">
        <p14:creationId xmlns:p14="http://schemas.microsoft.com/office/powerpoint/2010/main" val="1059930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Zástupný objekt pre obrázok snímky 1"/>
          <p:cNvSpPr>
            <a:spLocks noGrp="1" noRot="1" noChangeAspect="1" noTextEdit="1"/>
          </p:cNvSpPr>
          <p:nvPr>
            <p:ph type="sldImg"/>
          </p:nvPr>
        </p:nvSpPr>
        <p:spPr>
          <a:ln/>
        </p:spPr>
      </p:sp>
      <p:sp>
        <p:nvSpPr>
          <p:cNvPr id="39939" name="Zástupný objekt pre poznámky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9940" name="Zástupný objekt pre číslo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897F8EC0-C96C-4419-8AD1-BE7440182386}" type="slidenum">
              <a:rPr lang="en-GB" altLang="en-US" sz="1300" smtClean="0"/>
              <a:pPr/>
              <a:t>13</a:t>
            </a:fld>
            <a:endParaRPr lang="en-GB" altLang="en-US" sz="1300"/>
          </a:p>
        </p:txBody>
      </p:sp>
    </p:spTree>
    <p:extLst>
      <p:ext uri="{BB962C8B-B14F-4D97-AF65-F5344CB8AC3E}">
        <p14:creationId xmlns:p14="http://schemas.microsoft.com/office/powerpoint/2010/main" val="28407565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Zástupný objekt pre obrázok snímky 1"/>
          <p:cNvSpPr>
            <a:spLocks noGrp="1" noRot="1" noChangeAspect="1" noTextEdit="1"/>
          </p:cNvSpPr>
          <p:nvPr>
            <p:ph type="sldImg"/>
          </p:nvPr>
        </p:nvSpPr>
        <p:spPr>
          <a:ln/>
        </p:spPr>
      </p:sp>
      <p:sp>
        <p:nvSpPr>
          <p:cNvPr id="41987" name="Zástupný objekt pre poznámky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1988" name="Zástupný objekt pre číslo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C5E8483E-655A-4C72-93B8-BFE76464E041}" type="slidenum">
              <a:rPr lang="en-GB" altLang="en-US" sz="1300" smtClean="0"/>
              <a:pPr/>
              <a:t>14</a:t>
            </a:fld>
            <a:endParaRPr lang="en-GB" altLang="en-US" sz="1300"/>
          </a:p>
        </p:txBody>
      </p:sp>
    </p:spTree>
    <p:extLst>
      <p:ext uri="{BB962C8B-B14F-4D97-AF65-F5344CB8AC3E}">
        <p14:creationId xmlns:p14="http://schemas.microsoft.com/office/powerpoint/2010/main" val="2573727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Zástupný objekt pre obrázok snímky 1"/>
          <p:cNvSpPr>
            <a:spLocks noGrp="1" noRot="1" noChangeAspect="1" noTextEdit="1"/>
          </p:cNvSpPr>
          <p:nvPr>
            <p:ph type="sldImg"/>
          </p:nvPr>
        </p:nvSpPr>
        <p:spPr>
          <a:ln/>
        </p:spPr>
      </p:sp>
      <p:sp>
        <p:nvSpPr>
          <p:cNvPr id="44035" name="Zástupný objekt pre poznámky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4036" name="Zástupný objekt pre číslo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4EDF5344-290A-4821-B9EE-2AD2FCBB807C}" type="slidenum">
              <a:rPr lang="en-GB" altLang="en-US" sz="1300" smtClean="0"/>
              <a:pPr/>
              <a:t>15</a:t>
            </a:fld>
            <a:endParaRPr lang="en-GB" altLang="en-US" sz="1300"/>
          </a:p>
        </p:txBody>
      </p:sp>
    </p:spTree>
    <p:extLst>
      <p:ext uri="{BB962C8B-B14F-4D97-AF65-F5344CB8AC3E}">
        <p14:creationId xmlns:p14="http://schemas.microsoft.com/office/powerpoint/2010/main" val="2877379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Zástupný objekt pre obrázok snímky 1"/>
          <p:cNvSpPr>
            <a:spLocks noGrp="1" noRot="1" noChangeAspect="1" noTextEdit="1"/>
          </p:cNvSpPr>
          <p:nvPr>
            <p:ph type="sldImg"/>
          </p:nvPr>
        </p:nvSpPr>
        <p:spPr>
          <a:ln/>
        </p:spPr>
      </p:sp>
      <p:sp>
        <p:nvSpPr>
          <p:cNvPr id="46083" name="Zástupný objekt pre poznámky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6084" name="Zástupný objekt pre číslo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D1328BE8-6E11-434B-9C06-8C6EAA100CCB}" type="slidenum">
              <a:rPr lang="en-GB" altLang="en-US" sz="1300" smtClean="0"/>
              <a:pPr/>
              <a:t>16</a:t>
            </a:fld>
            <a:endParaRPr lang="en-GB" altLang="en-US" sz="1300"/>
          </a:p>
        </p:txBody>
      </p:sp>
    </p:spTree>
    <p:extLst>
      <p:ext uri="{BB962C8B-B14F-4D97-AF65-F5344CB8AC3E}">
        <p14:creationId xmlns:p14="http://schemas.microsoft.com/office/powerpoint/2010/main" val="219730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Zástupný objekt pre obrázok snímky 1"/>
          <p:cNvSpPr>
            <a:spLocks noGrp="1" noRot="1" noChangeAspect="1" noTextEdit="1"/>
          </p:cNvSpPr>
          <p:nvPr>
            <p:ph type="sldImg"/>
          </p:nvPr>
        </p:nvSpPr>
        <p:spPr>
          <a:ln/>
        </p:spPr>
      </p:sp>
      <p:sp>
        <p:nvSpPr>
          <p:cNvPr id="48131" name="Zástupný objekt pre poznámky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8132" name="Zástupný objekt pre číslo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2250DA87-A6A8-4945-A66B-F0C682223476}" type="slidenum">
              <a:rPr lang="en-GB" altLang="en-US" sz="1300" smtClean="0"/>
              <a:pPr/>
              <a:t>17</a:t>
            </a:fld>
            <a:endParaRPr lang="en-GB" altLang="en-US" sz="1300"/>
          </a:p>
        </p:txBody>
      </p:sp>
    </p:spTree>
    <p:extLst>
      <p:ext uri="{BB962C8B-B14F-4D97-AF65-F5344CB8AC3E}">
        <p14:creationId xmlns:p14="http://schemas.microsoft.com/office/powerpoint/2010/main" val="3908800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Zástupný objekt pre obrázok snímky 1"/>
          <p:cNvSpPr>
            <a:spLocks noGrp="1" noRot="1" noChangeAspect="1" noTextEdit="1"/>
          </p:cNvSpPr>
          <p:nvPr>
            <p:ph type="sldImg"/>
          </p:nvPr>
        </p:nvSpPr>
        <p:spPr>
          <a:ln/>
        </p:spPr>
      </p:sp>
      <p:sp>
        <p:nvSpPr>
          <p:cNvPr id="50179" name="Zástupný objekt pre poznámky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0180" name="Zástupný objekt pre číslo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9C519028-1B25-47E4-98A9-6F6D1CBC5199}" type="slidenum">
              <a:rPr lang="en-GB" altLang="en-US" sz="1300" smtClean="0"/>
              <a:pPr/>
              <a:t>18</a:t>
            </a:fld>
            <a:endParaRPr lang="en-GB" altLang="en-US" sz="1300"/>
          </a:p>
        </p:txBody>
      </p:sp>
    </p:spTree>
    <p:extLst>
      <p:ext uri="{BB962C8B-B14F-4D97-AF65-F5344CB8AC3E}">
        <p14:creationId xmlns:p14="http://schemas.microsoft.com/office/powerpoint/2010/main" val="876921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Zástupný symbol obrazu snímky 1"/>
          <p:cNvSpPr>
            <a:spLocks noGrp="1" noRot="1" noChangeAspect="1" noTextEdit="1"/>
          </p:cNvSpPr>
          <p:nvPr>
            <p:ph type="sldImg"/>
          </p:nvPr>
        </p:nvSpPr>
        <p:spPr>
          <a:ln/>
        </p:spPr>
      </p:sp>
      <p:sp>
        <p:nvSpPr>
          <p:cNvPr id="52227"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52228"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BFF04DCB-D6DC-49D0-91DD-EFF2B801A5AE}" type="slidenum">
              <a:rPr lang="en-GB" altLang="en-US" sz="1300" smtClean="0"/>
              <a:pPr/>
              <a:t>19</a:t>
            </a:fld>
            <a:endParaRPr lang="en-GB" altLang="en-US" sz="1300"/>
          </a:p>
        </p:txBody>
      </p:sp>
    </p:spTree>
    <p:extLst>
      <p:ext uri="{BB962C8B-B14F-4D97-AF65-F5344CB8AC3E}">
        <p14:creationId xmlns:p14="http://schemas.microsoft.com/office/powerpoint/2010/main" val="1326284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Zástupný symbol obrazu snímky 1"/>
          <p:cNvSpPr>
            <a:spLocks noGrp="1" noRot="1" noChangeAspect="1" noTextEdit="1"/>
          </p:cNvSpPr>
          <p:nvPr>
            <p:ph type="sldImg"/>
          </p:nvPr>
        </p:nvSpPr>
        <p:spPr>
          <a:ln/>
        </p:spPr>
      </p:sp>
      <p:sp>
        <p:nvSpPr>
          <p:cNvPr id="61443"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61444"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74B5FDEF-B769-4A04-A34A-8C2E929ADD62}" type="slidenum">
              <a:rPr lang="en-GB" altLang="en-US" sz="1300" smtClean="0"/>
              <a:pPr/>
              <a:t>28</a:t>
            </a:fld>
            <a:endParaRPr lang="en-GB" altLang="en-US" sz="1300"/>
          </a:p>
        </p:txBody>
      </p:sp>
    </p:spTree>
    <p:extLst>
      <p:ext uri="{BB962C8B-B14F-4D97-AF65-F5344CB8AC3E}">
        <p14:creationId xmlns:p14="http://schemas.microsoft.com/office/powerpoint/2010/main" val="1175607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Zástupný symbol obrazu snímky 1"/>
          <p:cNvSpPr>
            <a:spLocks noGrp="1" noRot="1" noChangeAspect="1" noTextEdit="1"/>
          </p:cNvSpPr>
          <p:nvPr>
            <p:ph type="sldImg"/>
          </p:nvPr>
        </p:nvSpPr>
        <p:spPr>
          <a:ln/>
        </p:spPr>
      </p:sp>
      <p:sp>
        <p:nvSpPr>
          <p:cNvPr id="63491"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63492"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685D7C96-13EF-4D7D-919F-8FC6B0C9AA6B}" type="slidenum">
              <a:rPr lang="en-GB" altLang="en-US" sz="1300" smtClean="0"/>
              <a:pPr/>
              <a:t>29</a:t>
            </a:fld>
            <a:endParaRPr lang="en-GB" altLang="en-US" sz="1300"/>
          </a:p>
        </p:txBody>
      </p:sp>
    </p:spTree>
    <p:extLst>
      <p:ext uri="{BB962C8B-B14F-4D97-AF65-F5344CB8AC3E}">
        <p14:creationId xmlns:p14="http://schemas.microsoft.com/office/powerpoint/2010/main" val="36686166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Zástupný symbol obrazu snímky 1"/>
          <p:cNvSpPr>
            <a:spLocks noGrp="1" noRot="1" noChangeAspect="1" noTextEdit="1"/>
          </p:cNvSpPr>
          <p:nvPr>
            <p:ph type="sldImg"/>
          </p:nvPr>
        </p:nvSpPr>
        <p:spPr>
          <a:ln/>
        </p:spPr>
      </p:sp>
      <p:sp>
        <p:nvSpPr>
          <p:cNvPr id="65539"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65540"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33C8B788-F8AA-4DD7-820A-DAACBE4E33B4}" type="slidenum">
              <a:rPr lang="en-GB" altLang="en-US" sz="1300" smtClean="0"/>
              <a:pPr/>
              <a:t>30</a:t>
            </a:fld>
            <a:endParaRPr lang="en-GB" altLang="en-US" sz="1300"/>
          </a:p>
        </p:txBody>
      </p:sp>
    </p:spTree>
    <p:extLst>
      <p:ext uri="{BB962C8B-B14F-4D97-AF65-F5344CB8AC3E}">
        <p14:creationId xmlns:p14="http://schemas.microsoft.com/office/powerpoint/2010/main" val="31007753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Zástupný symbol obrazu snímky 1"/>
          <p:cNvSpPr>
            <a:spLocks noGrp="1" noRot="1" noChangeAspect="1" noTextEdit="1"/>
          </p:cNvSpPr>
          <p:nvPr>
            <p:ph type="sldImg"/>
          </p:nvPr>
        </p:nvSpPr>
        <p:spPr>
          <a:ln/>
        </p:spPr>
      </p:sp>
      <p:sp>
        <p:nvSpPr>
          <p:cNvPr id="120835"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120836"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3D851893-C2FF-4E1D-9D54-D218BFFCE91C}" type="slidenum">
              <a:rPr lang="en-GB" altLang="en-US" sz="1300" smtClean="0"/>
              <a:pPr/>
              <a:t>85</a:t>
            </a:fld>
            <a:endParaRPr lang="en-GB" altLang="en-US" sz="1300"/>
          </a:p>
        </p:txBody>
      </p:sp>
    </p:spTree>
    <p:extLst>
      <p:ext uri="{BB962C8B-B14F-4D97-AF65-F5344CB8AC3E}">
        <p14:creationId xmlns:p14="http://schemas.microsoft.com/office/powerpoint/2010/main" val="1465982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Zástupný symbol obrazu snímky 1"/>
          <p:cNvSpPr>
            <a:spLocks noGrp="1" noRot="1" noChangeAspect="1" noTextEdit="1"/>
          </p:cNvSpPr>
          <p:nvPr>
            <p:ph type="sldImg"/>
          </p:nvPr>
        </p:nvSpPr>
        <p:spPr>
          <a:ln/>
        </p:spPr>
      </p:sp>
      <p:sp>
        <p:nvSpPr>
          <p:cNvPr id="124931"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124932"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CDAABB45-3117-4729-B48E-C703DBD52477}" type="slidenum">
              <a:rPr lang="en-GB" altLang="en-US" sz="1300" smtClean="0"/>
              <a:pPr/>
              <a:t>86</a:t>
            </a:fld>
            <a:endParaRPr lang="en-GB" altLang="en-US" sz="1300"/>
          </a:p>
        </p:txBody>
      </p:sp>
    </p:spTree>
    <p:extLst>
      <p:ext uri="{BB962C8B-B14F-4D97-AF65-F5344CB8AC3E}">
        <p14:creationId xmlns:p14="http://schemas.microsoft.com/office/powerpoint/2010/main" val="22689743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Zástupný symbol obrazu snímky 1"/>
          <p:cNvSpPr>
            <a:spLocks noGrp="1" noRot="1" noChangeAspect="1" noTextEdit="1"/>
          </p:cNvSpPr>
          <p:nvPr>
            <p:ph type="sldImg"/>
          </p:nvPr>
        </p:nvSpPr>
        <p:spPr>
          <a:ln/>
        </p:spPr>
      </p:sp>
      <p:sp>
        <p:nvSpPr>
          <p:cNvPr id="126979"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126980"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DF91E22B-EABE-4D80-A6B7-7F028A186AD2}" type="slidenum">
              <a:rPr lang="en-GB" altLang="en-US" sz="1300" smtClean="0"/>
              <a:pPr/>
              <a:t>87</a:t>
            </a:fld>
            <a:endParaRPr lang="en-GB" altLang="en-US" sz="1300"/>
          </a:p>
        </p:txBody>
      </p:sp>
    </p:spTree>
    <p:extLst>
      <p:ext uri="{BB962C8B-B14F-4D97-AF65-F5344CB8AC3E}">
        <p14:creationId xmlns:p14="http://schemas.microsoft.com/office/powerpoint/2010/main" val="26578863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Zástupný symbol obrazu snímky 1"/>
          <p:cNvSpPr>
            <a:spLocks noGrp="1" noRot="1" noChangeAspect="1" noTextEdit="1"/>
          </p:cNvSpPr>
          <p:nvPr>
            <p:ph type="sldImg"/>
          </p:nvPr>
        </p:nvSpPr>
        <p:spPr>
          <a:ln/>
        </p:spPr>
      </p:sp>
      <p:sp>
        <p:nvSpPr>
          <p:cNvPr id="130051"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130052"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6802CC09-1128-4FF4-9AE5-F30BD0D17F6E}" type="slidenum">
              <a:rPr lang="en-GB" altLang="en-US" sz="1300" smtClean="0"/>
              <a:pPr/>
              <a:t>89</a:t>
            </a:fld>
            <a:endParaRPr lang="en-GB" altLang="en-US" sz="1300"/>
          </a:p>
        </p:txBody>
      </p:sp>
    </p:spTree>
    <p:extLst>
      <p:ext uri="{BB962C8B-B14F-4D97-AF65-F5344CB8AC3E}">
        <p14:creationId xmlns:p14="http://schemas.microsoft.com/office/powerpoint/2010/main" val="22233193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Zástupný symbol obrazu snímky 1"/>
          <p:cNvSpPr>
            <a:spLocks noGrp="1" noRot="1" noChangeAspect="1" noTextEdit="1"/>
          </p:cNvSpPr>
          <p:nvPr>
            <p:ph type="sldImg"/>
          </p:nvPr>
        </p:nvSpPr>
        <p:spPr>
          <a:ln/>
        </p:spPr>
      </p:sp>
      <p:sp>
        <p:nvSpPr>
          <p:cNvPr id="133123" name="Zástupný symbol poznámok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en-US">
              <a:latin typeface="Arial" panose="020B0604020202020204" pitchFamily="34" charset="0"/>
            </a:endParaRPr>
          </a:p>
        </p:txBody>
      </p:sp>
      <p:sp>
        <p:nvSpPr>
          <p:cNvPr id="133124" name="Zástupný symbol čísla snímky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1D383B33-37A4-4C34-AB58-7A69640B5255}" type="slidenum">
              <a:rPr lang="en-GB" altLang="en-US" sz="1300" smtClean="0"/>
              <a:pPr/>
              <a:t>91</a:t>
            </a:fld>
            <a:endParaRPr lang="en-GB" altLang="en-US" sz="1300"/>
          </a:p>
        </p:txBody>
      </p:sp>
    </p:spTree>
    <p:extLst>
      <p:ext uri="{BB962C8B-B14F-4D97-AF65-F5344CB8AC3E}">
        <p14:creationId xmlns:p14="http://schemas.microsoft.com/office/powerpoint/2010/main" val="3360805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Arial" panose="020B0604020202020204" pitchFamily="34" charset="0"/>
              </a:defRPr>
            </a:lvl1pPr>
            <a:lvl2pPr marL="742950" indent="-285750" defTabSz="954088">
              <a:defRPr sz="2000">
                <a:solidFill>
                  <a:schemeClr val="tx1"/>
                </a:solidFill>
                <a:latin typeface="Arial" panose="020B0604020202020204" pitchFamily="34" charset="0"/>
              </a:defRPr>
            </a:lvl2pPr>
            <a:lvl3pPr marL="1143000" indent="-228600" defTabSz="954088">
              <a:defRPr sz="2000">
                <a:solidFill>
                  <a:schemeClr val="tx1"/>
                </a:solidFill>
                <a:latin typeface="Arial" panose="020B0604020202020204" pitchFamily="34" charset="0"/>
              </a:defRPr>
            </a:lvl3pPr>
            <a:lvl4pPr marL="1600200" indent="-228600" defTabSz="954088">
              <a:defRPr sz="2000">
                <a:solidFill>
                  <a:schemeClr val="tx1"/>
                </a:solidFill>
                <a:latin typeface="Arial" panose="020B0604020202020204" pitchFamily="34" charset="0"/>
              </a:defRPr>
            </a:lvl4pPr>
            <a:lvl5pPr marL="2057400" indent="-228600" defTabSz="954088">
              <a:defRPr sz="2000">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sz="2000">
                <a:solidFill>
                  <a:schemeClr val="tx1"/>
                </a:solidFill>
                <a:latin typeface="Arial" panose="020B0604020202020204" pitchFamily="34" charset="0"/>
              </a:defRPr>
            </a:lvl9pPr>
          </a:lstStyle>
          <a:p>
            <a:fld id="{0527A697-CF00-4E78-B365-02943E1B2192}" type="slidenum">
              <a:rPr lang="en-GB" altLang="sk-SK" sz="1300" smtClean="0"/>
              <a:pPr/>
              <a:t>93</a:t>
            </a:fld>
            <a:endParaRPr lang="en-GB" altLang="sk-SK" sz="130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sk-SK">
              <a:latin typeface="Arial" panose="020B0604020202020204" pitchFamily="34" charset="0"/>
            </a:endParaRPr>
          </a:p>
        </p:txBody>
      </p:sp>
    </p:spTree>
    <p:extLst>
      <p:ext uri="{BB962C8B-B14F-4D97-AF65-F5344CB8AC3E}">
        <p14:creationId xmlns:p14="http://schemas.microsoft.com/office/powerpoint/2010/main" val="41968218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á snímka">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Nadpis 1"/>
          <p:cNvSpPr>
            <a:spLocks noGrp="1"/>
          </p:cNvSpPr>
          <p:nvPr>
            <p:ph type="ctrTitle"/>
          </p:nvPr>
        </p:nvSpPr>
        <p:spPr>
          <a:xfrm>
            <a:off x="685800" y="3039095"/>
            <a:ext cx="7772400" cy="1758057"/>
          </a:xfrm>
        </p:spPr>
        <p:txBody>
          <a:bodyPr/>
          <a:lstStyle/>
          <a:p>
            <a:r>
              <a:rPr lang="sk-SK"/>
              <a:t>Upravte štýly predlohy textu</a:t>
            </a:r>
            <a:endParaRPr lang="en-US"/>
          </a:p>
        </p:txBody>
      </p:sp>
      <p:sp>
        <p:nvSpPr>
          <p:cNvPr id="3" name="Podnadpis 2"/>
          <p:cNvSpPr>
            <a:spLocks noGrp="1"/>
          </p:cNvSpPr>
          <p:nvPr>
            <p:ph type="subTitle" idx="1"/>
          </p:nvPr>
        </p:nvSpPr>
        <p:spPr>
          <a:xfrm>
            <a:off x="1371600" y="4941168"/>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k-SK"/>
              <a:t>Upravte štýl predlohy podnadpisov</a:t>
            </a:r>
            <a:endParaRPr lang="en-US"/>
          </a:p>
        </p:txBody>
      </p:sp>
    </p:spTree>
    <p:extLst>
      <p:ext uri="{BB962C8B-B14F-4D97-AF65-F5344CB8AC3E}">
        <p14:creationId xmlns:p14="http://schemas.microsoft.com/office/powerpoint/2010/main" val="3040966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Úvodná snímka">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4" name="Nadpis 1"/>
          <p:cNvSpPr>
            <a:spLocks noGrp="1"/>
          </p:cNvSpPr>
          <p:nvPr userDrawn="1">
            <p:ph type="ctrTitle"/>
          </p:nvPr>
        </p:nvSpPr>
        <p:spPr>
          <a:xfrm>
            <a:off x="3206080" y="980728"/>
            <a:ext cx="5542384" cy="1778731"/>
          </a:xfrm>
        </p:spPr>
        <p:txBody>
          <a:bodyPr anchor="t">
            <a:normAutofit/>
          </a:bodyPr>
          <a:lstStyle/>
          <a:p>
            <a:pPr algn="l"/>
            <a:endParaRPr lang="en-US" sz="3600">
              <a:solidFill>
                <a:schemeClr val="bg1"/>
              </a:solidFill>
              <a:latin typeface="Arial" pitchFamily="34" charset="0"/>
              <a:cs typeface="Arial" pitchFamily="34" charset="0"/>
            </a:endParaRPr>
          </a:p>
        </p:txBody>
      </p:sp>
      <p:sp>
        <p:nvSpPr>
          <p:cNvPr id="5" name="Podnadpis 2"/>
          <p:cNvSpPr>
            <a:spLocks noGrp="1"/>
          </p:cNvSpPr>
          <p:nvPr userDrawn="1">
            <p:ph type="subTitle" idx="1"/>
          </p:nvPr>
        </p:nvSpPr>
        <p:spPr>
          <a:xfrm>
            <a:off x="3203848" y="3092455"/>
            <a:ext cx="5616624" cy="1416665"/>
          </a:xfrm>
        </p:spPr>
        <p:txBody>
          <a:bodyPr/>
          <a:lstStyle>
            <a:lvl1pPr>
              <a:buFontTx/>
              <a:buNone/>
              <a:defRPr/>
            </a:lvl1pPr>
          </a:lstStyle>
          <a:p>
            <a:pPr algn="l"/>
            <a:endParaRPr lang="en-US">
              <a:latin typeface="Arial" pitchFamily="34" charset="0"/>
              <a:cs typeface="Arial" pitchFamily="34" charset="0"/>
            </a:endParaRPr>
          </a:p>
        </p:txBody>
      </p:sp>
    </p:spTree>
    <p:extLst>
      <p:ext uri="{BB962C8B-B14F-4D97-AF65-F5344CB8AC3E}">
        <p14:creationId xmlns:p14="http://schemas.microsoft.com/office/powerpoint/2010/main" val="3040966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a:t>Upravte štýly predlohy textu</a:t>
            </a:r>
            <a:endParaRPr lang="en-US"/>
          </a:p>
        </p:txBody>
      </p:sp>
      <p:sp>
        <p:nvSpPr>
          <p:cNvPr id="3" name="Zástupný symbol obsahu 2"/>
          <p:cNvSpPr>
            <a:spLocks noGrp="1"/>
          </p:cNvSpPr>
          <p:nvPr>
            <p:ph idx="1"/>
          </p:nvPr>
        </p:nvSpPr>
        <p:spPr>
          <a:xfrm>
            <a:off x="457200" y="1600201"/>
            <a:ext cx="8229600" cy="4349079"/>
          </a:xfrm>
        </p:spPr>
        <p:txBody>
          <a:bodyPr/>
          <a:lstStyle>
            <a:lvl1pPr>
              <a:buFont typeface="Wingdings" pitchFamily="2" charset="2"/>
              <a:buChar char="§"/>
              <a:defRPr/>
            </a:lvl1pPr>
            <a:lvl2pPr>
              <a:buFont typeface="Wingdings" pitchFamily="2" charset="2"/>
              <a:buChar char="§"/>
              <a:defRPr/>
            </a:lvl2pPr>
            <a:lvl3pPr>
              <a:buFont typeface="Wingdings" pitchFamily="2" charset="2"/>
              <a:buChar char="§"/>
              <a:defRPr/>
            </a:lvl3pPr>
            <a:lvl4pPr>
              <a:buFont typeface="Wingdings" pitchFamily="2" charset="2"/>
              <a:buChar char="§"/>
              <a:defRPr/>
            </a:lvl4pPr>
            <a:lvl5pPr>
              <a:buFont typeface="Wingdings" pitchFamily="2" charset="2"/>
              <a:buChar char="§"/>
              <a:defRPr/>
            </a:lvl5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Tree>
    <p:extLst>
      <p:ext uri="{BB962C8B-B14F-4D97-AF65-F5344CB8AC3E}">
        <p14:creationId xmlns:p14="http://schemas.microsoft.com/office/powerpoint/2010/main" val="3869508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Záverečná snímka">
    <p:spTree>
      <p:nvGrpSpPr>
        <p:cNvPr id="1" name=""/>
        <p:cNvGrpSpPr/>
        <p:nvPr/>
      </p:nvGrpSpPr>
      <p:grpSpPr>
        <a:xfrm>
          <a:off x="0" y="0"/>
          <a:ext cx="0" cy="0"/>
          <a:chOff x="0" y="0"/>
          <a:chExt cx="0" cy="0"/>
        </a:xfrm>
      </p:grpSpPr>
      <p:sp>
        <p:nvSpPr>
          <p:cNvPr id="2" name="Nadpis 1"/>
          <p:cNvSpPr>
            <a:spLocks noGrp="1"/>
          </p:cNvSpPr>
          <p:nvPr>
            <p:ph type="title"/>
          </p:nvPr>
        </p:nvSpPr>
        <p:spPr>
          <a:xfrm>
            <a:off x="722313" y="4406900"/>
            <a:ext cx="7772400" cy="1362075"/>
          </a:xfrm>
        </p:spPr>
        <p:txBody>
          <a:bodyPr anchor="t"/>
          <a:lstStyle>
            <a:lvl1pPr algn="l">
              <a:defRPr sz="4000" b="1" cap="all"/>
            </a:lvl1pPr>
          </a:lstStyle>
          <a:p>
            <a:r>
              <a:rPr lang="sk-SK"/>
              <a:t>Upravte štýly predlohy textu</a:t>
            </a:r>
            <a:endParaRPr lang="en-US"/>
          </a:p>
        </p:txBody>
      </p:sp>
      <p:sp>
        <p:nvSpPr>
          <p:cNvPr id="3" name="Zástupný symbol text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Tree>
    <p:extLst>
      <p:ext uri="{BB962C8B-B14F-4D97-AF65-F5344CB8AC3E}">
        <p14:creationId xmlns:p14="http://schemas.microsoft.com/office/powerpoint/2010/main" val="769061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a:t>Upravte štýly predlohy textu</a:t>
            </a:r>
            <a:endParaRPr lang="en-US"/>
          </a:p>
        </p:txBody>
      </p:sp>
      <p:sp>
        <p:nvSpPr>
          <p:cNvPr id="3" name="Zástupný symbol obsahu 2"/>
          <p:cNvSpPr>
            <a:spLocks noGrp="1"/>
          </p:cNvSpPr>
          <p:nvPr>
            <p:ph sz="half" idx="1"/>
          </p:nvPr>
        </p:nvSpPr>
        <p:spPr>
          <a:xfrm>
            <a:off x="457200" y="1600201"/>
            <a:ext cx="4038600" cy="4349080"/>
          </a:xfrm>
        </p:spPr>
        <p:txBody>
          <a:bodyPr/>
          <a:lstStyle>
            <a:lvl1pPr>
              <a:buFont typeface="Wingdings" pitchFamily="2" charset="2"/>
              <a:buChar char="§"/>
              <a:defRPr sz="2800"/>
            </a:lvl1pPr>
            <a:lvl2pPr>
              <a:buFont typeface="Wingdings" pitchFamily="2" charset="2"/>
              <a:buChar char="§"/>
              <a:defRPr sz="2400"/>
            </a:lvl2pPr>
            <a:lvl3pPr>
              <a:buFont typeface="Wingdings" pitchFamily="2" charset="2"/>
              <a:buChar char="§"/>
              <a:defRPr sz="2000"/>
            </a:lvl3pPr>
            <a:lvl4pPr>
              <a:buFont typeface="Wingdings" pitchFamily="2" charset="2"/>
              <a:buChar char="§"/>
              <a:defRPr sz="1800"/>
            </a:lvl4pPr>
            <a:lvl5pPr>
              <a:buFont typeface="Wingdings" pitchFamily="2" charset="2"/>
              <a:buChar char="§"/>
              <a:defRPr sz="1800"/>
            </a:lvl5pPr>
            <a:lvl6pPr>
              <a:defRPr sz="1800"/>
            </a:lvl6pPr>
            <a:lvl7pPr>
              <a:defRPr sz="1800"/>
            </a:lvl7pPr>
            <a:lvl8pPr>
              <a:defRPr sz="1800"/>
            </a:lvl8pPr>
            <a:lvl9pPr>
              <a:defRPr sz="1800"/>
            </a:lvl9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4" name="Zástupný symbol obsahu 3"/>
          <p:cNvSpPr>
            <a:spLocks noGrp="1"/>
          </p:cNvSpPr>
          <p:nvPr>
            <p:ph sz="half" idx="2"/>
          </p:nvPr>
        </p:nvSpPr>
        <p:spPr>
          <a:xfrm>
            <a:off x="4648200" y="1600201"/>
            <a:ext cx="4038600" cy="4349080"/>
          </a:xfrm>
        </p:spPr>
        <p:txBody>
          <a:bodyPr/>
          <a:lstStyle>
            <a:lvl1pPr>
              <a:buFont typeface="Wingdings" pitchFamily="2" charset="2"/>
              <a:buChar char="§"/>
              <a:defRPr sz="2800"/>
            </a:lvl1pPr>
            <a:lvl2pPr>
              <a:buFont typeface="Wingdings" pitchFamily="2" charset="2"/>
              <a:buChar char="§"/>
              <a:defRPr sz="2400"/>
            </a:lvl2pPr>
            <a:lvl3pPr>
              <a:buFont typeface="Wingdings" pitchFamily="2" charset="2"/>
              <a:buChar char="§"/>
              <a:defRPr sz="2000"/>
            </a:lvl3pPr>
            <a:lvl4pPr>
              <a:buFont typeface="Wingdings" pitchFamily="2" charset="2"/>
              <a:buChar char="§"/>
              <a:defRPr sz="1800"/>
            </a:lvl4pPr>
            <a:lvl5pPr>
              <a:buFont typeface="Wingdings" pitchFamily="2" charset="2"/>
              <a:buChar char="§"/>
              <a:defRPr sz="1800"/>
            </a:lvl5pPr>
            <a:lvl6pPr>
              <a:defRPr sz="1800"/>
            </a:lvl6pPr>
            <a:lvl7pPr>
              <a:defRPr sz="1800"/>
            </a:lvl7pPr>
            <a:lvl8pPr>
              <a:defRPr sz="1800"/>
            </a:lvl8pPr>
            <a:lvl9pPr>
              <a:defRPr sz="1800"/>
            </a:lvl9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Tree>
    <p:extLst>
      <p:ext uri="{BB962C8B-B14F-4D97-AF65-F5344CB8AC3E}">
        <p14:creationId xmlns:p14="http://schemas.microsoft.com/office/powerpoint/2010/main" val="135985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lvl1pPr>
              <a:defRPr/>
            </a:lvl1pPr>
          </a:lstStyle>
          <a:p>
            <a:r>
              <a:rPr lang="sk-SK"/>
              <a:t>Upravte štýly predlohy textu</a:t>
            </a:r>
            <a:endParaRPr lang="en-US"/>
          </a:p>
        </p:txBody>
      </p:sp>
      <p:sp>
        <p:nvSpPr>
          <p:cNvPr id="3" name="Zástupný symbol tex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Upravte štýl predlohy textu.</a:t>
            </a:r>
          </a:p>
        </p:txBody>
      </p:sp>
      <p:sp>
        <p:nvSpPr>
          <p:cNvPr id="4" name="Zástupný symbol obsahu 3"/>
          <p:cNvSpPr>
            <a:spLocks noGrp="1"/>
          </p:cNvSpPr>
          <p:nvPr>
            <p:ph sz="half" idx="2"/>
          </p:nvPr>
        </p:nvSpPr>
        <p:spPr>
          <a:xfrm>
            <a:off x="457200" y="2174875"/>
            <a:ext cx="4040188" cy="3774405"/>
          </a:xfrm>
        </p:spPr>
        <p:txBody>
          <a:bodyPr/>
          <a:lstStyle>
            <a:lvl1pPr>
              <a:buFont typeface="Wingdings" pitchFamily="2" charset="2"/>
              <a:buChar char="§"/>
              <a:defRPr sz="2400"/>
            </a:lvl1pPr>
            <a:lvl2pPr>
              <a:buFont typeface="Wingdings" pitchFamily="2" charset="2"/>
              <a:buChar char="§"/>
              <a:defRPr sz="2000"/>
            </a:lvl2pPr>
            <a:lvl3pPr>
              <a:buFont typeface="Wingdings" pitchFamily="2" charset="2"/>
              <a:buChar char="§"/>
              <a:defRPr sz="1800"/>
            </a:lvl3pPr>
            <a:lvl4pPr>
              <a:buFont typeface="Wingdings" pitchFamily="2" charset="2"/>
              <a:buChar char="§"/>
              <a:defRPr sz="1600"/>
            </a:lvl4pPr>
            <a:lvl5pPr>
              <a:buFont typeface="Wingdings" pitchFamily="2" charset="2"/>
              <a:buChar char="§"/>
              <a:defRPr sz="1600"/>
            </a:lvl5pPr>
            <a:lvl6pPr>
              <a:defRPr sz="1600"/>
            </a:lvl6pPr>
            <a:lvl7pPr>
              <a:defRPr sz="1600"/>
            </a:lvl7pPr>
            <a:lvl8pPr>
              <a:defRPr sz="1600"/>
            </a:lvl8pPr>
            <a:lvl9pPr>
              <a:defRPr sz="1600"/>
            </a:lvl9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5" name="Zástupný symbol tex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Upravte štýl predlohy textu.</a:t>
            </a:r>
          </a:p>
        </p:txBody>
      </p:sp>
      <p:sp>
        <p:nvSpPr>
          <p:cNvPr id="6" name="Zástupný symbol obsahu 5"/>
          <p:cNvSpPr>
            <a:spLocks noGrp="1"/>
          </p:cNvSpPr>
          <p:nvPr>
            <p:ph sz="quarter" idx="4"/>
          </p:nvPr>
        </p:nvSpPr>
        <p:spPr>
          <a:xfrm>
            <a:off x="4645025" y="2174875"/>
            <a:ext cx="4041775" cy="3774405"/>
          </a:xfrm>
        </p:spPr>
        <p:txBody>
          <a:bodyPr/>
          <a:lstStyle>
            <a:lvl1pPr>
              <a:buFont typeface="Wingdings" pitchFamily="2" charset="2"/>
              <a:buChar char="§"/>
              <a:defRPr sz="2400"/>
            </a:lvl1pPr>
            <a:lvl2pPr>
              <a:buFont typeface="Wingdings" pitchFamily="2" charset="2"/>
              <a:buChar char="§"/>
              <a:defRPr sz="2000"/>
            </a:lvl2pPr>
            <a:lvl3pPr>
              <a:buFont typeface="Wingdings" pitchFamily="2" charset="2"/>
              <a:buChar char="§"/>
              <a:defRPr sz="1800"/>
            </a:lvl3pPr>
            <a:lvl4pPr>
              <a:buFont typeface="Wingdings" pitchFamily="2" charset="2"/>
              <a:buChar char="§"/>
              <a:defRPr sz="1600"/>
            </a:lvl4pPr>
            <a:lvl5pPr>
              <a:buFont typeface="Wingdings" pitchFamily="2" charset="2"/>
              <a:buChar char="§"/>
              <a:defRPr sz="1600"/>
            </a:lvl5pPr>
            <a:lvl6pPr>
              <a:defRPr sz="1600"/>
            </a:lvl6pPr>
            <a:lvl7pPr>
              <a:defRPr sz="1600"/>
            </a:lvl7pPr>
            <a:lvl8pPr>
              <a:defRPr sz="1600"/>
            </a:lvl8pPr>
            <a:lvl9pPr>
              <a:defRPr sz="1600"/>
            </a:lvl9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Tree>
    <p:extLst>
      <p:ext uri="{BB962C8B-B14F-4D97-AF65-F5344CB8AC3E}">
        <p14:creationId xmlns:p14="http://schemas.microsoft.com/office/powerpoint/2010/main" val="4058662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a:t>Upravte štýly predlohy textu</a:t>
            </a:r>
            <a:endParaRPr lang="en-US"/>
          </a:p>
        </p:txBody>
      </p:sp>
    </p:spTree>
    <p:extLst>
      <p:ext uri="{BB962C8B-B14F-4D97-AF65-F5344CB8AC3E}">
        <p14:creationId xmlns:p14="http://schemas.microsoft.com/office/powerpoint/2010/main" val="1532963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Prázdna">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7285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Obsah s popisom">
    <p:spTree>
      <p:nvGrpSpPr>
        <p:cNvPr id="1" name=""/>
        <p:cNvGrpSpPr/>
        <p:nvPr/>
      </p:nvGrpSpPr>
      <p:grpSpPr>
        <a:xfrm>
          <a:off x="0" y="0"/>
          <a:ext cx="0" cy="0"/>
          <a:chOff x="0" y="0"/>
          <a:chExt cx="0" cy="0"/>
        </a:xfrm>
      </p:grpSpPr>
      <p:sp>
        <p:nvSpPr>
          <p:cNvPr id="2" name="Nadpis 1"/>
          <p:cNvSpPr>
            <a:spLocks noGrp="1"/>
          </p:cNvSpPr>
          <p:nvPr>
            <p:ph type="title"/>
          </p:nvPr>
        </p:nvSpPr>
        <p:spPr>
          <a:xfrm>
            <a:off x="457200" y="273050"/>
            <a:ext cx="3008313" cy="1162050"/>
          </a:xfrm>
        </p:spPr>
        <p:txBody>
          <a:bodyPr anchor="b"/>
          <a:lstStyle>
            <a:lvl1pPr algn="l">
              <a:defRPr sz="2000" b="1"/>
            </a:lvl1pPr>
          </a:lstStyle>
          <a:p>
            <a:r>
              <a:rPr lang="sk-SK"/>
              <a:t>Upravte štýly predlohy textu</a:t>
            </a:r>
            <a:endParaRPr lang="en-US"/>
          </a:p>
        </p:txBody>
      </p:sp>
      <p:sp>
        <p:nvSpPr>
          <p:cNvPr id="3" name="Zástupný symbol obsahu 2"/>
          <p:cNvSpPr>
            <a:spLocks noGrp="1"/>
          </p:cNvSpPr>
          <p:nvPr>
            <p:ph idx="1"/>
          </p:nvPr>
        </p:nvSpPr>
        <p:spPr>
          <a:xfrm>
            <a:off x="3575050" y="273051"/>
            <a:ext cx="5111750" cy="5676230"/>
          </a:xfrm>
        </p:spPr>
        <p:txBody>
          <a:bodyPr/>
          <a:lstStyle>
            <a:lvl1pPr>
              <a:buFont typeface="Wingdings" pitchFamily="2" charset="2"/>
              <a:buChar char="§"/>
              <a:defRPr sz="3200"/>
            </a:lvl1pPr>
            <a:lvl2pPr>
              <a:buFont typeface="Wingdings" pitchFamily="2" charset="2"/>
              <a:buChar char="§"/>
              <a:defRPr sz="2800"/>
            </a:lvl2pPr>
            <a:lvl3pPr>
              <a:buFont typeface="Wingdings" pitchFamily="2" charset="2"/>
              <a:buChar char="§"/>
              <a:defRPr sz="2400"/>
            </a:lvl3pPr>
            <a:lvl4pPr>
              <a:buFont typeface="Wingdings" pitchFamily="2" charset="2"/>
              <a:buChar char="§"/>
              <a:defRPr sz="2000"/>
            </a:lvl4pPr>
            <a:lvl5pPr>
              <a:buFont typeface="Wingdings" pitchFamily="2" charset="2"/>
              <a:buChar char="§"/>
              <a:defRPr sz="2000"/>
            </a:lvl5pPr>
            <a:lvl6pPr>
              <a:defRPr sz="2000"/>
            </a:lvl6pPr>
            <a:lvl7pPr>
              <a:defRPr sz="2000"/>
            </a:lvl7pPr>
            <a:lvl8pPr>
              <a:defRPr sz="2000"/>
            </a:lvl8pPr>
            <a:lvl9pPr>
              <a:defRPr sz="2000"/>
            </a:lvl9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4" name="Zástupný symbol textu 3"/>
          <p:cNvSpPr>
            <a:spLocks noGrp="1"/>
          </p:cNvSpPr>
          <p:nvPr>
            <p:ph type="body" sz="half" idx="2"/>
          </p:nvPr>
        </p:nvSpPr>
        <p:spPr>
          <a:xfrm>
            <a:off x="457200" y="1435101"/>
            <a:ext cx="3008313" cy="451418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k-SK"/>
              <a:t>Upravte štýl predlohy textu.</a:t>
            </a:r>
          </a:p>
        </p:txBody>
      </p:sp>
    </p:spTree>
    <p:extLst>
      <p:ext uri="{BB962C8B-B14F-4D97-AF65-F5344CB8AC3E}">
        <p14:creationId xmlns:p14="http://schemas.microsoft.com/office/powerpoint/2010/main" val="745095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Obrázok s popisom">
    <p:spTree>
      <p:nvGrpSpPr>
        <p:cNvPr id="1" name=""/>
        <p:cNvGrpSpPr/>
        <p:nvPr/>
      </p:nvGrpSpPr>
      <p:grpSpPr>
        <a:xfrm>
          <a:off x="0" y="0"/>
          <a:ext cx="0" cy="0"/>
          <a:chOff x="0" y="0"/>
          <a:chExt cx="0" cy="0"/>
        </a:xfrm>
      </p:grpSpPr>
      <p:sp>
        <p:nvSpPr>
          <p:cNvPr id="2" name="Nadpis 1"/>
          <p:cNvSpPr>
            <a:spLocks noGrp="1"/>
          </p:cNvSpPr>
          <p:nvPr>
            <p:ph type="title"/>
          </p:nvPr>
        </p:nvSpPr>
        <p:spPr>
          <a:xfrm>
            <a:off x="1792288" y="4800600"/>
            <a:ext cx="5486400" cy="566738"/>
          </a:xfrm>
        </p:spPr>
        <p:txBody>
          <a:bodyPr anchor="b"/>
          <a:lstStyle>
            <a:lvl1pPr algn="l">
              <a:defRPr sz="2000" b="1"/>
            </a:lvl1pPr>
          </a:lstStyle>
          <a:p>
            <a:r>
              <a:rPr lang="sk-SK"/>
              <a:t>Upravte štýly predlohy textu</a:t>
            </a:r>
            <a:endParaRPr lang="en-US"/>
          </a:p>
        </p:txBody>
      </p:sp>
      <p:sp>
        <p:nvSpPr>
          <p:cNvPr id="3" name="Zástupný symbol obrázka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Zástupný symbol textu 3"/>
          <p:cNvSpPr>
            <a:spLocks noGrp="1"/>
          </p:cNvSpPr>
          <p:nvPr>
            <p:ph type="body" sz="half" idx="2"/>
          </p:nvPr>
        </p:nvSpPr>
        <p:spPr>
          <a:xfrm>
            <a:off x="1792288" y="5367338"/>
            <a:ext cx="5486400" cy="58194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k-SK"/>
              <a:t>Upravte štýl predlohy textu.</a:t>
            </a:r>
          </a:p>
        </p:txBody>
      </p:sp>
    </p:spTree>
    <p:extLst>
      <p:ext uri="{BB962C8B-B14F-4D97-AF65-F5344CB8AC3E}">
        <p14:creationId xmlns:p14="http://schemas.microsoft.com/office/powerpoint/2010/main" val="1092329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a:t>Upravte štýly predlohy textu</a:t>
            </a:r>
            <a:endParaRPr lang="en-US"/>
          </a:p>
        </p:txBody>
      </p:sp>
      <p:sp>
        <p:nvSpPr>
          <p:cNvPr id="3" name="Zástupný symbol zvislého textu 2"/>
          <p:cNvSpPr>
            <a:spLocks noGrp="1"/>
          </p:cNvSpPr>
          <p:nvPr>
            <p:ph type="body" orient="vert" idx="1"/>
          </p:nvPr>
        </p:nvSpPr>
        <p:spPr>
          <a:xfrm>
            <a:off x="457200" y="1600201"/>
            <a:ext cx="8229600" cy="4349079"/>
          </a:xfrm>
        </p:spPr>
        <p:txBody>
          <a:bodyPr vert="eaVert"/>
          <a:lstStyle>
            <a:lvl1pPr>
              <a:buFont typeface="Wingdings" pitchFamily="2" charset="2"/>
              <a:buChar char="§"/>
              <a:defRPr/>
            </a:lvl1pPr>
            <a:lvl2pPr>
              <a:buFont typeface="Wingdings" pitchFamily="2" charset="2"/>
              <a:buChar char="§"/>
              <a:defRPr/>
            </a:lvl2pPr>
            <a:lvl3pPr>
              <a:buFont typeface="Wingdings" pitchFamily="2" charset="2"/>
              <a:buChar char="§"/>
              <a:defRPr/>
            </a:lvl3pPr>
            <a:lvl4pPr>
              <a:buFont typeface="Wingdings" pitchFamily="2" charset="2"/>
              <a:buChar char="§"/>
              <a:defRPr/>
            </a:lvl4pPr>
            <a:lvl5pPr>
              <a:buFont typeface="Wingdings" pitchFamily="2" charset="2"/>
              <a:buChar char="§"/>
              <a:defRPr/>
            </a:lvl5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Tree>
    <p:extLst>
      <p:ext uri="{BB962C8B-B14F-4D97-AF65-F5344CB8AC3E}">
        <p14:creationId xmlns:p14="http://schemas.microsoft.com/office/powerpoint/2010/main" val="2927448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Zvislý nadpis a text">
    <p:spTree>
      <p:nvGrpSpPr>
        <p:cNvPr id="1" name=""/>
        <p:cNvGrpSpPr/>
        <p:nvPr/>
      </p:nvGrpSpPr>
      <p:grpSpPr>
        <a:xfrm>
          <a:off x="0" y="0"/>
          <a:ext cx="0" cy="0"/>
          <a:chOff x="0" y="0"/>
          <a:chExt cx="0" cy="0"/>
        </a:xfrm>
      </p:grpSpPr>
      <p:sp>
        <p:nvSpPr>
          <p:cNvPr id="2" name="Zvislý nadpis 1"/>
          <p:cNvSpPr>
            <a:spLocks noGrp="1"/>
          </p:cNvSpPr>
          <p:nvPr>
            <p:ph type="title" orient="vert"/>
          </p:nvPr>
        </p:nvSpPr>
        <p:spPr>
          <a:xfrm>
            <a:off x="6629400" y="274639"/>
            <a:ext cx="2057400" cy="5674641"/>
          </a:xfrm>
        </p:spPr>
        <p:txBody>
          <a:bodyPr vert="eaVert"/>
          <a:lstStyle/>
          <a:p>
            <a:r>
              <a:rPr lang="sk-SK"/>
              <a:t>Upravte štýly predlohy textu</a:t>
            </a:r>
            <a:endParaRPr lang="en-US"/>
          </a:p>
        </p:txBody>
      </p:sp>
      <p:sp>
        <p:nvSpPr>
          <p:cNvPr id="3" name="Zástupný symbol zvislého textu 2"/>
          <p:cNvSpPr>
            <a:spLocks noGrp="1"/>
          </p:cNvSpPr>
          <p:nvPr>
            <p:ph type="body" orient="vert" idx="1"/>
          </p:nvPr>
        </p:nvSpPr>
        <p:spPr>
          <a:xfrm>
            <a:off x="457200" y="274639"/>
            <a:ext cx="6019800" cy="5674641"/>
          </a:xfrm>
        </p:spPr>
        <p:txBody>
          <a:bodyPr vert="eaVert"/>
          <a:lstStyle>
            <a:lvl1pPr>
              <a:buFont typeface="Wingdings" pitchFamily="2" charset="2"/>
              <a:buChar char="§"/>
              <a:defRPr/>
            </a:lvl1pPr>
            <a:lvl2pPr>
              <a:buFont typeface="Wingdings" pitchFamily="2" charset="2"/>
              <a:buChar char="§"/>
              <a:defRPr/>
            </a:lvl2pPr>
            <a:lvl3pPr>
              <a:buFont typeface="Wingdings" pitchFamily="2" charset="2"/>
              <a:buChar char="§"/>
              <a:defRPr/>
            </a:lvl3pPr>
            <a:lvl4pPr>
              <a:buFont typeface="Wingdings" pitchFamily="2" charset="2"/>
              <a:buChar char="§"/>
              <a:defRPr/>
            </a:lvl4pPr>
            <a:lvl5pPr>
              <a:buFont typeface="Wingdings" pitchFamily="2" charset="2"/>
              <a:buChar char="§"/>
              <a:defRPr/>
            </a:lvl5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Tree>
    <p:extLst>
      <p:ext uri="{BB962C8B-B14F-4D97-AF65-F5344CB8AC3E}">
        <p14:creationId xmlns:p14="http://schemas.microsoft.com/office/powerpoint/2010/main" val="3990152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cSld name="Nadpis, text a graf">
    <p:spTree>
      <p:nvGrpSpPr>
        <p:cNvPr id="1" name=""/>
        <p:cNvGrpSpPr/>
        <p:nvPr/>
      </p:nvGrpSpPr>
      <p:grpSpPr>
        <a:xfrm>
          <a:off x="0" y="0"/>
          <a:ext cx="0" cy="0"/>
          <a:chOff x="0" y="0"/>
          <a:chExt cx="0" cy="0"/>
        </a:xfrm>
      </p:grpSpPr>
      <p:sp>
        <p:nvSpPr>
          <p:cNvPr id="2" name="Nadpis 1"/>
          <p:cNvSpPr>
            <a:spLocks noGrp="1"/>
          </p:cNvSpPr>
          <p:nvPr>
            <p:ph type="title"/>
          </p:nvPr>
        </p:nvSpPr>
        <p:spPr>
          <a:xfrm>
            <a:off x="685800" y="609600"/>
            <a:ext cx="7772400" cy="1143000"/>
          </a:xfrm>
        </p:spPr>
        <p:txBody>
          <a:bodyPr/>
          <a:lstStyle/>
          <a:p>
            <a:r>
              <a:rPr lang="sk-SK"/>
              <a:t>Kliknite sem a upravte štýl predlohy nadpisov.</a:t>
            </a:r>
          </a:p>
        </p:txBody>
      </p:sp>
      <p:sp>
        <p:nvSpPr>
          <p:cNvPr id="3" name="Zástupný symbol textu 2"/>
          <p:cNvSpPr>
            <a:spLocks noGrp="1"/>
          </p:cNvSpPr>
          <p:nvPr>
            <p:ph type="body" sz="half" idx="1"/>
          </p:nvPr>
        </p:nvSpPr>
        <p:spPr>
          <a:xfrm>
            <a:off x="685800" y="1981200"/>
            <a:ext cx="3810000" cy="41148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symbol grafu 3"/>
          <p:cNvSpPr>
            <a:spLocks noGrp="1"/>
          </p:cNvSpPr>
          <p:nvPr>
            <p:ph type="chart" sz="half" idx="2"/>
          </p:nvPr>
        </p:nvSpPr>
        <p:spPr>
          <a:xfrm>
            <a:off x="4648200" y="1981200"/>
            <a:ext cx="3810000" cy="4114800"/>
          </a:xfrm>
        </p:spPr>
        <p:txBody>
          <a:bodyPr/>
          <a:lstStyle/>
          <a:p>
            <a:pPr lvl="0"/>
            <a:endParaRPr lang="sk-SK" noProof="0"/>
          </a:p>
        </p:txBody>
      </p:sp>
    </p:spTree>
    <p:extLst>
      <p:ext uri="{BB962C8B-B14F-4D97-AF65-F5344CB8AC3E}">
        <p14:creationId xmlns:p14="http://schemas.microsoft.com/office/powerpoint/2010/main" val="3783576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Nadpis a tabuľka">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5"/>
            <a:ext cx="5945188" cy="600075"/>
          </a:xfrm>
        </p:spPr>
        <p:txBody>
          <a:bodyPr/>
          <a:lstStyle/>
          <a:p>
            <a:r>
              <a:rPr lang="sk-SK"/>
              <a:t>Kliknite sem a upravte štýl predlohy nadpisov.</a:t>
            </a:r>
          </a:p>
        </p:txBody>
      </p:sp>
      <p:sp>
        <p:nvSpPr>
          <p:cNvPr id="3" name="Zástupný symbol tabuľky 2"/>
          <p:cNvSpPr>
            <a:spLocks noGrp="1"/>
          </p:cNvSpPr>
          <p:nvPr>
            <p:ph type="tbl" idx="1"/>
          </p:nvPr>
        </p:nvSpPr>
        <p:spPr>
          <a:xfrm>
            <a:off x="407988" y="1033463"/>
            <a:ext cx="8397875" cy="5207000"/>
          </a:xfrm>
        </p:spPr>
        <p:txBody>
          <a:bodyPr/>
          <a:lstStyle/>
          <a:p>
            <a:pPr lvl="0"/>
            <a:endParaRPr lang="sk-SK" noProof="0"/>
          </a:p>
        </p:txBody>
      </p:sp>
      <p:sp>
        <p:nvSpPr>
          <p:cNvPr id="4" name="Rectangle 4"/>
          <p:cNvSpPr>
            <a:spLocks noGrp="1" noChangeArrowheads="1"/>
          </p:cNvSpPr>
          <p:nvPr>
            <p:ph type="ftr" sz="quarter" idx="10"/>
          </p:nvPr>
        </p:nvSpPr>
        <p:spPr>
          <a:xfrm>
            <a:off x="8045450" y="6464300"/>
            <a:ext cx="1066800" cy="24765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r>
              <a:rPr lang="de-DE" altLang="en-US"/>
              <a:t>Strana </a:t>
            </a:r>
            <a:fld id="{44ED0B52-F1A4-45D6-B48D-8BFCFAE7E69D}" type="slidenum">
              <a:rPr lang="de-DE" altLang="en-US" sz="1400" b="1"/>
              <a:pPr>
                <a:defRPr/>
              </a:pPr>
              <a:t>‹#›</a:t>
            </a:fld>
            <a:endParaRPr lang="de-DE" altLang="en-US" sz="1400" b="1"/>
          </a:p>
        </p:txBody>
      </p:sp>
    </p:spTree>
    <p:extLst>
      <p:ext uri="{BB962C8B-B14F-4D97-AF65-F5344CB8AC3E}">
        <p14:creationId xmlns:p14="http://schemas.microsoft.com/office/powerpoint/2010/main" val="2570165821"/>
      </p:ext>
    </p:extLst>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cSld name="Nadpis a obsah nad textom">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5"/>
            <a:ext cx="5945188" cy="600075"/>
          </a:xfrm>
        </p:spPr>
        <p:txBody>
          <a:bodyPr/>
          <a:lstStyle/>
          <a:p>
            <a:r>
              <a:rPr lang="sk-SK"/>
              <a:t>Kliknite sem a upravte štýl predlohy nadpisov.</a:t>
            </a:r>
          </a:p>
        </p:txBody>
      </p:sp>
      <p:sp>
        <p:nvSpPr>
          <p:cNvPr id="3" name="Zástupný symbol obsahu 2"/>
          <p:cNvSpPr>
            <a:spLocks noGrp="1"/>
          </p:cNvSpPr>
          <p:nvPr>
            <p:ph sz="half" idx="1"/>
          </p:nvPr>
        </p:nvSpPr>
        <p:spPr>
          <a:xfrm>
            <a:off x="407988" y="1033463"/>
            <a:ext cx="8397875" cy="25273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symbol textu 3"/>
          <p:cNvSpPr>
            <a:spLocks noGrp="1"/>
          </p:cNvSpPr>
          <p:nvPr>
            <p:ph type="body" sz="half" idx="2"/>
          </p:nvPr>
        </p:nvSpPr>
        <p:spPr>
          <a:xfrm>
            <a:off x="407988" y="3713163"/>
            <a:ext cx="8397875" cy="25273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Footer Placeholder 4"/>
          <p:cNvSpPr>
            <a:spLocks noGrp="1" noChangeArrowheads="1"/>
          </p:cNvSpPr>
          <p:nvPr>
            <p:ph type="ftr" sz="quarter" idx="10"/>
          </p:nvPr>
        </p:nvSpPr>
        <p:spPr>
          <a:xfrm>
            <a:off x="8045450" y="6464300"/>
            <a:ext cx="1066800" cy="24765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r>
              <a:rPr lang="de-DE" altLang="en-US"/>
              <a:t>Strana </a:t>
            </a:r>
            <a:fld id="{4F3E28E5-E0A2-4EE2-B5D8-5698E8B0B620}" type="slidenum">
              <a:rPr lang="de-DE" altLang="en-US" sz="1400" b="1"/>
              <a:pPr>
                <a:defRPr/>
              </a:pPr>
              <a:t>‹#›</a:t>
            </a:fld>
            <a:endParaRPr lang="de-DE" altLang="en-US" sz="1400" b="1"/>
          </a:p>
        </p:txBody>
      </p:sp>
    </p:spTree>
    <p:extLst>
      <p:ext uri="{BB962C8B-B14F-4D97-AF65-F5344CB8AC3E}">
        <p14:creationId xmlns:p14="http://schemas.microsoft.com/office/powerpoint/2010/main" val="2016345624"/>
      </p:ext>
    </p:extLst>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31369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cstate="print">
            <a:lum/>
          </a:blip>
          <a:srcRect/>
          <a:stretch>
            <a:fillRect/>
          </a:stretch>
        </a:blipFill>
        <a:effectLst/>
      </p:bgPr>
    </p:bg>
    <p:spTree>
      <p:nvGrpSpPr>
        <p:cNvPr id="1" name=""/>
        <p:cNvGrpSpPr/>
        <p:nvPr/>
      </p:nvGrpSpPr>
      <p:grpSpPr>
        <a:xfrm>
          <a:off x="0" y="0"/>
          <a:ext cx="0" cy="0"/>
          <a:chOff x="0" y="0"/>
          <a:chExt cx="0" cy="0"/>
        </a:xfrm>
      </p:grpSpPr>
      <p:sp>
        <p:nvSpPr>
          <p:cNvPr id="2" name="Zástupný symbol nadpi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sk-SK"/>
              <a:t>Upravte štýly predlohy textu</a:t>
            </a:r>
            <a:endParaRPr lang="en-US"/>
          </a:p>
        </p:txBody>
      </p:sp>
      <p:sp>
        <p:nvSpPr>
          <p:cNvPr id="3" name="Zástupný symbol textu 2"/>
          <p:cNvSpPr>
            <a:spLocks noGrp="1"/>
          </p:cNvSpPr>
          <p:nvPr>
            <p:ph type="body" idx="1"/>
          </p:nvPr>
        </p:nvSpPr>
        <p:spPr>
          <a:xfrm>
            <a:off x="457200" y="1600201"/>
            <a:ext cx="8229600" cy="4349080"/>
          </a:xfrm>
          <a:prstGeom prst="rect">
            <a:avLst/>
          </a:prstGeom>
        </p:spPr>
        <p:txBody>
          <a:bodyPr vert="horz" lIns="91440" tIns="45720" rIns="91440" bIns="45720" rtlCol="0">
            <a:normAutofit/>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Tree>
    <p:extLst>
      <p:ext uri="{BB962C8B-B14F-4D97-AF65-F5344CB8AC3E}">
        <p14:creationId xmlns:p14="http://schemas.microsoft.com/office/powerpoint/2010/main" val="262047280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2" r:id="rId13"/>
    <p:sldLayoutId id="2147483663" r:id="rId14"/>
    <p:sldLayoutId id="2147483664" r:id="rId15"/>
    <p:sldLayoutId id="2147483665" r:id="rId1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Wingdings"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6.xml"/></Relationships>
</file>

<file path=ppt/slides/_rels/slide8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20.jpeg"/><Relationship Id="rId4" Type="http://schemas.openxmlformats.org/officeDocument/2006/relationships/hyperlink" Target="http://www.ppt-vorlagen.de/"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6226" name="Rectangle 2"/>
          <p:cNvSpPr>
            <a:spLocks noGrp="1" noChangeArrowheads="1"/>
          </p:cNvSpPr>
          <p:nvPr>
            <p:ph type="ctrTitle" sz="quarter"/>
          </p:nvPr>
        </p:nvSpPr>
        <p:spPr>
          <a:xfrm>
            <a:off x="899592" y="1844824"/>
            <a:ext cx="7772400" cy="1758057"/>
          </a:xfrm>
        </p:spPr>
        <p:txBody>
          <a:bodyPr/>
          <a:lstStyle/>
          <a:p>
            <a:pPr eaLnBrk="1" hangingPunct="1">
              <a:defRPr/>
            </a:pPr>
            <a:r>
              <a:rPr lang="en-US"/>
              <a:t>SQL DML</a:t>
            </a:r>
            <a:br>
              <a:rPr lang="en-US"/>
            </a:br>
            <a:r>
              <a:rPr lang="en-US"/>
              <a:t>Select statement … part one</a:t>
            </a:r>
            <a:endParaRPr lang="sk-SK">
              <a:cs typeface="Arial" charset="0"/>
            </a:endParaRPr>
          </a:p>
        </p:txBody>
      </p:sp>
      <p:sp>
        <p:nvSpPr>
          <p:cNvPr id="1076227" name="Rectangle 3"/>
          <p:cNvSpPr>
            <a:spLocks noGrp="1" noChangeArrowheads="1"/>
          </p:cNvSpPr>
          <p:nvPr>
            <p:ph type="subTitle" sz="quarter" idx="1"/>
          </p:nvPr>
        </p:nvSpPr>
        <p:spPr>
          <a:xfrm>
            <a:off x="539552" y="3580163"/>
            <a:ext cx="8132440" cy="1288997"/>
          </a:xfrm>
        </p:spPr>
        <p:txBody>
          <a:bodyPr/>
          <a:lstStyle/>
          <a:p>
            <a:pPr marL="381000" indent="-381000" eaLnBrk="1" hangingPunct="1">
              <a:defRPr/>
            </a:pPr>
            <a:r>
              <a:rPr lang="en-GB"/>
              <a:t>Database Systems</a:t>
            </a:r>
          </a:p>
          <a:p>
            <a:pPr marL="381000" indent="-381000" eaLnBrk="1" hangingPunct="1">
              <a:defRPr/>
            </a:pPr>
            <a:endParaRPr lang="sk-SK"/>
          </a:p>
        </p:txBody>
      </p:sp>
      <p:sp>
        <p:nvSpPr>
          <p:cNvPr id="4" name="Rectangle 3"/>
          <p:cNvSpPr txBox="1">
            <a:spLocks noChangeArrowheads="1"/>
          </p:cNvSpPr>
          <p:nvPr/>
        </p:nvSpPr>
        <p:spPr>
          <a:xfrm>
            <a:off x="1835696" y="5013176"/>
            <a:ext cx="6400800" cy="128899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Wingdings" pitchFamily="2" charset="2"/>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Wingdings" pitchFamily="2" charset="2"/>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Wingdings" pitchFamily="2" charset="2"/>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Wingdings" pitchFamily="2" charset="2"/>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81000" indent="-381000">
              <a:defRPr/>
            </a:pPr>
            <a:r>
              <a:rPr lang="sk-SK"/>
              <a:t>Michal Kvet</a:t>
            </a:r>
            <a:endParaRPr lang="en-GB"/>
          </a:p>
          <a:p>
            <a:pPr marL="381000" indent="-381000">
              <a:defRPr/>
            </a:pPr>
            <a:endParaRPr lang="sk-SK"/>
          </a:p>
        </p:txBody>
      </p:sp>
    </p:spTree>
    <p:extLst>
      <p:ext uri="{BB962C8B-B14F-4D97-AF65-F5344CB8AC3E}">
        <p14:creationId xmlns:p14="http://schemas.microsoft.com/office/powerpoint/2010/main" val="2368816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1115616" y="7775"/>
            <a:ext cx="5976664" cy="720079"/>
          </a:xfrm>
        </p:spPr>
        <p:txBody>
          <a:bodyPr>
            <a:normAutofit fontScale="90000"/>
          </a:bodyPr>
          <a:lstStyle/>
          <a:p>
            <a:pPr algn="ctr">
              <a:defRPr/>
            </a:pPr>
            <a:r>
              <a:rPr lang="sk-SK"/>
              <a:t>Dátový model</a:t>
            </a:r>
            <a:endParaRPr lang="en-US">
              <a:cs typeface="Arial"/>
            </a:endParaRPr>
          </a:p>
        </p:txBody>
      </p:sp>
      <p:pic>
        <p:nvPicPr>
          <p:cNvPr id="21508" name="Zástupný objekt pre obsah 3"/>
          <p:cNvPicPr>
            <a:picLocks noGrp="1" noChangeAspect="1"/>
          </p:cNvPicPr>
          <p:nvPr>
            <p:ph idx="1"/>
          </p:nvPr>
        </p:nvPicPr>
        <p:blipFill>
          <a:blip r:embed="rId2">
            <a:extLst>
              <a:ext uri="{28A0092B-C50C-407E-A947-70E740481C1C}">
                <a14:useLocalDpi xmlns:a14="http://schemas.microsoft.com/office/drawing/2010/main" val="0"/>
              </a:ext>
            </a:extLst>
          </a:blip>
          <a:srcRect t="4489" b="5753"/>
          <a:stretch/>
        </p:blipFill>
        <p:spPr>
          <a:xfrm>
            <a:off x="323528" y="836712"/>
            <a:ext cx="8718550" cy="5112568"/>
          </a:xfrm>
        </p:spPr>
      </p:pic>
    </p:spTree>
    <p:extLst>
      <p:ext uri="{BB962C8B-B14F-4D97-AF65-F5344CB8AC3E}">
        <p14:creationId xmlns:p14="http://schemas.microsoft.com/office/powerpoint/2010/main" val="3368713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1115616" y="7775"/>
            <a:ext cx="5976664" cy="720079"/>
          </a:xfrm>
        </p:spPr>
        <p:txBody>
          <a:bodyPr>
            <a:normAutofit fontScale="90000"/>
          </a:bodyPr>
          <a:lstStyle/>
          <a:p>
            <a:pPr algn="ctr">
              <a:defRPr/>
            </a:pPr>
            <a:r>
              <a:rPr lang="sk-SK"/>
              <a:t>Dátový model</a:t>
            </a:r>
            <a:endParaRPr lang="en-US"/>
          </a:p>
        </p:txBody>
      </p:sp>
      <p:pic>
        <p:nvPicPr>
          <p:cNvPr id="6" name="Picture 5" descr="Diagram&#10;&#10;Description automatically generated">
            <a:extLst>
              <a:ext uri="{FF2B5EF4-FFF2-40B4-BE49-F238E27FC236}">
                <a16:creationId xmlns:a16="http://schemas.microsoft.com/office/drawing/2014/main" id="{153CADF6-EA93-4FC0-AB25-6B347DE90A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174634"/>
            <a:ext cx="7416823" cy="4848804"/>
          </a:xfrm>
          <a:prstGeom prst="rect">
            <a:avLst/>
          </a:prstGeom>
        </p:spPr>
      </p:pic>
    </p:spTree>
    <p:extLst>
      <p:ext uri="{BB962C8B-B14F-4D97-AF65-F5344CB8AC3E}">
        <p14:creationId xmlns:p14="http://schemas.microsoft.com/office/powerpoint/2010/main" val="2305044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defRPr/>
            </a:pPr>
            <a:r>
              <a:rPr lang="en-US"/>
              <a:t>SQL</a:t>
            </a:r>
            <a:endParaRPr lang="cs-CZ"/>
          </a:p>
        </p:txBody>
      </p:sp>
      <p:sp>
        <p:nvSpPr>
          <p:cNvPr id="22531" name="Rectangle 3"/>
          <p:cNvSpPr>
            <a:spLocks noGrp="1" noChangeArrowheads="1"/>
          </p:cNvSpPr>
          <p:nvPr>
            <p:ph type="body" idx="1"/>
          </p:nvPr>
        </p:nvSpPr>
        <p:spPr>
          <a:xfrm>
            <a:off x="1691680" y="1600201"/>
            <a:ext cx="6995120" cy="4349079"/>
          </a:xfrm>
        </p:spPr>
        <p:txBody>
          <a:bodyPr/>
          <a:lstStyle/>
          <a:p>
            <a:endParaRPr lang="sk-SK"/>
          </a:p>
          <a:p>
            <a:r>
              <a:rPr lang="sk-SK"/>
              <a:t>DDL</a:t>
            </a:r>
          </a:p>
          <a:p>
            <a:r>
              <a:rPr lang="en-US" b="1">
                <a:solidFill>
                  <a:srgbClr val="FF0000"/>
                </a:solidFill>
              </a:rPr>
              <a:t>DML</a:t>
            </a:r>
            <a:endParaRPr lang="sk-SK" b="1">
              <a:solidFill>
                <a:srgbClr val="FF0000"/>
              </a:solidFill>
            </a:endParaRPr>
          </a:p>
          <a:p>
            <a:r>
              <a:rPr lang="sk-SK" altLang="en-US"/>
              <a:t>DAS</a:t>
            </a:r>
            <a:r>
              <a:rPr lang="en-US" altLang="en-US"/>
              <a:t> / DCL</a:t>
            </a:r>
            <a:endParaRPr lang="sk-SK" altLang="en-US"/>
          </a:p>
          <a:p>
            <a:pPr eaLnBrk="1" hangingPunct="1"/>
            <a:r>
              <a:rPr lang="sk-SK" altLang="en-US"/>
              <a:t>DIS</a:t>
            </a:r>
            <a:r>
              <a:rPr lang="en-US" altLang="en-US"/>
              <a:t> / TCL</a:t>
            </a:r>
            <a:endParaRPr lang="sk-SK" altLang="en-US"/>
          </a:p>
        </p:txBody>
      </p:sp>
    </p:spTree>
    <p:extLst>
      <p:ext uri="{BB962C8B-B14F-4D97-AF65-F5344CB8AC3E}">
        <p14:creationId xmlns:p14="http://schemas.microsoft.com/office/powerpoint/2010/main" val="1023440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defRPr/>
            </a:pPr>
            <a:r>
              <a:rPr lang="en-US"/>
              <a:t>SQL DML</a:t>
            </a:r>
            <a:endParaRPr lang="cs-CZ"/>
          </a:p>
        </p:txBody>
      </p:sp>
      <p:sp>
        <p:nvSpPr>
          <p:cNvPr id="22531" name="Rectangle 3"/>
          <p:cNvSpPr>
            <a:spLocks noGrp="1" noChangeArrowheads="1"/>
          </p:cNvSpPr>
          <p:nvPr>
            <p:ph type="body" idx="1"/>
          </p:nvPr>
        </p:nvSpPr>
        <p:spPr/>
        <p:txBody>
          <a:bodyPr/>
          <a:lstStyle/>
          <a:p>
            <a:pPr eaLnBrk="1" hangingPunct="1"/>
            <a:r>
              <a:rPr lang="sk-SK" altLang="en-US"/>
              <a:t>INSERT</a:t>
            </a:r>
          </a:p>
          <a:p>
            <a:pPr eaLnBrk="1" hangingPunct="1"/>
            <a:r>
              <a:rPr lang="sk-SK" altLang="en-US"/>
              <a:t>DELETE</a:t>
            </a:r>
          </a:p>
          <a:p>
            <a:pPr eaLnBrk="1" hangingPunct="1"/>
            <a:r>
              <a:rPr lang="sk-SK" altLang="en-US"/>
              <a:t>UPDATE</a:t>
            </a:r>
          </a:p>
          <a:p>
            <a:pPr eaLnBrk="1" hangingPunct="1"/>
            <a:r>
              <a:rPr lang="sk-SK" altLang="en-US"/>
              <a:t>SELECT</a:t>
            </a:r>
            <a:endParaRPr lang="cs-CZ" altLang="en-US"/>
          </a:p>
        </p:txBody>
      </p:sp>
    </p:spTree>
    <p:extLst>
      <p:ext uri="{BB962C8B-B14F-4D97-AF65-F5344CB8AC3E}">
        <p14:creationId xmlns:p14="http://schemas.microsoft.com/office/powerpoint/2010/main" val="2716968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0" name="Rectangle 3"/>
          <p:cNvSpPr>
            <a:spLocks noGrp="1" noChangeArrowheads="1"/>
          </p:cNvSpPr>
          <p:nvPr>
            <p:ph type="body" idx="1"/>
          </p:nvPr>
        </p:nvSpPr>
        <p:spPr>
          <a:xfrm>
            <a:off x="685800" y="549275"/>
            <a:ext cx="8458200" cy="6040438"/>
          </a:xfrm>
        </p:spPr>
        <p:txBody>
          <a:bodyPr/>
          <a:lstStyle/>
          <a:p>
            <a:pPr>
              <a:lnSpc>
                <a:spcPct val="90000"/>
              </a:lnSpc>
              <a:buFontTx/>
              <a:buNone/>
            </a:pPr>
            <a:r>
              <a:rPr lang="sk-SK" altLang="en-US" sz="1800" b="1">
                <a:cs typeface="Times New Roman" panose="02020603050405020304" pitchFamily="18" charset="0"/>
              </a:rPr>
              <a:t>SELECT [</a:t>
            </a:r>
            <a:r>
              <a:rPr lang="sk-SK" altLang="en-US" sz="1800" b="1" u="sng">
                <a:cs typeface="Times New Roman" panose="02020603050405020304" pitchFamily="18" charset="0"/>
              </a:rPr>
              <a:t>ALL</a:t>
            </a:r>
            <a:r>
              <a:rPr lang="sk-SK" altLang="en-US" sz="1800" b="1">
                <a:cs typeface="Times New Roman" panose="02020603050405020304" pitchFamily="18" charset="0"/>
              </a:rPr>
              <a:t> | DISTINCT] </a:t>
            </a:r>
            <a:r>
              <a:rPr lang="sk-SK" altLang="en-US" sz="1800" b="1"/>
              <a:t> </a:t>
            </a:r>
          </a:p>
          <a:p>
            <a:pPr>
              <a:lnSpc>
                <a:spcPct val="90000"/>
              </a:lnSpc>
              <a:buFontTx/>
              <a:buNone/>
            </a:pPr>
            <a:endParaRPr lang="sk-SK" altLang="en-US" sz="1800" b="1"/>
          </a:p>
          <a:p>
            <a:pPr>
              <a:lnSpc>
                <a:spcPct val="90000"/>
              </a:lnSpc>
              <a:buFontTx/>
              <a:buNone/>
            </a:pPr>
            <a:r>
              <a:rPr lang="sk-SK" altLang="en-US" sz="1800" b="1">
                <a:cs typeface="Times New Roman" panose="02020603050405020304" pitchFamily="18" charset="0"/>
              </a:rPr>
              <a:t>{*| [</a:t>
            </a:r>
            <a:r>
              <a:rPr lang="sk-SK" altLang="en-US" sz="1800" b="1" err="1">
                <a:cs typeface="Times New Roman" panose="02020603050405020304" pitchFamily="18" charset="0"/>
              </a:rPr>
              <a:t>column_expression</a:t>
            </a:r>
            <a:r>
              <a:rPr lang="sk-SK" altLang="en-US" sz="1800" b="1">
                <a:cs typeface="Times New Roman" panose="02020603050405020304" pitchFamily="18" charset="0"/>
              </a:rPr>
              <a:t> [</a:t>
            </a:r>
            <a:r>
              <a:rPr lang="sk-SK" altLang="en-US" sz="1800" b="1" err="1">
                <a:cs typeface="Times New Roman" panose="02020603050405020304" pitchFamily="18" charset="0"/>
              </a:rPr>
              <a:t>new_name</a:t>
            </a:r>
            <a:r>
              <a:rPr lang="sk-SK" altLang="en-US" sz="1800" b="1">
                <a:cs typeface="Times New Roman" panose="02020603050405020304" pitchFamily="18" charset="0"/>
              </a:rPr>
              <a:t>]] [,...]}</a:t>
            </a:r>
          </a:p>
          <a:p>
            <a:pPr>
              <a:lnSpc>
                <a:spcPct val="90000"/>
              </a:lnSpc>
              <a:buFontTx/>
              <a:buNone/>
            </a:pPr>
            <a:endParaRPr lang="sk-SK" altLang="en-US" sz="1800" b="1"/>
          </a:p>
          <a:p>
            <a:pPr>
              <a:lnSpc>
                <a:spcPct val="90000"/>
              </a:lnSpc>
              <a:buFontTx/>
              <a:buNone/>
            </a:pPr>
            <a:r>
              <a:rPr lang="sk-SK" altLang="en-US" sz="1800" b="1">
                <a:cs typeface="Times New Roman" panose="02020603050405020304" pitchFamily="18" charset="0"/>
              </a:rPr>
              <a:t>FROM </a:t>
            </a:r>
            <a:r>
              <a:rPr lang="sk-SK" altLang="en-US" sz="1800" b="1" err="1">
                <a:cs typeface="Times New Roman" panose="02020603050405020304" pitchFamily="18" charset="0"/>
              </a:rPr>
              <a:t>meno_tabulky</a:t>
            </a:r>
            <a:r>
              <a:rPr lang="sk-SK" altLang="en-US" sz="1800" b="1">
                <a:cs typeface="Times New Roman" panose="02020603050405020304" pitchFamily="18" charset="0"/>
              </a:rPr>
              <a:t> [</a:t>
            </a:r>
            <a:r>
              <a:rPr lang="sk-SK" altLang="en-US" sz="1800" b="1" err="1">
                <a:cs typeface="Times New Roman" panose="02020603050405020304" pitchFamily="18" charset="0"/>
              </a:rPr>
              <a:t>alias_tabulka</a:t>
            </a:r>
            <a:r>
              <a:rPr lang="sk-SK" altLang="en-US" sz="1800" b="1">
                <a:cs typeface="Times New Roman" panose="02020603050405020304" pitchFamily="18" charset="0"/>
              </a:rPr>
              <a:t>] [,...]</a:t>
            </a:r>
          </a:p>
          <a:p>
            <a:pPr>
              <a:lnSpc>
                <a:spcPct val="90000"/>
              </a:lnSpc>
              <a:buFontTx/>
              <a:buNone/>
            </a:pPr>
            <a:endParaRPr lang="sk-SK" altLang="en-US" sz="1800" b="1"/>
          </a:p>
          <a:p>
            <a:pPr>
              <a:lnSpc>
                <a:spcPct val="90000"/>
              </a:lnSpc>
              <a:buFontTx/>
              <a:buNone/>
            </a:pPr>
            <a:endParaRPr lang="sk-SK" altLang="en-US" sz="1800" b="1">
              <a:cs typeface="Times New Roman" panose="02020603050405020304" pitchFamily="18" charset="0"/>
            </a:endParaRPr>
          </a:p>
          <a:p>
            <a:pPr>
              <a:lnSpc>
                <a:spcPct val="90000"/>
              </a:lnSpc>
              <a:buFontTx/>
              <a:buNone/>
            </a:pPr>
            <a:r>
              <a:rPr lang="sk-SK" altLang="en-US" sz="1800" b="1">
                <a:cs typeface="Times New Roman" panose="02020603050405020304" pitchFamily="18" charset="0"/>
              </a:rPr>
              <a:t>[WHERE podmienka]</a:t>
            </a:r>
            <a:endParaRPr lang="en-US" altLang="en-US" sz="1800" b="1">
              <a:cs typeface="Times New Roman" panose="02020603050405020304" pitchFamily="18" charset="0"/>
            </a:endParaRPr>
          </a:p>
          <a:p>
            <a:pPr>
              <a:lnSpc>
                <a:spcPct val="90000"/>
              </a:lnSpc>
              <a:buFontTx/>
              <a:buNone/>
            </a:pPr>
            <a:endParaRPr lang="sk-SK" altLang="en-US" sz="1800" b="1">
              <a:cs typeface="Times New Roman" panose="02020603050405020304" pitchFamily="18" charset="0"/>
            </a:endParaRPr>
          </a:p>
          <a:p>
            <a:pPr>
              <a:lnSpc>
                <a:spcPct val="90000"/>
              </a:lnSpc>
              <a:buFontTx/>
              <a:buNone/>
            </a:pPr>
            <a:endParaRPr lang="sk-SK" altLang="en-US" sz="1800" b="1"/>
          </a:p>
          <a:p>
            <a:pPr>
              <a:lnSpc>
                <a:spcPct val="90000"/>
              </a:lnSpc>
              <a:buFontTx/>
              <a:buNone/>
            </a:pPr>
            <a:endParaRPr lang="en-US" altLang="en-US" sz="1800" b="1">
              <a:cs typeface="Times New Roman" panose="02020603050405020304" pitchFamily="18" charset="0"/>
            </a:endParaRPr>
          </a:p>
          <a:p>
            <a:pPr>
              <a:lnSpc>
                <a:spcPct val="90000"/>
              </a:lnSpc>
              <a:buFontTx/>
              <a:buNone/>
            </a:pPr>
            <a:r>
              <a:rPr lang="sk-SK" altLang="en-US" sz="1800" b="1">
                <a:cs typeface="Times New Roman" panose="02020603050405020304" pitchFamily="18" charset="0"/>
              </a:rPr>
              <a:t>[GROUP BY </a:t>
            </a:r>
            <a:r>
              <a:rPr lang="sk-SK" altLang="en-US" sz="1800" b="1" err="1">
                <a:cs typeface="Times New Roman" panose="02020603050405020304" pitchFamily="18" charset="0"/>
              </a:rPr>
              <a:t>zoznam_stĺpcov</a:t>
            </a:r>
            <a:r>
              <a:rPr lang="sk-SK" altLang="en-US" sz="1800" b="1">
                <a:cs typeface="Times New Roman" panose="02020603050405020304" pitchFamily="18" charset="0"/>
              </a:rPr>
              <a:t>]</a:t>
            </a:r>
            <a:endParaRPr lang="sk-SK" altLang="en-US" sz="1800" b="1"/>
          </a:p>
          <a:p>
            <a:pPr>
              <a:lnSpc>
                <a:spcPct val="90000"/>
              </a:lnSpc>
              <a:buFontTx/>
              <a:buNone/>
            </a:pPr>
            <a:r>
              <a:rPr lang="sk-SK" altLang="en-US" sz="1800" b="1">
                <a:cs typeface="Times New Roman" panose="02020603050405020304" pitchFamily="18" charset="0"/>
              </a:rPr>
              <a:t>[HAVING podmienka]</a:t>
            </a:r>
          </a:p>
          <a:p>
            <a:pPr>
              <a:lnSpc>
                <a:spcPct val="90000"/>
              </a:lnSpc>
              <a:buFontTx/>
              <a:buNone/>
            </a:pPr>
            <a:endParaRPr lang="sk-SK" altLang="en-US" sz="1800" b="1"/>
          </a:p>
          <a:p>
            <a:pPr>
              <a:lnSpc>
                <a:spcPct val="90000"/>
              </a:lnSpc>
              <a:buFontTx/>
              <a:buNone/>
            </a:pPr>
            <a:endParaRPr lang="en-US" altLang="en-US" sz="1800" b="1">
              <a:cs typeface="Times New Roman" panose="02020603050405020304" pitchFamily="18" charset="0"/>
            </a:endParaRPr>
          </a:p>
          <a:p>
            <a:pPr>
              <a:lnSpc>
                <a:spcPct val="90000"/>
              </a:lnSpc>
              <a:buFontTx/>
              <a:buNone/>
            </a:pPr>
            <a:endParaRPr lang="en-US" altLang="en-US" sz="1800" b="1">
              <a:cs typeface="Times New Roman" panose="02020603050405020304" pitchFamily="18" charset="0"/>
            </a:endParaRPr>
          </a:p>
          <a:p>
            <a:pPr>
              <a:lnSpc>
                <a:spcPct val="90000"/>
              </a:lnSpc>
              <a:buFontTx/>
              <a:buNone/>
            </a:pPr>
            <a:r>
              <a:rPr lang="sk-SK" altLang="en-US" sz="1800" b="1">
                <a:cs typeface="Times New Roman" panose="02020603050405020304" pitchFamily="18" charset="0"/>
              </a:rPr>
              <a:t>[ORDER BY </a:t>
            </a:r>
            <a:r>
              <a:rPr lang="sk-SK" altLang="en-US" sz="1800" b="1" err="1">
                <a:cs typeface="Times New Roman" panose="02020603050405020304" pitchFamily="18" charset="0"/>
              </a:rPr>
              <a:t>meno_stĺpca</a:t>
            </a:r>
            <a:r>
              <a:rPr lang="sk-SK" altLang="en-US" sz="1800" b="1">
                <a:cs typeface="Times New Roman" panose="02020603050405020304" pitchFamily="18" charset="0"/>
              </a:rPr>
              <a:t> [ASC | DESC] [,...]</a:t>
            </a:r>
          </a:p>
          <a:p>
            <a:pPr>
              <a:lnSpc>
                <a:spcPct val="90000"/>
              </a:lnSpc>
              <a:buFontTx/>
              <a:buNone/>
            </a:pPr>
            <a:r>
              <a:rPr lang="sk-SK" altLang="en-US" sz="1800" b="1">
                <a:cs typeface="Times New Roman" panose="02020603050405020304" pitchFamily="18" charset="0"/>
              </a:rPr>
              <a:t> </a:t>
            </a:r>
            <a:endParaRPr lang="sk-SK" altLang="en-US" sz="1800" b="1"/>
          </a:p>
        </p:txBody>
      </p:sp>
      <p:sp>
        <p:nvSpPr>
          <p:cNvPr id="3076" name="Text Box 4"/>
          <p:cNvSpPr txBox="1">
            <a:spLocks noChangeArrowheads="1"/>
          </p:cNvSpPr>
          <p:nvPr/>
        </p:nvSpPr>
        <p:spPr bwMode="auto">
          <a:xfrm>
            <a:off x="3686174" y="539750"/>
            <a:ext cx="509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i="1">
                <a:solidFill>
                  <a:srgbClr val="0000FF"/>
                </a:solidFill>
              </a:rPr>
              <a:t>... všetky riadky, alebo potlačiť duplicity </a:t>
            </a:r>
          </a:p>
        </p:txBody>
      </p:sp>
      <p:sp>
        <p:nvSpPr>
          <p:cNvPr id="3077" name="Text Box 5"/>
          <p:cNvSpPr txBox="1">
            <a:spLocks noChangeArrowheads="1"/>
          </p:cNvSpPr>
          <p:nvPr/>
        </p:nvSpPr>
        <p:spPr bwMode="auto">
          <a:xfrm>
            <a:off x="5317331" y="1289050"/>
            <a:ext cx="3340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i="1">
                <a:solidFill>
                  <a:srgbClr val="0000FF"/>
                </a:solidFill>
              </a:rPr>
              <a:t>... všetky stĺpce, alebo vybrané</a:t>
            </a:r>
            <a:r>
              <a:rPr lang="sk-SK" altLang="en-US" sz="1800">
                <a:solidFill>
                  <a:srgbClr val="0000FF"/>
                </a:solidFill>
              </a:rPr>
              <a:t> </a:t>
            </a:r>
          </a:p>
        </p:txBody>
      </p:sp>
      <p:sp>
        <p:nvSpPr>
          <p:cNvPr id="3078" name="Text Box 6"/>
          <p:cNvSpPr txBox="1">
            <a:spLocks noChangeArrowheads="1"/>
          </p:cNvSpPr>
          <p:nvPr/>
        </p:nvSpPr>
        <p:spPr bwMode="auto">
          <a:xfrm>
            <a:off x="1531545" y="2861175"/>
            <a:ext cx="7440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i="1">
                <a:solidFill>
                  <a:srgbClr val="0000FF"/>
                </a:solidFill>
              </a:rPr>
              <a:t>... Podmienky spojenia + podmienky na vymedzenie riadkov</a:t>
            </a:r>
            <a:r>
              <a:rPr lang="sk-SK" altLang="en-US" sz="1800">
                <a:solidFill>
                  <a:srgbClr val="0000FF"/>
                </a:solidFill>
              </a:rPr>
              <a:t>  </a:t>
            </a:r>
          </a:p>
        </p:txBody>
      </p:sp>
      <p:sp>
        <p:nvSpPr>
          <p:cNvPr id="3079" name="Text Box 7"/>
          <p:cNvSpPr txBox="1">
            <a:spLocks noChangeArrowheads="1"/>
          </p:cNvSpPr>
          <p:nvPr/>
        </p:nvSpPr>
        <p:spPr bwMode="auto">
          <a:xfrm>
            <a:off x="1899248" y="2039428"/>
            <a:ext cx="744061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i="1">
                <a:solidFill>
                  <a:srgbClr val="0000FF"/>
                </a:solidFill>
              </a:rPr>
              <a:t>... Zoznam tabuliek, pohľadov... , z ktorých čerpáme dáta</a:t>
            </a:r>
            <a:r>
              <a:rPr lang="en-US" altLang="en-US" i="1">
                <a:solidFill>
                  <a:srgbClr val="0000FF"/>
                </a:solidFill>
              </a:rPr>
              <a:t> </a:t>
            </a:r>
            <a:endParaRPr lang="sk-SK" altLang="en-US" i="1">
              <a:solidFill>
                <a:srgbClr val="0000FF"/>
              </a:solidFill>
            </a:endParaRPr>
          </a:p>
          <a:p>
            <a:r>
              <a:rPr lang="en-US" altLang="en-US" i="1">
                <a:solidFill>
                  <a:srgbClr val="0000FF"/>
                </a:solidFill>
              </a:rPr>
              <a:t>a </a:t>
            </a:r>
            <a:r>
              <a:rPr lang="en-US" altLang="en-US" i="1" err="1">
                <a:solidFill>
                  <a:srgbClr val="0000FF"/>
                </a:solidFill>
              </a:rPr>
              <a:t>defin</a:t>
            </a:r>
            <a:r>
              <a:rPr lang="sk-SK" altLang="en-US" i="1">
                <a:solidFill>
                  <a:srgbClr val="0000FF"/>
                </a:solidFill>
              </a:rPr>
              <a:t>í</a:t>
            </a:r>
            <a:r>
              <a:rPr lang="en-US" altLang="en-US" i="1" err="1">
                <a:solidFill>
                  <a:srgbClr val="0000FF"/>
                </a:solidFill>
              </a:rPr>
              <a:t>cia</a:t>
            </a:r>
            <a:r>
              <a:rPr lang="en-US" altLang="en-US" i="1">
                <a:solidFill>
                  <a:srgbClr val="0000FF"/>
                </a:solidFill>
              </a:rPr>
              <a:t> </a:t>
            </a:r>
            <a:r>
              <a:rPr lang="en-US" altLang="en-US" i="1" err="1">
                <a:solidFill>
                  <a:srgbClr val="0000FF"/>
                </a:solidFill>
              </a:rPr>
              <a:t>spojen</a:t>
            </a:r>
            <a:r>
              <a:rPr lang="sk-SK" altLang="en-US" i="1">
                <a:solidFill>
                  <a:srgbClr val="0000FF"/>
                </a:solidFill>
              </a:rPr>
              <a:t>í</a:t>
            </a:r>
            <a:r>
              <a:rPr lang="sk-SK" altLang="en-US" sz="1800">
                <a:solidFill>
                  <a:srgbClr val="0000FF"/>
                </a:solidFill>
              </a:rPr>
              <a:t> </a:t>
            </a:r>
          </a:p>
        </p:txBody>
      </p:sp>
      <p:sp>
        <p:nvSpPr>
          <p:cNvPr id="3080" name="Text Box 8"/>
          <p:cNvSpPr txBox="1">
            <a:spLocks noChangeArrowheads="1"/>
          </p:cNvSpPr>
          <p:nvPr/>
        </p:nvSpPr>
        <p:spPr bwMode="auto">
          <a:xfrm>
            <a:off x="3427959" y="4105107"/>
            <a:ext cx="558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i="1">
                <a:solidFill>
                  <a:srgbClr val="0000FF"/>
                </a:solidFill>
              </a:rPr>
              <a:t>... Podmienka s </a:t>
            </a:r>
            <a:r>
              <a:rPr lang="sk-SK" altLang="en-US" i="1" err="1">
                <a:solidFill>
                  <a:srgbClr val="0000FF"/>
                </a:solidFill>
              </a:rPr>
              <a:t>agregačnými</a:t>
            </a:r>
            <a:r>
              <a:rPr lang="sk-SK" altLang="en-US" i="1">
                <a:solidFill>
                  <a:srgbClr val="0000FF"/>
                </a:solidFill>
              </a:rPr>
              <a:t> funkciami</a:t>
            </a:r>
            <a:r>
              <a:rPr lang="sk-SK" altLang="en-US" sz="1800">
                <a:solidFill>
                  <a:srgbClr val="0000FF"/>
                </a:solidFill>
              </a:rPr>
              <a:t>  </a:t>
            </a:r>
          </a:p>
        </p:txBody>
      </p:sp>
      <p:sp>
        <p:nvSpPr>
          <p:cNvPr id="3081" name="Text Box 9"/>
          <p:cNvSpPr txBox="1">
            <a:spLocks noChangeArrowheads="1"/>
          </p:cNvSpPr>
          <p:nvPr/>
        </p:nvSpPr>
        <p:spPr bwMode="auto">
          <a:xfrm>
            <a:off x="4067944" y="3773570"/>
            <a:ext cx="614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i="1">
                <a:solidFill>
                  <a:srgbClr val="0000FF"/>
                </a:solidFill>
              </a:rPr>
              <a:t>... Grupovanie riadkov dočasného výsledku</a:t>
            </a:r>
            <a:r>
              <a:rPr lang="sk-SK" altLang="en-US" sz="1800">
                <a:solidFill>
                  <a:srgbClr val="0000FF"/>
                </a:solidFill>
              </a:rPr>
              <a:t>  </a:t>
            </a:r>
          </a:p>
        </p:txBody>
      </p:sp>
      <p:sp>
        <p:nvSpPr>
          <p:cNvPr id="3082" name="Text Box 10"/>
          <p:cNvSpPr txBox="1">
            <a:spLocks noChangeArrowheads="1"/>
          </p:cNvSpPr>
          <p:nvPr/>
        </p:nvSpPr>
        <p:spPr bwMode="auto">
          <a:xfrm>
            <a:off x="967982" y="5555582"/>
            <a:ext cx="8567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i="1">
                <a:solidFill>
                  <a:srgbClr val="0000FF"/>
                </a:solidFill>
              </a:rPr>
              <a:t>... Utriedenie výslednej množiny podľa stĺpcov (vzostupne, zostupne)</a:t>
            </a:r>
            <a:r>
              <a:rPr lang="sk-SK" altLang="en-US" sz="1800">
                <a:solidFill>
                  <a:srgbClr val="0000FF"/>
                </a:solidFill>
              </a:rPr>
              <a:t>  </a:t>
            </a:r>
          </a:p>
        </p:txBody>
      </p:sp>
      <p:sp>
        <p:nvSpPr>
          <p:cNvPr id="3084" name="Rectangle 12"/>
          <p:cNvSpPr>
            <a:spLocks noChangeArrowheads="1"/>
          </p:cNvSpPr>
          <p:nvPr/>
        </p:nvSpPr>
        <p:spPr bwMode="auto">
          <a:xfrm>
            <a:off x="533400" y="3854450"/>
            <a:ext cx="8305800" cy="1250950"/>
          </a:xfrm>
          <a:prstGeom prst="rect">
            <a:avLst/>
          </a:prstGeom>
          <a:noFill/>
          <a:ln w="28575">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p:txBody>
      </p:sp>
      <p:sp>
        <p:nvSpPr>
          <p:cNvPr id="3085" name="Text Box 13"/>
          <p:cNvSpPr txBox="1">
            <a:spLocks noChangeArrowheads="1"/>
          </p:cNvSpPr>
          <p:nvPr/>
        </p:nvSpPr>
        <p:spPr bwMode="auto">
          <a:xfrm>
            <a:off x="3477815" y="4609264"/>
            <a:ext cx="5819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b="1" i="1">
                <a:solidFill>
                  <a:srgbClr val="A50021"/>
                </a:solidFill>
              </a:rPr>
              <a:t>... Používajú sa s </a:t>
            </a:r>
            <a:r>
              <a:rPr lang="sk-SK" altLang="en-US" b="1" i="1" err="1">
                <a:solidFill>
                  <a:srgbClr val="A50021"/>
                </a:solidFill>
              </a:rPr>
              <a:t>agregačnými</a:t>
            </a:r>
            <a:r>
              <a:rPr lang="sk-SK" altLang="en-US" b="1" i="1">
                <a:solidFill>
                  <a:srgbClr val="A50021"/>
                </a:solidFill>
              </a:rPr>
              <a:t> funkciami</a:t>
            </a:r>
            <a:endParaRPr lang="sk-SK" altLang="en-US" sz="1800" b="1">
              <a:solidFill>
                <a:srgbClr val="A50021"/>
              </a:solidFill>
            </a:endParaRPr>
          </a:p>
        </p:txBody>
      </p:sp>
    </p:spTree>
    <p:extLst>
      <p:ext uri="{BB962C8B-B14F-4D97-AF65-F5344CB8AC3E}">
        <p14:creationId xmlns:p14="http://schemas.microsoft.com/office/powerpoint/2010/main" val="3250524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076"/>
                                        </p:tgtEl>
                                        <p:attrNameLst>
                                          <p:attrName>style.visibility</p:attrName>
                                        </p:attrNameLst>
                                      </p:cBhvr>
                                      <p:to>
                                        <p:strVal val="visible"/>
                                      </p:to>
                                    </p:set>
                                    <p:anim calcmode="lin" valueType="num">
                                      <p:cBhvr additive="base">
                                        <p:cTn id="7" dur="500" fill="hold"/>
                                        <p:tgtEl>
                                          <p:spTgt spid="3076"/>
                                        </p:tgtEl>
                                        <p:attrNameLst>
                                          <p:attrName>ppt_x</p:attrName>
                                        </p:attrNameLst>
                                      </p:cBhvr>
                                      <p:tavLst>
                                        <p:tav tm="0">
                                          <p:val>
                                            <p:strVal val="1+#ppt_w/2"/>
                                          </p:val>
                                        </p:tav>
                                        <p:tav tm="100000">
                                          <p:val>
                                            <p:strVal val="#ppt_x"/>
                                          </p:val>
                                        </p:tav>
                                      </p:tavLst>
                                    </p:anim>
                                    <p:anim calcmode="lin" valueType="num">
                                      <p:cBhvr additive="base">
                                        <p:cTn id="8" dur="500" fill="hold"/>
                                        <p:tgtEl>
                                          <p:spTgt spid="307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077"/>
                                        </p:tgtEl>
                                        <p:attrNameLst>
                                          <p:attrName>style.visibility</p:attrName>
                                        </p:attrNameLst>
                                      </p:cBhvr>
                                      <p:to>
                                        <p:strVal val="visible"/>
                                      </p:to>
                                    </p:set>
                                    <p:anim calcmode="lin" valueType="num">
                                      <p:cBhvr additive="base">
                                        <p:cTn id="13" dur="500" fill="hold"/>
                                        <p:tgtEl>
                                          <p:spTgt spid="3077"/>
                                        </p:tgtEl>
                                        <p:attrNameLst>
                                          <p:attrName>ppt_x</p:attrName>
                                        </p:attrNameLst>
                                      </p:cBhvr>
                                      <p:tavLst>
                                        <p:tav tm="0">
                                          <p:val>
                                            <p:strVal val="1+#ppt_w/2"/>
                                          </p:val>
                                        </p:tav>
                                        <p:tav tm="100000">
                                          <p:val>
                                            <p:strVal val="#ppt_x"/>
                                          </p:val>
                                        </p:tav>
                                      </p:tavLst>
                                    </p:anim>
                                    <p:anim calcmode="lin" valueType="num">
                                      <p:cBhvr additive="base">
                                        <p:cTn id="14" dur="500" fill="hold"/>
                                        <p:tgtEl>
                                          <p:spTgt spid="307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079"/>
                                        </p:tgtEl>
                                        <p:attrNameLst>
                                          <p:attrName>style.visibility</p:attrName>
                                        </p:attrNameLst>
                                      </p:cBhvr>
                                      <p:to>
                                        <p:strVal val="visible"/>
                                      </p:to>
                                    </p:set>
                                    <p:anim calcmode="lin" valueType="num">
                                      <p:cBhvr additive="base">
                                        <p:cTn id="19" dur="500" fill="hold"/>
                                        <p:tgtEl>
                                          <p:spTgt spid="3079"/>
                                        </p:tgtEl>
                                        <p:attrNameLst>
                                          <p:attrName>ppt_x</p:attrName>
                                        </p:attrNameLst>
                                      </p:cBhvr>
                                      <p:tavLst>
                                        <p:tav tm="0">
                                          <p:val>
                                            <p:strVal val="1+#ppt_w/2"/>
                                          </p:val>
                                        </p:tav>
                                        <p:tav tm="100000">
                                          <p:val>
                                            <p:strVal val="#ppt_x"/>
                                          </p:val>
                                        </p:tav>
                                      </p:tavLst>
                                    </p:anim>
                                    <p:anim calcmode="lin" valueType="num">
                                      <p:cBhvr additive="base">
                                        <p:cTn id="20" dur="500" fill="hold"/>
                                        <p:tgtEl>
                                          <p:spTgt spid="307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078"/>
                                        </p:tgtEl>
                                        <p:attrNameLst>
                                          <p:attrName>style.visibility</p:attrName>
                                        </p:attrNameLst>
                                      </p:cBhvr>
                                      <p:to>
                                        <p:strVal val="visible"/>
                                      </p:to>
                                    </p:set>
                                    <p:anim calcmode="lin" valueType="num">
                                      <p:cBhvr additive="base">
                                        <p:cTn id="25" dur="500" fill="hold"/>
                                        <p:tgtEl>
                                          <p:spTgt spid="3078"/>
                                        </p:tgtEl>
                                        <p:attrNameLst>
                                          <p:attrName>ppt_x</p:attrName>
                                        </p:attrNameLst>
                                      </p:cBhvr>
                                      <p:tavLst>
                                        <p:tav tm="0">
                                          <p:val>
                                            <p:strVal val="1+#ppt_w/2"/>
                                          </p:val>
                                        </p:tav>
                                        <p:tav tm="100000">
                                          <p:val>
                                            <p:strVal val="#ppt_x"/>
                                          </p:val>
                                        </p:tav>
                                      </p:tavLst>
                                    </p:anim>
                                    <p:anim calcmode="lin" valueType="num">
                                      <p:cBhvr additive="base">
                                        <p:cTn id="26" dur="500" fill="hold"/>
                                        <p:tgtEl>
                                          <p:spTgt spid="307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084"/>
                                        </p:tgtEl>
                                        <p:attrNameLst>
                                          <p:attrName>style.visibility</p:attrName>
                                        </p:attrNameLst>
                                      </p:cBhvr>
                                      <p:to>
                                        <p:strVal val="visible"/>
                                      </p:to>
                                    </p:set>
                                    <p:anim calcmode="lin" valueType="num">
                                      <p:cBhvr additive="base">
                                        <p:cTn id="31" dur="500" fill="hold"/>
                                        <p:tgtEl>
                                          <p:spTgt spid="3084"/>
                                        </p:tgtEl>
                                        <p:attrNameLst>
                                          <p:attrName>ppt_x</p:attrName>
                                        </p:attrNameLst>
                                      </p:cBhvr>
                                      <p:tavLst>
                                        <p:tav tm="0">
                                          <p:val>
                                            <p:strVal val="1+#ppt_w/2"/>
                                          </p:val>
                                        </p:tav>
                                        <p:tav tm="100000">
                                          <p:val>
                                            <p:strVal val="#ppt_x"/>
                                          </p:val>
                                        </p:tav>
                                      </p:tavLst>
                                    </p:anim>
                                    <p:anim calcmode="lin" valueType="num">
                                      <p:cBhvr additive="base">
                                        <p:cTn id="32" dur="500" fill="hold"/>
                                        <p:tgtEl>
                                          <p:spTgt spid="3084"/>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2" presetClass="entr" presetSubtype="2" fill="hold" grpId="0" nodeType="afterEffect">
                                  <p:stCondLst>
                                    <p:cond delay="0"/>
                                  </p:stCondLst>
                                  <p:childTnLst>
                                    <p:set>
                                      <p:cBhvr>
                                        <p:cTn id="35" dur="1" fill="hold">
                                          <p:stCondLst>
                                            <p:cond delay="0"/>
                                          </p:stCondLst>
                                        </p:cTn>
                                        <p:tgtEl>
                                          <p:spTgt spid="3085"/>
                                        </p:tgtEl>
                                        <p:attrNameLst>
                                          <p:attrName>style.visibility</p:attrName>
                                        </p:attrNameLst>
                                      </p:cBhvr>
                                      <p:to>
                                        <p:strVal val="visible"/>
                                      </p:to>
                                    </p:set>
                                    <p:anim calcmode="lin" valueType="num">
                                      <p:cBhvr additive="base">
                                        <p:cTn id="36" dur="500" fill="hold"/>
                                        <p:tgtEl>
                                          <p:spTgt spid="3085"/>
                                        </p:tgtEl>
                                        <p:attrNameLst>
                                          <p:attrName>ppt_x</p:attrName>
                                        </p:attrNameLst>
                                      </p:cBhvr>
                                      <p:tavLst>
                                        <p:tav tm="0">
                                          <p:val>
                                            <p:strVal val="1+#ppt_w/2"/>
                                          </p:val>
                                        </p:tav>
                                        <p:tav tm="100000">
                                          <p:val>
                                            <p:strVal val="#ppt_x"/>
                                          </p:val>
                                        </p:tav>
                                      </p:tavLst>
                                    </p:anim>
                                    <p:anim calcmode="lin" valueType="num">
                                      <p:cBhvr additive="base">
                                        <p:cTn id="37" dur="500" fill="hold"/>
                                        <p:tgtEl>
                                          <p:spTgt spid="3085"/>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3081"/>
                                        </p:tgtEl>
                                        <p:attrNameLst>
                                          <p:attrName>style.visibility</p:attrName>
                                        </p:attrNameLst>
                                      </p:cBhvr>
                                      <p:to>
                                        <p:strVal val="visible"/>
                                      </p:to>
                                    </p:set>
                                    <p:anim calcmode="lin" valueType="num">
                                      <p:cBhvr additive="base">
                                        <p:cTn id="42" dur="500" fill="hold"/>
                                        <p:tgtEl>
                                          <p:spTgt spid="3081"/>
                                        </p:tgtEl>
                                        <p:attrNameLst>
                                          <p:attrName>ppt_x</p:attrName>
                                        </p:attrNameLst>
                                      </p:cBhvr>
                                      <p:tavLst>
                                        <p:tav tm="0">
                                          <p:val>
                                            <p:strVal val="1+#ppt_w/2"/>
                                          </p:val>
                                        </p:tav>
                                        <p:tav tm="100000">
                                          <p:val>
                                            <p:strVal val="#ppt_x"/>
                                          </p:val>
                                        </p:tav>
                                      </p:tavLst>
                                    </p:anim>
                                    <p:anim calcmode="lin" valueType="num">
                                      <p:cBhvr additive="base">
                                        <p:cTn id="43" dur="500" fill="hold"/>
                                        <p:tgtEl>
                                          <p:spTgt spid="3081"/>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3080"/>
                                        </p:tgtEl>
                                        <p:attrNameLst>
                                          <p:attrName>style.visibility</p:attrName>
                                        </p:attrNameLst>
                                      </p:cBhvr>
                                      <p:to>
                                        <p:strVal val="visible"/>
                                      </p:to>
                                    </p:set>
                                    <p:anim calcmode="lin" valueType="num">
                                      <p:cBhvr additive="base">
                                        <p:cTn id="48" dur="500" fill="hold"/>
                                        <p:tgtEl>
                                          <p:spTgt spid="3080"/>
                                        </p:tgtEl>
                                        <p:attrNameLst>
                                          <p:attrName>ppt_x</p:attrName>
                                        </p:attrNameLst>
                                      </p:cBhvr>
                                      <p:tavLst>
                                        <p:tav tm="0">
                                          <p:val>
                                            <p:strVal val="1+#ppt_w/2"/>
                                          </p:val>
                                        </p:tav>
                                        <p:tav tm="100000">
                                          <p:val>
                                            <p:strVal val="#ppt_x"/>
                                          </p:val>
                                        </p:tav>
                                      </p:tavLst>
                                    </p:anim>
                                    <p:anim calcmode="lin" valueType="num">
                                      <p:cBhvr additive="base">
                                        <p:cTn id="49" dur="500" fill="hold"/>
                                        <p:tgtEl>
                                          <p:spTgt spid="3080"/>
                                        </p:tgtEl>
                                        <p:attrNameLst>
                                          <p:attrName>ppt_y</p:attrName>
                                        </p:attrNameLst>
                                      </p:cBhvr>
                                      <p:tavLst>
                                        <p:tav tm="0">
                                          <p:val>
                                            <p:strVal val="#ppt_y"/>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3082"/>
                                        </p:tgtEl>
                                        <p:attrNameLst>
                                          <p:attrName>style.visibility</p:attrName>
                                        </p:attrNameLst>
                                      </p:cBhvr>
                                      <p:to>
                                        <p:strVal val="visible"/>
                                      </p:to>
                                    </p:set>
                                    <p:anim calcmode="lin" valueType="num">
                                      <p:cBhvr additive="base">
                                        <p:cTn id="54" dur="500" fill="hold"/>
                                        <p:tgtEl>
                                          <p:spTgt spid="3082"/>
                                        </p:tgtEl>
                                        <p:attrNameLst>
                                          <p:attrName>ppt_x</p:attrName>
                                        </p:attrNameLst>
                                      </p:cBhvr>
                                      <p:tavLst>
                                        <p:tav tm="0">
                                          <p:val>
                                            <p:strVal val="1+#ppt_w/2"/>
                                          </p:val>
                                        </p:tav>
                                        <p:tav tm="100000">
                                          <p:val>
                                            <p:strVal val="#ppt_x"/>
                                          </p:val>
                                        </p:tav>
                                      </p:tavLst>
                                    </p:anim>
                                    <p:anim calcmode="lin" valueType="num">
                                      <p:cBhvr additive="base">
                                        <p:cTn id="55" dur="500" fill="hold"/>
                                        <p:tgtEl>
                                          <p:spTgt spid="30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autoUpdateAnimBg="0"/>
      <p:bldP spid="3077" grpId="0" autoUpdateAnimBg="0"/>
      <p:bldP spid="3078" grpId="0" autoUpdateAnimBg="0"/>
      <p:bldP spid="3079" grpId="0" autoUpdateAnimBg="0"/>
      <p:bldP spid="3080" grpId="0" autoUpdateAnimBg="0"/>
      <p:bldP spid="3081" grpId="0" autoUpdateAnimBg="0"/>
      <p:bldP spid="3082" grpId="0" autoUpdateAnimBg="0"/>
      <p:bldP spid="3084" grpId="0" animBg="1"/>
      <p:bldP spid="3085"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3"/>
          <p:cNvSpPr>
            <a:spLocks noGrp="1" noChangeArrowheads="1"/>
          </p:cNvSpPr>
          <p:nvPr>
            <p:ph type="body" sz="half" idx="1"/>
          </p:nvPr>
        </p:nvSpPr>
        <p:spPr>
          <a:xfrm>
            <a:off x="2667000" y="994209"/>
            <a:ext cx="5001344" cy="990600"/>
          </a:xfrm>
        </p:spPr>
        <p:txBody>
          <a:bodyPr/>
          <a:lstStyle/>
          <a:p>
            <a:pPr>
              <a:buFontTx/>
              <a:buNone/>
            </a:pPr>
            <a:r>
              <a:rPr lang="sk-SK" altLang="en-US" sz="2400" b="1">
                <a:cs typeface="Times New Roman" panose="02020603050405020304" pitchFamily="18" charset="0"/>
              </a:rPr>
              <a:t>SELECT</a:t>
            </a:r>
            <a:r>
              <a:rPr lang="sk-SK" altLang="en-US" sz="2400">
                <a:cs typeface="Times New Roman" panose="02020603050405020304" pitchFamily="18" charset="0"/>
              </a:rPr>
              <a:t> </a:t>
            </a:r>
            <a:r>
              <a:rPr lang="en-US" altLang="en-US" sz="2400">
                <a:cs typeface="Times New Roman" panose="02020603050405020304" pitchFamily="18" charset="0"/>
              </a:rPr>
              <a:t>*</a:t>
            </a:r>
            <a:r>
              <a:rPr lang="en-US" altLang="en-US" sz="2400"/>
              <a:t> </a:t>
            </a:r>
            <a:r>
              <a:rPr lang="sk-SK" altLang="en-US" sz="2400">
                <a:cs typeface="Times New Roman" panose="02020603050405020304" pitchFamily="18" charset="0"/>
              </a:rPr>
              <a:t> FROM</a:t>
            </a:r>
            <a:r>
              <a:rPr lang="en-US" altLang="en-US" sz="2400">
                <a:cs typeface="Times New Roman" panose="02020603050405020304" pitchFamily="18" charset="0"/>
              </a:rPr>
              <a:t> </a:t>
            </a:r>
            <a:r>
              <a:rPr lang="en-US" altLang="en-US" sz="2400" err="1">
                <a:cs typeface="Times New Roman" panose="02020603050405020304" pitchFamily="18" charset="0"/>
              </a:rPr>
              <a:t>os_udaje</a:t>
            </a:r>
            <a:r>
              <a:rPr lang="en-US" altLang="en-US" sz="2400">
                <a:cs typeface="Times New Roman" panose="02020603050405020304" pitchFamily="18" charset="0"/>
              </a:rPr>
              <a:t>;</a:t>
            </a:r>
            <a:r>
              <a:rPr lang="sk-SK" altLang="en-US" sz="2400">
                <a:cs typeface="Times New Roman" panose="02020603050405020304" pitchFamily="18" charset="0"/>
              </a:rPr>
              <a:t> </a:t>
            </a:r>
            <a:r>
              <a:rPr lang="sk-SK" altLang="en-US" sz="2400"/>
              <a:t>     </a:t>
            </a:r>
          </a:p>
        </p:txBody>
      </p:sp>
      <p:sp>
        <p:nvSpPr>
          <p:cNvPr id="5227" name="Rectangle 107"/>
          <p:cNvSpPr>
            <a:spLocks noGrp="1" noChangeArrowheads="1"/>
          </p:cNvSpPr>
          <p:nvPr>
            <p:ph type="title"/>
          </p:nvPr>
        </p:nvSpPr>
        <p:spPr>
          <a:xfrm>
            <a:off x="685800" y="304800"/>
            <a:ext cx="7772400" cy="658813"/>
          </a:xfrm>
        </p:spPr>
        <p:txBody>
          <a:bodyPr/>
          <a:lstStyle/>
          <a:p>
            <a:pPr>
              <a:defRPr/>
            </a:pPr>
            <a:r>
              <a:rPr lang="en-US" sz="3200" i="1"/>
              <a:t>V</a:t>
            </a:r>
            <a:r>
              <a:rPr lang="sk-SK" sz="3200" i="1"/>
              <a:t>ýber všetkých riadkov tabuľky</a:t>
            </a:r>
          </a:p>
        </p:txBody>
      </p:sp>
      <p:sp>
        <p:nvSpPr>
          <p:cNvPr id="26629" name="Obdĺžnik 8"/>
          <p:cNvSpPr>
            <a:spLocks noChangeArrowheads="1"/>
          </p:cNvSpPr>
          <p:nvPr/>
        </p:nvSpPr>
        <p:spPr bwMode="auto">
          <a:xfrm>
            <a:off x="357188" y="2216150"/>
            <a:ext cx="878681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600" b="1" baseline="-25000">
                <a:solidFill>
                  <a:srgbClr val="000000"/>
                </a:solidFill>
                <a:latin typeface="Tahoma" panose="020B0604030504040204" pitchFamily="34" charset="0"/>
              </a:rPr>
              <a:t>RODCISLO</a:t>
            </a:r>
            <a:r>
              <a:rPr lang="sk-SK" altLang="en-US" sz="1600" b="1">
                <a:solidFill>
                  <a:srgbClr val="000000"/>
                </a:solidFill>
                <a:latin typeface="Times New Roman" panose="02020603050405020304" pitchFamily="18" charset="0"/>
              </a:rPr>
              <a:t>	</a:t>
            </a:r>
            <a:r>
              <a:rPr lang="en-US" altLang="en-US" sz="1600" b="1" baseline="-25000">
                <a:solidFill>
                  <a:srgbClr val="A5A5A5"/>
                </a:solidFill>
                <a:latin typeface="Tahoma" panose="020B0604030504040204" pitchFamily="34" charset="0"/>
              </a:rPr>
              <a:t>0 </a:t>
            </a:r>
            <a:r>
              <a:rPr lang="es-ES_tradnl" altLang="en-US" sz="1600" b="1" baseline="-25000">
                <a:solidFill>
                  <a:srgbClr val="000000"/>
                </a:solidFill>
                <a:latin typeface="Tahoma" panose="020B0604030504040204" pitchFamily="34" charset="0"/>
              </a:rPr>
              <a:t>MENO</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Tahoma" panose="020B0604030504040204" pitchFamily="34" charset="0"/>
              </a:rPr>
              <a:t>PRIEZVISKO</a:t>
            </a:r>
            <a:r>
              <a:rPr lang="sk-SK" altLang="en-US" sz="1600" b="1">
                <a:solidFill>
                  <a:srgbClr val="000000"/>
                </a:solidFill>
                <a:latin typeface="Times New Roman" panose="02020603050405020304" pitchFamily="18" charset="0"/>
              </a:rPr>
              <a:t>	</a:t>
            </a:r>
            <a:r>
              <a:rPr lang="sk-SK" altLang="en-US" sz="1600" b="1" baseline="-25000">
                <a:solidFill>
                  <a:srgbClr val="A5A5A5"/>
                </a:solidFill>
                <a:latin typeface="Tahoma" panose="020B0604030504040204" pitchFamily="34" charset="0"/>
              </a:rPr>
              <a:t>í) </a:t>
            </a:r>
            <a:r>
              <a:rPr lang="sk-SK" altLang="en-US" sz="1600" b="1" baseline="-25000">
                <a:solidFill>
                  <a:srgbClr val="000000"/>
                </a:solidFill>
                <a:latin typeface="Tahoma" panose="020B0604030504040204" pitchFamily="34" charset="0"/>
              </a:rPr>
              <a:t>ULICA</a:t>
            </a:r>
            <a:r>
              <a:rPr lang="sk-SK" altLang="en-US" sz="1600" b="1">
                <a:solidFill>
                  <a:srgbClr val="000000"/>
                </a:solidFill>
                <a:latin typeface="Times New Roman" panose="02020603050405020304" pitchFamily="18" charset="0"/>
              </a:rPr>
              <a:t>	</a:t>
            </a:r>
            <a:r>
              <a:rPr lang="en-US" altLang="en-US" sz="1600" b="1">
                <a:solidFill>
                  <a:srgbClr val="000000"/>
                </a:solidFill>
                <a:latin typeface="Times New Roman" panose="02020603050405020304" pitchFamily="18" charset="0"/>
              </a:rPr>
              <a:t>        </a:t>
            </a:r>
            <a:r>
              <a:rPr lang="sk-SK" altLang="en-US" sz="1600" b="1" baseline="-25000">
                <a:solidFill>
                  <a:srgbClr val="000000"/>
                </a:solidFill>
                <a:latin typeface="Tahoma" panose="020B0604030504040204" pitchFamily="34" charset="0"/>
              </a:rPr>
              <a:t>PSC</a:t>
            </a:r>
            <a:r>
              <a:rPr lang="sk-SK" altLang="en-US" sz="1600" b="1">
                <a:solidFill>
                  <a:srgbClr val="000000"/>
                </a:solidFill>
                <a:latin typeface="Times New Roman" panose="02020603050405020304" pitchFamily="18" charset="0"/>
              </a:rPr>
              <a:t>	</a:t>
            </a:r>
            <a:r>
              <a:rPr lang="en-US" altLang="en-US" sz="1600" b="1">
                <a:solidFill>
                  <a:srgbClr val="000000"/>
                </a:solidFill>
                <a:latin typeface="Times New Roman" panose="02020603050405020304" pitchFamily="18" charset="0"/>
              </a:rPr>
              <a:t>	</a:t>
            </a:r>
            <a:r>
              <a:rPr lang="sk-SK" altLang="en-US" sz="1600" b="1" baseline="-25000">
                <a:solidFill>
                  <a:srgbClr val="A5A5A5"/>
                </a:solidFill>
                <a:latin typeface="Tahoma" panose="020B0604030504040204" pitchFamily="34" charset="0"/>
              </a:rPr>
              <a:t>0 </a:t>
            </a:r>
            <a:r>
              <a:rPr lang="sk-SK" altLang="en-US" sz="1600" b="1" baseline="-25000">
                <a:solidFill>
                  <a:srgbClr val="000000"/>
                </a:solidFill>
                <a:latin typeface="Tahoma" panose="020B0604030504040204" pitchFamily="34" charset="0"/>
              </a:rPr>
              <a:t>OBEC</a:t>
            </a:r>
            <a:endParaRPr lang="en-US" altLang="en-US" sz="1600" b="1" baseline="-25000">
              <a:solidFill>
                <a:srgbClr val="000000"/>
              </a:solidFill>
              <a:latin typeface="Tahoma" panose="020B0604030504040204" pitchFamily="34" charset="0"/>
            </a:endParaRPr>
          </a:p>
          <a:p>
            <a:r>
              <a:rPr lang="sk-SK" altLang="en-US" sz="1600" b="1">
                <a:solidFill>
                  <a:srgbClr val="000000"/>
                </a:solidFill>
                <a:latin typeface="Times New Roman" panose="02020603050405020304" pitchFamily="18" charset="0"/>
              </a:rPr>
              <a:t>	</a:t>
            </a:r>
          </a:p>
          <a:p>
            <a:r>
              <a:rPr lang="en-US" altLang="en-US" sz="1600" b="1" baseline="-25000">
                <a:solidFill>
                  <a:srgbClr val="000000"/>
                </a:solidFill>
                <a:latin typeface="Courier New" panose="02070309020205020404" pitchFamily="49" charset="0"/>
              </a:rPr>
              <a:t>841106/3456</a:t>
            </a:r>
            <a:r>
              <a:rPr lang="sk-SK" altLang="en-US" sz="1600" b="1">
                <a:solidFill>
                  <a:srgbClr val="000000"/>
                </a:solidFill>
                <a:latin typeface="Times New Roman" panose="02020603050405020304" pitchFamily="18" charset="0"/>
              </a:rPr>
              <a:t>	</a:t>
            </a:r>
            <a:r>
              <a:rPr lang="en-US" altLang="en-US" sz="1600" b="1" baseline="-25000">
                <a:solidFill>
                  <a:srgbClr val="000000"/>
                </a:solidFill>
                <a:latin typeface="Courier New" panose="02070309020205020404" pitchFamily="49" charset="0"/>
              </a:rPr>
              <a:t>Peter</a:t>
            </a:r>
            <a:r>
              <a:rPr lang="sk-SK" altLang="en-US" sz="1600" b="1">
                <a:solidFill>
                  <a:srgbClr val="000000"/>
                </a:solidFill>
                <a:latin typeface="Times New Roman" panose="02020603050405020304" pitchFamily="18" charset="0"/>
              </a:rPr>
              <a:t>	</a:t>
            </a:r>
            <a:r>
              <a:rPr lang="en-US" altLang="en-US" sz="1600" b="1" baseline="-25000">
                <a:solidFill>
                  <a:srgbClr val="000000"/>
                </a:solidFill>
                <a:latin typeface="Courier New" panose="02070309020205020404" pitchFamily="49" charset="0"/>
              </a:rPr>
              <a:t>Novak</a:t>
            </a:r>
            <a:r>
              <a:rPr lang="sv-SE" altLang="en-US" sz="1600" b="1">
                <a:solidFill>
                  <a:srgbClr val="000000"/>
                </a:solidFill>
                <a:latin typeface="Times New Roman" panose="02020603050405020304" pitchFamily="18" charset="0"/>
              </a:rPr>
              <a:t>	</a:t>
            </a:r>
            <a:r>
              <a:rPr lang="sv-SE" altLang="en-US" sz="1600" b="1" baseline="-25000">
                <a:solidFill>
                  <a:srgbClr val="000000"/>
                </a:solidFill>
                <a:latin typeface="Courier New" panose="02070309020205020404" pitchFamily="49" charset="0"/>
              </a:rPr>
              <a:t>Kamenna 27</a:t>
            </a:r>
            <a:r>
              <a:rPr lang="sv-SE" altLang="en-US" sz="1600" b="1">
                <a:solidFill>
                  <a:srgbClr val="000000"/>
                </a:solidFill>
                <a:latin typeface="Times New Roman" panose="02020603050405020304" pitchFamily="18" charset="0"/>
              </a:rPr>
              <a:t>	         </a:t>
            </a:r>
            <a:r>
              <a:rPr lang="sv-SE" altLang="en-US" sz="1600" b="1" baseline="-25000">
                <a:solidFill>
                  <a:srgbClr val="000000"/>
                </a:solidFill>
                <a:latin typeface="Courier New" panose="02070309020205020404" pitchFamily="49" charset="0"/>
              </a:rPr>
              <a:t>97401</a:t>
            </a:r>
            <a:r>
              <a:rPr lang="sv-SE" altLang="en-US" sz="1600" b="1">
                <a:solidFill>
                  <a:srgbClr val="000000"/>
                </a:solidFill>
                <a:latin typeface="Times New Roman" panose="02020603050405020304" pitchFamily="18" charset="0"/>
              </a:rPr>
              <a:t>		</a:t>
            </a:r>
            <a:r>
              <a:rPr lang="sv-SE" altLang="en-US" sz="1600" b="1" baseline="-25000">
                <a:solidFill>
                  <a:srgbClr val="000000"/>
                </a:solidFill>
                <a:latin typeface="Courier New" panose="02070309020205020404" pitchFamily="49" charset="0"/>
              </a:rPr>
              <a:t>Banska Bystrica</a:t>
            </a:r>
            <a:r>
              <a:rPr lang="sv-SE" altLang="en-US" sz="1600" b="1">
                <a:solidFill>
                  <a:srgbClr val="000000"/>
                </a:solidFill>
                <a:latin typeface="Times New Roman" panose="02020603050405020304" pitchFamily="18" charset="0"/>
              </a:rPr>
              <a:t>	</a:t>
            </a:r>
          </a:p>
          <a:p>
            <a:r>
              <a:rPr lang="en-US" altLang="en-US" sz="1600" b="1" baseline="-25000">
                <a:solidFill>
                  <a:srgbClr val="000000"/>
                </a:solidFill>
                <a:latin typeface="Courier New" panose="02070309020205020404" pitchFamily="49" charset="0"/>
              </a:rPr>
              <a:t>840312/7845</a:t>
            </a:r>
            <a:r>
              <a:rPr lang="sk-SK" altLang="en-US" sz="1600" b="1">
                <a:solidFill>
                  <a:srgbClr val="000000"/>
                </a:solidFill>
                <a:latin typeface="Times New Roman" panose="02020603050405020304" pitchFamily="18" charset="0"/>
              </a:rPr>
              <a:t>	</a:t>
            </a:r>
            <a:r>
              <a:rPr lang="en-US" altLang="en-US" sz="1600" b="1" baseline="-25000">
                <a:solidFill>
                  <a:srgbClr val="000000"/>
                </a:solidFill>
                <a:latin typeface="Courier New" panose="02070309020205020404" pitchFamily="49" charset="0"/>
              </a:rPr>
              <a:t>Stanislav</a:t>
            </a:r>
            <a:r>
              <a:rPr lang="nn-NO" altLang="en-US" sz="1600" b="1">
                <a:solidFill>
                  <a:srgbClr val="000000"/>
                </a:solidFill>
                <a:latin typeface="Times New Roman" panose="02020603050405020304" pitchFamily="18" charset="0"/>
              </a:rPr>
              <a:t>	</a:t>
            </a:r>
            <a:r>
              <a:rPr lang="nn-NO" altLang="en-US" sz="1600" b="1" baseline="-25000">
                <a:solidFill>
                  <a:srgbClr val="000000"/>
                </a:solidFill>
                <a:latin typeface="Courier New" panose="02070309020205020404" pitchFamily="49" charset="0"/>
              </a:rPr>
              <a:t>Steinmuller Zelena 9</a:t>
            </a:r>
            <a:r>
              <a:rPr lang="nn-NO" altLang="en-US" sz="1600" b="1">
                <a:solidFill>
                  <a:srgbClr val="000000"/>
                </a:solidFill>
                <a:latin typeface="Times New Roman" panose="02020603050405020304" pitchFamily="18" charset="0"/>
              </a:rPr>
              <a:t>	         </a:t>
            </a:r>
            <a:r>
              <a:rPr lang="nn-NO" altLang="en-US" sz="1600" b="1" baseline="-25000">
                <a:solidFill>
                  <a:srgbClr val="000000"/>
                </a:solidFill>
                <a:latin typeface="Courier New" panose="02070309020205020404" pitchFamily="49" charset="0"/>
              </a:rPr>
              <a:t>91501</a:t>
            </a:r>
            <a:r>
              <a:rPr lang="nn-NO" altLang="en-US" sz="1600" b="1">
                <a:solidFill>
                  <a:srgbClr val="000000"/>
                </a:solidFill>
                <a:latin typeface="Times New Roman" panose="02020603050405020304" pitchFamily="18" charset="0"/>
              </a:rPr>
              <a:t>	                  </a:t>
            </a:r>
            <a:r>
              <a:rPr lang="nn-NO" altLang="en-US" sz="1600" b="1" baseline="-25000">
                <a:solidFill>
                  <a:srgbClr val="000000"/>
                </a:solidFill>
                <a:latin typeface="Courier New" panose="02070309020205020404" pitchFamily="49" charset="0"/>
              </a:rPr>
              <a:t>Nove Mesto nad Vahom</a:t>
            </a:r>
          </a:p>
          <a:p>
            <a:r>
              <a:rPr lang="en-US" altLang="en-US" sz="1600" b="1" baseline="-25000">
                <a:solidFill>
                  <a:srgbClr val="000000"/>
                </a:solidFill>
                <a:latin typeface="Courier New" panose="02070309020205020404" pitchFamily="49" charset="0"/>
              </a:rPr>
              <a:t>850130/3695</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Marek</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Ratroch</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Stred 49/7</a:t>
            </a:r>
            <a:r>
              <a:rPr lang="sk-SK" altLang="en-US" sz="1600" b="1">
                <a:solidFill>
                  <a:srgbClr val="000000"/>
                </a:solidFill>
                <a:latin typeface="Times New Roman" panose="02020603050405020304" pitchFamily="18" charset="0"/>
              </a:rPr>
              <a:t>	</a:t>
            </a:r>
            <a:r>
              <a:rPr lang="en-US"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01701</a:t>
            </a:r>
            <a:r>
              <a:rPr lang="sk-SK" altLang="en-US" sz="1600" b="1">
                <a:solidFill>
                  <a:srgbClr val="000000"/>
                </a:solidFill>
                <a:latin typeface="Times New Roman" panose="02020603050405020304" pitchFamily="18" charset="0"/>
              </a:rPr>
              <a:t>	</a:t>
            </a:r>
            <a:r>
              <a:rPr lang="en-US"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Povazska Bystrica</a:t>
            </a:r>
            <a:r>
              <a:rPr lang="sk-SK" altLang="en-US" sz="1600" b="1">
                <a:solidFill>
                  <a:srgbClr val="000000"/>
                </a:solidFill>
                <a:latin typeface="Times New Roman" panose="02020603050405020304" pitchFamily="18" charset="0"/>
              </a:rPr>
              <a:t>	</a:t>
            </a:r>
          </a:p>
          <a:p>
            <a:r>
              <a:rPr lang="en-US" altLang="en-US" sz="1600" b="1" baseline="-25000">
                <a:solidFill>
                  <a:srgbClr val="000000"/>
                </a:solidFill>
                <a:latin typeface="Courier New" panose="02070309020205020404" pitchFamily="49" charset="0"/>
              </a:rPr>
              <a:t>840409/7680</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Dusan</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Bucany</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Gen.Svobodu 19</a:t>
            </a:r>
            <a:r>
              <a:rPr lang="en-US" altLang="en-US" sz="1600" b="1" baseline="-25000">
                <a:solidFill>
                  <a:srgbClr val="000000"/>
                </a:solidFill>
                <a:latin typeface="Courier New" panose="02070309020205020404" pitchFamily="49" charset="0"/>
              </a:rPr>
              <a:t>   </a:t>
            </a:r>
            <a:r>
              <a:rPr lang="sk-SK" altLang="en-US" sz="1600" b="1" baseline="-25000">
                <a:solidFill>
                  <a:srgbClr val="000000"/>
                </a:solidFill>
                <a:latin typeface="Courier New" panose="02070309020205020404" pitchFamily="49" charset="0"/>
              </a:rPr>
              <a:t>96001</a:t>
            </a:r>
            <a:r>
              <a:rPr lang="en-US" altLang="en-US" sz="1600" b="1">
                <a:solidFill>
                  <a:srgbClr val="000000"/>
                </a:solidFill>
                <a:latin typeface="Times New Roman" panose="02020603050405020304" pitchFamily="18" charset="0"/>
              </a:rPr>
              <a:t>	</a:t>
            </a:r>
            <a:r>
              <a:rPr lang="en-US" altLang="en-US" sz="1600" b="1" baseline="-25000">
                <a:solidFill>
                  <a:srgbClr val="000000"/>
                </a:solidFill>
                <a:latin typeface="Courier New" panose="02070309020205020404" pitchFamily="49" charset="0"/>
              </a:rPr>
              <a:t>	Z</a:t>
            </a:r>
            <a:r>
              <a:rPr lang="sk-SK" altLang="en-US" sz="1600" b="1" baseline="-25000">
                <a:solidFill>
                  <a:srgbClr val="000000"/>
                </a:solidFill>
                <a:latin typeface="Courier New" panose="02070309020205020404" pitchFamily="49" charset="0"/>
              </a:rPr>
              <a:t>volen</a:t>
            </a:r>
            <a:r>
              <a:rPr lang="sk-SK" altLang="en-US" sz="1600" b="1">
                <a:solidFill>
                  <a:srgbClr val="000000"/>
                </a:solidFill>
                <a:latin typeface="Times New Roman" panose="02020603050405020304" pitchFamily="18" charset="0"/>
              </a:rPr>
              <a:t>	</a:t>
            </a:r>
            <a:endParaRPr lang="en-US" altLang="en-US" sz="1600" b="1">
              <a:solidFill>
                <a:srgbClr val="000000"/>
              </a:solidFill>
              <a:latin typeface="Times New Roman" panose="02020603050405020304" pitchFamily="18" charset="0"/>
            </a:endParaRPr>
          </a:p>
          <a:p>
            <a:r>
              <a:rPr lang="en-US" altLang="en-US" sz="1600" b="1">
                <a:solidFill>
                  <a:srgbClr val="000000"/>
                </a:solidFill>
                <a:latin typeface="Times New Roman" panose="02020603050405020304" pitchFamily="18" charset="0"/>
              </a:rPr>
              <a:t>……</a:t>
            </a:r>
            <a:endParaRPr lang="sk-SK" altLang="en-US" sz="1600" b="1">
              <a:solidFill>
                <a:srgbClr val="000000"/>
              </a:solidFill>
              <a:latin typeface="Times New Roman" panose="02020603050405020304" pitchFamily="18" charset="0"/>
            </a:endParaRPr>
          </a:p>
          <a:p>
            <a:r>
              <a:rPr lang="en-US" altLang="en-US" sz="1600" b="1" baseline="-25000">
                <a:solidFill>
                  <a:srgbClr val="000000"/>
                </a:solidFill>
                <a:latin typeface="Courier New" panose="02070309020205020404" pitchFamily="49" charset="0"/>
              </a:rPr>
              <a:t>831204/7766</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Peter</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Korenciak</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Struhy 1270</a:t>
            </a:r>
            <a:r>
              <a:rPr lang="en-US"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02302</a:t>
            </a:r>
            <a:r>
              <a:rPr lang="sk-SK" altLang="en-US" sz="1600" b="1">
                <a:solidFill>
                  <a:srgbClr val="000000"/>
                </a:solidFill>
                <a:latin typeface="Times New Roman" panose="02020603050405020304" pitchFamily="18" charset="0"/>
              </a:rPr>
              <a:t>	</a:t>
            </a:r>
            <a:r>
              <a:rPr lang="en-US"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Krasno nad Kysucou</a:t>
            </a:r>
            <a:r>
              <a:rPr lang="sk-SK" altLang="en-US" sz="1600" b="1">
                <a:solidFill>
                  <a:srgbClr val="000000"/>
                </a:solidFill>
                <a:latin typeface="Times New Roman" panose="02020603050405020304" pitchFamily="18" charset="0"/>
              </a:rPr>
              <a:t>	</a:t>
            </a:r>
          </a:p>
          <a:p>
            <a:r>
              <a:rPr lang="en-US" altLang="en-US" sz="1600" b="1" baseline="-25000">
                <a:solidFill>
                  <a:srgbClr val="000000"/>
                </a:solidFill>
                <a:latin typeface="Courier New" panose="02070309020205020404" pitchFamily="49" charset="0"/>
              </a:rPr>
              <a:t>810101/8079</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Miroslav</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Gmuca</a:t>
            </a:r>
            <a:r>
              <a:rPr lang="sk-SK"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SNP 41</a:t>
            </a:r>
            <a:r>
              <a:rPr lang="sk-SK" altLang="en-US" sz="1600" b="1">
                <a:solidFill>
                  <a:srgbClr val="000000"/>
                </a:solidFill>
                <a:latin typeface="Times New Roman" panose="02020603050405020304" pitchFamily="18" charset="0"/>
              </a:rPr>
              <a:t>	</a:t>
            </a:r>
            <a:r>
              <a:rPr lang="en-US"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97613</a:t>
            </a:r>
            <a:r>
              <a:rPr lang="sk-SK" altLang="en-US" sz="1600" b="1">
                <a:solidFill>
                  <a:srgbClr val="000000"/>
                </a:solidFill>
                <a:latin typeface="Times New Roman" panose="02020603050405020304" pitchFamily="18" charset="0"/>
              </a:rPr>
              <a:t>	</a:t>
            </a:r>
            <a:r>
              <a:rPr lang="en-US" altLang="en-US" sz="1600" b="1">
                <a:solidFill>
                  <a:srgbClr val="000000"/>
                </a:solidFill>
                <a:latin typeface="Times New Roman" panose="02020603050405020304" pitchFamily="18" charset="0"/>
              </a:rPr>
              <a:t>	</a:t>
            </a:r>
            <a:r>
              <a:rPr lang="sk-SK" altLang="en-US" sz="1600" b="1" baseline="-25000">
                <a:solidFill>
                  <a:srgbClr val="000000"/>
                </a:solidFill>
                <a:latin typeface="Courier New" panose="02070309020205020404" pitchFamily="49" charset="0"/>
              </a:rPr>
              <a:t>Slovenska Lupca</a:t>
            </a:r>
            <a:r>
              <a:rPr lang="sk-SK" altLang="en-US" sz="1400">
                <a:solidFill>
                  <a:srgbClr val="000000"/>
                </a:solidFill>
                <a:latin typeface="Times New Roman" panose="02020603050405020304" pitchFamily="18" charset="0"/>
              </a:rPr>
              <a:t>	</a:t>
            </a:r>
          </a:p>
        </p:txBody>
      </p:sp>
    </p:spTree>
    <p:extLst>
      <p:ext uri="{BB962C8B-B14F-4D97-AF65-F5344CB8AC3E}">
        <p14:creationId xmlns:p14="http://schemas.microsoft.com/office/powerpoint/2010/main" val="1125072807"/>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8" name="Rectangle 212"/>
          <p:cNvSpPr>
            <a:spLocks noGrp="1" noChangeArrowheads="1"/>
          </p:cNvSpPr>
          <p:nvPr>
            <p:ph type="title"/>
          </p:nvPr>
        </p:nvSpPr>
        <p:spPr>
          <a:xfrm>
            <a:off x="685800" y="304800"/>
            <a:ext cx="7772400" cy="658813"/>
          </a:xfrm>
        </p:spPr>
        <p:txBody>
          <a:bodyPr/>
          <a:lstStyle/>
          <a:p>
            <a:pPr>
              <a:defRPr/>
            </a:pPr>
            <a:r>
              <a:rPr lang="sk-SK" sz="3200" i="1"/>
              <a:t>Projekcia</a:t>
            </a:r>
            <a:r>
              <a:rPr lang="en-US" sz="3200" i="1"/>
              <a:t> – </a:t>
            </a:r>
            <a:r>
              <a:rPr lang="sk-SK" sz="3200" i="1"/>
              <a:t>výber stĺpcov</a:t>
            </a:r>
          </a:p>
        </p:txBody>
      </p:sp>
      <p:pic>
        <p:nvPicPr>
          <p:cNvPr id="29700" name="Obrázok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03325" y="1389063"/>
            <a:ext cx="5675313" cy="382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0805582"/>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8" name="Rectangle 212"/>
          <p:cNvSpPr>
            <a:spLocks noGrp="1" noChangeArrowheads="1"/>
          </p:cNvSpPr>
          <p:nvPr>
            <p:ph type="title"/>
          </p:nvPr>
        </p:nvSpPr>
        <p:spPr>
          <a:xfrm>
            <a:off x="685800" y="304800"/>
            <a:ext cx="7772400" cy="658813"/>
          </a:xfrm>
        </p:spPr>
        <p:txBody>
          <a:bodyPr/>
          <a:lstStyle/>
          <a:p>
            <a:pPr>
              <a:defRPr/>
            </a:pPr>
            <a:r>
              <a:rPr lang="sk-SK" sz="3200" i="1"/>
              <a:t>Projekcia</a:t>
            </a:r>
            <a:r>
              <a:rPr lang="en-US" sz="3200" i="1"/>
              <a:t> – </a:t>
            </a:r>
            <a:r>
              <a:rPr lang="sk-SK" sz="3200" i="1"/>
              <a:t>výber stĺpcov</a:t>
            </a:r>
          </a:p>
        </p:txBody>
      </p:sp>
      <p:sp>
        <p:nvSpPr>
          <p:cNvPr id="19669" name="Rectangle 213"/>
          <p:cNvSpPr>
            <a:spLocks noChangeArrowheads="1"/>
          </p:cNvSpPr>
          <p:nvPr/>
        </p:nvSpPr>
        <p:spPr bwMode="auto">
          <a:xfrm>
            <a:off x="606425" y="811213"/>
            <a:ext cx="46815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449263">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a:p>
            <a:r>
              <a:rPr lang="sk-SK" altLang="en-US"/>
              <a:t>SELECT </a:t>
            </a:r>
            <a:r>
              <a:rPr lang="sk-SK" altLang="en-US">
                <a:solidFill>
                  <a:schemeClr val="tx2"/>
                </a:solidFill>
              </a:rPr>
              <a:t>meno, priezvisko</a:t>
            </a:r>
            <a:r>
              <a:rPr lang="en-US" altLang="en-US">
                <a:solidFill>
                  <a:schemeClr val="tx2"/>
                </a:solidFill>
              </a:rPr>
              <a:t> </a:t>
            </a:r>
            <a:endParaRPr lang="sk-SK" altLang="en-US"/>
          </a:p>
          <a:p>
            <a:r>
              <a:rPr lang="sk-SK" altLang="en-US"/>
              <a:t>FROM </a:t>
            </a:r>
            <a:r>
              <a:rPr lang="sk-SK" altLang="en-US" err="1"/>
              <a:t>os_udaje</a:t>
            </a:r>
            <a:r>
              <a:rPr lang="en-US" altLang="en-US"/>
              <a:t>;</a:t>
            </a:r>
            <a:endParaRPr lang="sk-SK" altLang="en-US"/>
          </a:p>
        </p:txBody>
      </p:sp>
      <p:pic>
        <p:nvPicPr>
          <p:cNvPr id="31749" name="Obrázok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11600" y="2074863"/>
            <a:ext cx="4027488" cy="271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9058517"/>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669"/>
                                        </p:tgtEl>
                                        <p:attrNameLst>
                                          <p:attrName>style.visibility</p:attrName>
                                        </p:attrNameLst>
                                      </p:cBhvr>
                                      <p:to>
                                        <p:strVal val="visible"/>
                                      </p:to>
                                    </p:set>
                                    <p:anim calcmode="lin" valueType="num">
                                      <p:cBhvr additive="base">
                                        <p:cTn id="7" dur="500" fill="hold"/>
                                        <p:tgtEl>
                                          <p:spTgt spid="19669"/>
                                        </p:tgtEl>
                                        <p:attrNameLst>
                                          <p:attrName>ppt_x</p:attrName>
                                        </p:attrNameLst>
                                      </p:cBhvr>
                                      <p:tavLst>
                                        <p:tav tm="0">
                                          <p:val>
                                            <p:strVal val="0-#ppt_w/2"/>
                                          </p:val>
                                        </p:tav>
                                        <p:tav tm="100000">
                                          <p:val>
                                            <p:strVal val="#ppt_x"/>
                                          </p:val>
                                        </p:tav>
                                      </p:tavLst>
                                    </p:anim>
                                    <p:anim calcmode="lin" valueType="num">
                                      <p:cBhvr additive="base">
                                        <p:cTn id="8" dur="500" fill="hold"/>
                                        <p:tgtEl>
                                          <p:spTgt spid="196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794" name="Rectangle 338" descr="Tečkované kosočtverce"/>
          <p:cNvSpPr>
            <a:spLocks noChangeArrowheads="1"/>
          </p:cNvSpPr>
          <p:nvPr/>
        </p:nvSpPr>
        <p:spPr bwMode="auto">
          <a:xfrm>
            <a:off x="2209800" y="1981200"/>
            <a:ext cx="2743200" cy="4191000"/>
          </a:xfrm>
          <a:prstGeom prst="rect">
            <a:avLst/>
          </a:prstGeom>
          <a:blipFill dpi="0" rotWithShape="0">
            <a:blip r:embed="rId3"/>
            <a:srcRect/>
            <a:tile tx="0" ty="0" sx="100000" sy="100000" flip="none" algn="tl"/>
          </a:blipFill>
          <a:ln w="57150">
            <a:solidFill>
              <a:srgbClr val="FF0000"/>
            </a:solidFill>
            <a:miter lim="800000"/>
            <a:headEnd/>
            <a:tailEnd/>
          </a:ln>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p:txBody>
      </p:sp>
      <p:sp>
        <p:nvSpPr>
          <p:cNvPr id="19668" name="Rectangle 212"/>
          <p:cNvSpPr>
            <a:spLocks noGrp="1" noChangeArrowheads="1"/>
          </p:cNvSpPr>
          <p:nvPr>
            <p:ph type="title"/>
          </p:nvPr>
        </p:nvSpPr>
        <p:spPr>
          <a:xfrm>
            <a:off x="685800" y="304800"/>
            <a:ext cx="7772400" cy="658813"/>
          </a:xfrm>
        </p:spPr>
        <p:txBody>
          <a:bodyPr/>
          <a:lstStyle/>
          <a:p>
            <a:pPr>
              <a:defRPr/>
            </a:pPr>
            <a:r>
              <a:rPr lang="sk-SK" sz="3200" i="1"/>
              <a:t>Projekcia</a:t>
            </a:r>
            <a:r>
              <a:rPr lang="en-US" sz="3200" i="1"/>
              <a:t> – </a:t>
            </a:r>
            <a:r>
              <a:rPr lang="sk-SK" sz="3200" i="1"/>
              <a:t>výber stĺpcov</a:t>
            </a:r>
          </a:p>
        </p:txBody>
      </p:sp>
      <p:sp>
        <p:nvSpPr>
          <p:cNvPr id="19669" name="Rectangle 213"/>
          <p:cNvSpPr>
            <a:spLocks noChangeArrowheads="1"/>
          </p:cNvSpPr>
          <p:nvPr/>
        </p:nvSpPr>
        <p:spPr bwMode="auto">
          <a:xfrm>
            <a:off x="606425" y="811213"/>
            <a:ext cx="46815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449263">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a:p>
            <a:r>
              <a:rPr lang="sk-SK" altLang="en-US"/>
              <a:t>SELECT </a:t>
            </a:r>
            <a:r>
              <a:rPr lang="sk-SK" altLang="en-US">
                <a:solidFill>
                  <a:schemeClr val="tx2"/>
                </a:solidFill>
              </a:rPr>
              <a:t>meno, priezvisko</a:t>
            </a:r>
            <a:r>
              <a:rPr lang="en-US" altLang="en-US">
                <a:solidFill>
                  <a:schemeClr val="tx2"/>
                </a:solidFill>
              </a:rPr>
              <a:t> </a:t>
            </a:r>
            <a:endParaRPr lang="sk-SK" altLang="en-US"/>
          </a:p>
          <a:p>
            <a:r>
              <a:rPr lang="sk-SK" altLang="en-US"/>
              <a:t>FROM os_udaje</a:t>
            </a:r>
            <a:r>
              <a:rPr lang="en-US" altLang="en-US"/>
              <a:t>;</a:t>
            </a:r>
            <a:endParaRPr lang="sk-SK" altLang="en-US"/>
          </a:p>
        </p:txBody>
      </p:sp>
      <p:graphicFrame>
        <p:nvGraphicFramePr>
          <p:cNvPr id="19741" name="Group 285"/>
          <p:cNvGraphicFramePr>
            <a:graphicFrameLocks noGrp="1"/>
          </p:cNvGraphicFramePr>
          <p:nvPr>
            <p:ph type="tbl" idx="1"/>
          </p:nvPr>
        </p:nvGraphicFramePr>
        <p:xfrm>
          <a:off x="2209800" y="2019300"/>
          <a:ext cx="2720975" cy="4114802"/>
        </p:xfrm>
        <a:graphic>
          <a:graphicData uri="http://schemas.openxmlformats.org/drawingml/2006/table">
            <a:tbl>
              <a:tblPr/>
              <a:tblGrid>
                <a:gridCol w="1322387">
                  <a:extLst>
                    <a:ext uri="{9D8B030D-6E8A-4147-A177-3AD203B41FA5}">
                      <a16:colId xmlns:a16="http://schemas.microsoft.com/office/drawing/2014/main" val="20001"/>
                    </a:ext>
                  </a:extLst>
                </a:gridCol>
                <a:gridCol w="1398588">
                  <a:extLst>
                    <a:ext uri="{9D8B030D-6E8A-4147-A177-3AD203B41FA5}">
                      <a16:colId xmlns:a16="http://schemas.microsoft.com/office/drawing/2014/main" val="20002"/>
                    </a:ext>
                  </a:extLst>
                </a:gridCol>
              </a:tblGrid>
              <a:tr h="6461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err="1">
                          <a:ln>
                            <a:noFill/>
                          </a:ln>
                          <a:solidFill>
                            <a:schemeClr val="tx1"/>
                          </a:solidFill>
                          <a:effectLst/>
                          <a:latin typeface="Times New Roman" pitchFamily="18" charset="0"/>
                        </a:rPr>
                        <a:t>meno</a:t>
                      </a:r>
                      <a:endParaRPr kumimoji="0" lang="sk-SK"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err="1">
                          <a:ln>
                            <a:noFill/>
                          </a:ln>
                          <a:solidFill>
                            <a:schemeClr val="tx1"/>
                          </a:solidFill>
                          <a:effectLst/>
                          <a:latin typeface="Times New Roman" pitchFamily="18" charset="0"/>
                        </a:rPr>
                        <a:t>priezvisko</a:t>
                      </a:r>
                      <a:r>
                        <a:rPr kumimoji="0" lang="en-US" sz="1800" b="1" i="0" u="none" strike="noStrike" cap="none" normalizeH="0" baseline="0">
                          <a:ln>
                            <a:noFill/>
                          </a:ln>
                          <a:solidFill>
                            <a:schemeClr val="tx1"/>
                          </a:solidFill>
                          <a:effectLst/>
                          <a:latin typeface="Times New Roman" pitchFamily="18" charset="0"/>
                        </a:rPr>
                        <a:t> </a:t>
                      </a:r>
                      <a:endParaRPr kumimoji="0" lang="sk-SK"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3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Stanislav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Ratroch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62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Branislav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Novak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4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Lukas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Kluciar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4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Zdeno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Satrapa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53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Erika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Lipovska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4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Erika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err="1">
                          <a:ln>
                            <a:noFill/>
                          </a:ln>
                          <a:solidFill>
                            <a:schemeClr val="tx1"/>
                          </a:solidFill>
                          <a:effectLst/>
                          <a:latin typeface="Times New Roman" pitchFamily="18" charset="0"/>
                        </a:rPr>
                        <a:t>Slamova</a:t>
                      </a:r>
                      <a:endParaRPr kumimoji="0" lang="sk-SK"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pic>
        <p:nvPicPr>
          <p:cNvPr id="33824" name="Obrázok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02313" y="1319213"/>
            <a:ext cx="2771775" cy="186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0746495"/>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19741"/>
                                        </p:tgtEl>
                                        <p:attrNameLst>
                                          <p:attrName>style.visibility</p:attrName>
                                        </p:attrNameLst>
                                      </p:cBhvr>
                                      <p:to>
                                        <p:strVal val="visible"/>
                                      </p:to>
                                    </p:set>
                                    <p:anim calcmode="lin" valueType="num">
                                      <p:cBhvr additive="base">
                                        <p:cTn id="7" dur="500" fill="hold"/>
                                        <p:tgtEl>
                                          <p:spTgt spid="19741"/>
                                        </p:tgtEl>
                                        <p:attrNameLst>
                                          <p:attrName>ppt_x</p:attrName>
                                        </p:attrNameLst>
                                      </p:cBhvr>
                                      <p:tavLst>
                                        <p:tav tm="0">
                                          <p:val>
                                            <p:strVal val="0-#ppt_w/2"/>
                                          </p:val>
                                        </p:tav>
                                        <p:tav tm="100000">
                                          <p:val>
                                            <p:strVal val="#ppt_x"/>
                                          </p:val>
                                        </p:tav>
                                      </p:tavLst>
                                    </p:anim>
                                    <p:anim calcmode="lin" valueType="num">
                                      <p:cBhvr additive="base">
                                        <p:cTn id="8" dur="500" fill="hold"/>
                                        <p:tgtEl>
                                          <p:spTgt spid="1974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669"/>
                                        </p:tgtEl>
                                        <p:attrNameLst>
                                          <p:attrName>style.visibility</p:attrName>
                                        </p:attrNameLst>
                                      </p:cBhvr>
                                      <p:to>
                                        <p:strVal val="visible"/>
                                      </p:to>
                                    </p:set>
                                    <p:anim calcmode="lin" valueType="num">
                                      <p:cBhvr additive="base">
                                        <p:cTn id="13" dur="500" fill="hold"/>
                                        <p:tgtEl>
                                          <p:spTgt spid="19669"/>
                                        </p:tgtEl>
                                        <p:attrNameLst>
                                          <p:attrName>ppt_x</p:attrName>
                                        </p:attrNameLst>
                                      </p:cBhvr>
                                      <p:tavLst>
                                        <p:tav tm="0">
                                          <p:val>
                                            <p:strVal val="0-#ppt_w/2"/>
                                          </p:val>
                                        </p:tav>
                                        <p:tav tm="100000">
                                          <p:val>
                                            <p:strVal val="#ppt_x"/>
                                          </p:val>
                                        </p:tav>
                                      </p:tavLst>
                                    </p:anim>
                                    <p:anim calcmode="lin" valueType="num">
                                      <p:cBhvr additive="base">
                                        <p:cTn id="14" dur="500" fill="hold"/>
                                        <p:tgtEl>
                                          <p:spTgt spid="1966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794"/>
                                        </p:tgtEl>
                                        <p:attrNameLst>
                                          <p:attrName>style.visibility</p:attrName>
                                        </p:attrNameLst>
                                      </p:cBhvr>
                                      <p:to>
                                        <p:strVal val="visible"/>
                                      </p:to>
                                    </p:set>
                                    <p:anim calcmode="lin" valueType="num">
                                      <p:cBhvr additive="base">
                                        <p:cTn id="19" dur="500" fill="hold"/>
                                        <p:tgtEl>
                                          <p:spTgt spid="19794"/>
                                        </p:tgtEl>
                                        <p:attrNameLst>
                                          <p:attrName>ppt_x</p:attrName>
                                        </p:attrNameLst>
                                      </p:cBhvr>
                                      <p:tavLst>
                                        <p:tav tm="0">
                                          <p:val>
                                            <p:strVal val="0-#ppt_w/2"/>
                                          </p:val>
                                        </p:tav>
                                        <p:tav tm="100000">
                                          <p:val>
                                            <p:strVal val="#ppt_x"/>
                                          </p:val>
                                        </p:tav>
                                      </p:tavLst>
                                    </p:anim>
                                    <p:anim calcmode="lin" valueType="num">
                                      <p:cBhvr additive="base">
                                        <p:cTn id="20" dur="500" fill="hold"/>
                                        <p:tgtEl>
                                          <p:spTgt spid="197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94" grpId="0" animBg="1"/>
      <p:bldP spid="1966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5"/>
            <a:ext cx="8335963" cy="600075"/>
          </a:xfrm>
        </p:spPr>
        <p:txBody>
          <a:bodyPr>
            <a:normAutofit fontScale="90000"/>
          </a:bodyPr>
          <a:lstStyle/>
          <a:p>
            <a:pPr algn="ctr">
              <a:defRPr/>
            </a:pPr>
            <a:r>
              <a:rPr lang="en-US"/>
              <a:t>Alias </a:t>
            </a:r>
            <a:r>
              <a:rPr lang="en-US" err="1"/>
              <a:t>tabu</a:t>
            </a:r>
            <a:r>
              <a:rPr lang="sk-SK" err="1"/>
              <a:t>ľky</a:t>
            </a:r>
            <a:r>
              <a:rPr lang="sk-SK"/>
              <a:t> a stĺpcov</a:t>
            </a:r>
            <a:endParaRPr lang="en-US"/>
          </a:p>
        </p:txBody>
      </p:sp>
      <p:sp>
        <p:nvSpPr>
          <p:cNvPr id="37892" name="Obdĺžnik 4"/>
          <p:cNvSpPr>
            <a:spLocks noChangeArrowheads="1"/>
          </p:cNvSpPr>
          <p:nvPr/>
        </p:nvSpPr>
        <p:spPr bwMode="auto">
          <a:xfrm>
            <a:off x="1392238" y="952500"/>
            <a:ext cx="733425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sz="2800" b="1" baseline="-25000">
                <a:solidFill>
                  <a:srgbClr val="000000"/>
                </a:solidFill>
                <a:latin typeface="Microsoft Sans Serif" panose="020B0604020202020204" pitchFamily="34" charset="0"/>
              </a:rPr>
              <a:t>Princíp</a:t>
            </a:r>
            <a:r>
              <a:rPr lang="en-US" altLang="en-US" sz="2800">
                <a:solidFill>
                  <a:srgbClr val="000000"/>
                </a:solidFill>
                <a:latin typeface="Times New Roman" panose="02020603050405020304" pitchFamily="18" charset="0"/>
              </a:rPr>
              <a:t>	</a:t>
            </a:r>
            <a:r>
              <a:rPr lang="sk-SK" altLang="en-US" sz="2800">
                <a:solidFill>
                  <a:srgbClr val="000000"/>
                </a:solidFill>
                <a:latin typeface="Times New Roman" panose="02020603050405020304" pitchFamily="18" charset="0"/>
              </a:rPr>
              <a:t>					</a:t>
            </a:r>
            <a:r>
              <a:rPr lang="sk-SK" altLang="en-US" sz="2800" b="1" baseline="-25000">
                <a:solidFill>
                  <a:srgbClr val="000000"/>
                </a:solidFill>
                <a:latin typeface="Microsoft Sans Serif" panose="020B0604020202020204" pitchFamily="34" charset="0"/>
              </a:rPr>
              <a:t>Príklad</a:t>
            </a:r>
            <a:r>
              <a:rPr lang="en-US" altLang="en-US" sz="2800">
                <a:solidFill>
                  <a:srgbClr val="000000"/>
                </a:solidFill>
                <a:latin typeface="Times New Roman" panose="02020603050405020304" pitchFamily="18" charset="0"/>
              </a:rPr>
              <a:t>	</a:t>
            </a:r>
          </a:p>
          <a:p>
            <a:pPr algn="ctr"/>
            <a:r>
              <a:rPr lang="sk-SK" altLang="en-US" sz="2800" b="1" baseline="-25000">
                <a:solidFill>
                  <a:srgbClr val="000000"/>
                </a:solidFill>
                <a:latin typeface="Microsoft Sans Serif" panose="020B0604020202020204" pitchFamily="34" charset="0"/>
              </a:rPr>
              <a:t>Ak nie je zavedený </a:t>
            </a:r>
            <a:r>
              <a:rPr lang="de-DE" altLang="en-US" sz="2800" b="1" baseline="-25000">
                <a:solidFill>
                  <a:srgbClr val="000000"/>
                </a:solidFill>
                <a:latin typeface="Microsoft Sans Serif" panose="020B0604020202020204" pitchFamily="34" charset="0"/>
              </a:rPr>
              <a:t>alias </a:t>
            </a:r>
            <a:r>
              <a:rPr lang="sk-SK" altLang="en-US" sz="2800" b="1" baseline="-25000">
                <a:solidFill>
                  <a:srgbClr val="000000"/>
                </a:solidFill>
                <a:latin typeface="Microsoft Sans Serif" panose="020B0604020202020204" pitchFamily="34" charset="0"/>
              </a:rPr>
              <a:t>tabuľky</a:t>
            </a:r>
            <a:r>
              <a:rPr lang="en-US" altLang="en-US" sz="2800">
                <a:solidFill>
                  <a:srgbClr val="000000"/>
                </a:solidFill>
                <a:latin typeface="Times New Roman" panose="02020603050405020304" pitchFamily="18" charset="0"/>
              </a:rPr>
              <a:t>	</a:t>
            </a:r>
          </a:p>
          <a:p>
            <a:r>
              <a:rPr lang="sk-SK" altLang="en-US" sz="2800" baseline="-25000">
                <a:solidFill>
                  <a:srgbClr val="000000"/>
                </a:solidFill>
                <a:latin typeface="Microsoft Sans Serif" panose="020B0604020202020204" pitchFamily="34" charset="0"/>
              </a:rPr>
              <a:t>nazov </a:t>
            </a:r>
            <a:r>
              <a:rPr lang="de-DE" altLang="en-US" sz="2800" baseline="-25000">
                <a:solidFill>
                  <a:srgbClr val="000000"/>
                </a:solidFill>
                <a:latin typeface="Microsoft Sans Serif" panose="020B0604020202020204" pitchFamily="34" charset="0"/>
              </a:rPr>
              <a:t>_stl</a:t>
            </a:r>
            <a:r>
              <a:rPr lang="en-US" altLang="en-US" sz="2800" baseline="-25000">
                <a:solidFill>
                  <a:srgbClr val="000000"/>
                </a:solidFill>
                <a:latin typeface="Microsoft Sans Serif" panose="020B0604020202020204" pitchFamily="34" charset="0"/>
              </a:rPr>
              <a:t>p</a:t>
            </a:r>
            <a:r>
              <a:rPr lang="sk-SK" altLang="en-US" sz="2800" baseline="-25000">
                <a:solidFill>
                  <a:srgbClr val="000000"/>
                </a:solidFill>
                <a:latin typeface="Microsoft Sans Serif" panose="020B0604020202020204" pitchFamily="34" charset="0"/>
              </a:rPr>
              <a:t>c</a:t>
            </a:r>
            <a:r>
              <a:rPr lang="en-US" altLang="en-US" sz="2800" baseline="-25000">
                <a:solidFill>
                  <a:srgbClr val="000000"/>
                </a:solidFill>
                <a:latin typeface="Microsoft Sans Serif" panose="020B0604020202020204" pitchFamily="34" charset="0"/>
              </a:rPr>
              <a:t>a</a:t>
            </a:r>
            <a:r>
              <a:rPr lang="en-US" altLang="en-US" sz="2800">
                <a:solidFill>
                  <a:srgbClr val="000000"/>
                </a:solidFill>
                <a:latin typeface="Times New Roman" panose="02020603050405020304" pitchFamily="18" charset="0"/>
              </a:rPr>
              <a:t>	</a:t>
            </a:r>
            <a:r>
              <a:rPr lang="sk-SK" altLang="en-US" sz="2800">
                <a:solidFill>
                  <a:srgbClr val="000000"/>
                </a:solidFill>
                <a:latin typeface="Times New Roman" panose="02020603050405020304" pitchFamily="18" charset="0"/>
              </a:rPr>
              <a:t>			</a:t>
            </a:r>
            <a:r>
              <a:rPr lang="sk-SK" altLang="en-US" sz="2800" baseline="-25000">
                <a:solidFill>
                  <a:srgbClr val="FF0000"/>
                </a:solidFill>
                <a:latin typeface="Microsoft Sans Serif" panose="020B0604020202020204" pitchFamily="34" charset="0"/>
              </a:rPr>
              <a:t>meno</a:t>
            </a:r>
            <a:r>
              <a:rPr lang="en-US" altLang="en-US" sz="2800">
                <a:solidFill>
                  <a:srgbClr val="000000"/>
                </a:solidFill>
                <a:latin typeface="Times New Roman" panose="02020603050405020304" pitchFamily="18" charset="0"/>
              </a:rPr>
              <a:t>	</a:t>
            </a:r>
          </a:p>
          <a:p>
            <a:r>
              <a:rPr lang="en-US" altLang="en-US" sz="2800" baseline="-25000">
                <a:solidFill>
                  <a:srgbClr val="000000"/>
                </a:solidFill>
                <a:latin typeface="Microsoft Sans Serif" panose="020B0604020202020204" pitchFamily="34" charset="0"/>
              </a:rPr>
              <a:t>nazov_tabulky.nazov_stlpca</a:t>
            </a:r>
            <a:r>
              <a:rPr lang="en-US" altLang="en-US" sz="2800">
                <a:solidFill>
                  <a:srgbClr val="000000"/>
                </a:solidFill>
                <a:latin typeface="Times New Roman" panose="02020603050405020304" pitchFamily="18" charset="0"/>
              </a:rPr>
              <a:t>	</a:t>
            </a:r>
            <a:r>
              <a:rPr lang="sk-SK" altLang="en-US" sz="2800">
                <a:solidFill>
                  <a:srgbClr val="000000"/>
                </a:solidFill>
                <a:latin typeface="Times New Roman" panose="02020603050405020304" pitchFamily="18" charset="0"/>
              </a:rPr>
              <a:t>	</a:t>
            </a:r>
            <a:r>
              <a:rPr lang="en-US" altLang="en-US" sz="2800" baseline="-25000">
                <a:solidFill>
                  <a:srgbClr val="FF0000"/>
                </a:solidFill>
                <a:latin typeface="Microsoft Sans Serif" panose="020B0604020202020204" pitchFamily="34" charset="0"/>
              </a:rPr>
              <a:t>os_udaje.meno</a:t>
            </a:r>
            <a:r>
              <a:rPr lang="en-US" altLang="en-US" sz="2800">
                <a:solidFill>
                  <a:srgbClr val="000000"/>
                </a:solidFill>
                <a:latin typeface="Times New Roman" panose="02020603050405020304" pitchFamily="18" charset="0"/>
              </a:rPr>
              <a:t>	</a:t>
            </a:r>
          </a:p>
          <a:p>
            <a:r>
              <a:rPr lang="sv-SE" altLang="en-US" sz="2800" baseline="-25000">
                <a:solidFill>
                  <a:srgbClr val="000000"/>
                </a:solidFill>
                <a:latin typeface="Microsoft Sans Serif" panose="020B0604020202020204" pitchFamily="34" charset="0"/>
              </a:rPr>
              <a:t>schema. nazov_tabu</a:t>
            </a:r>
            <a:r>
              <a:rPr lang="sk-SK" altLang="en-US" sz="2800" baseline="-25000">
                <a:solidFill>
                  <a:srgbClr val="000000"/>
                </a:solidFill>
                <a:latin typeface="Microsoft Sans Serif" panose="020B0604020202020204" pitchFamily="34" charset="0"/>
              </a:rPr>
              <a:t>l</a:t>
            </a:r>
            <a:r>
              <a:rPr lang="sv-SE" altLang="en-US" sz="2800" baseline="-25000">
                <a:solidFill>
                  <a:srgbClr val="000000"/>
                </a:solidFill>
                <a:latin typeface="Microsoft Sans Serif" panose="020B0604020202020204" pitchFamily="34" charset="0"/>
              </a:rPr>
              <a:t>ky. nazov_stl</a:t>
            </a:r>
            <a:r>
              <a:rPr lang="sk-SK" altLang="en-US" sz="2800" baseline="-25000">
                <a:solidFill>
                  <a:srgbClr val="000000"/>
                </a:solidFill>
                <a:latin typeface="Microsoft Sans Serif" panose="020B0604020202020204" pitchFamily="34" charset="0"/>
              </a:rPr>
              <a:t>pc</a:t>
            </a:r>
            <a:r>
              <a:rPr lang="sv-SE" altLang="en-US" sz="2800" baseline="-25000">
                <a:solidFill>
                  <a:srgbClr val="000000"/>
                </a:solidFill>
                <a:latin typeface="Microsoft Sans Serif" panose="020B0604020202020204" pitchFamily="34" charset="0"/>
              </a:rPr>
              <a:t>a</a:t>
            </a:r>
            <a:r>
              <a:rPr lang="sk-SK" altLang="en-US" sz="2800">
                <a:solidFill>
                  <a:srgbClr val="000000"/>
                </a:solidFill>
                <a:latin typeface="Times New Roman" panose="02020603050405020304" pitchFamily="18" charset="0"/>
              </a:rPr>
              <a:t>	</a:t>
            </a:r>
            <a:r>
              <a:rPr lang="sk-SK" altLang="en-US" sz="2800" baseline="-25000">
                <a:solidFill>
                  <a:srgbClr val="FF0000"/>
                </a:solidFill>
                <a:latin typeface="Microsoft Sans Serif" panose="020B0604020202020204" pitchFamily="34" charset="0"/>
              </a:rPr>
              <a:t>kmat.</a:t>
            </a:r>
            <a:r>
              <a:rPr lang="sv-SE" altLang="en-US" sz="2800" baseline="-25000">
                <a:solidFill>
                  <a:srgbClr val="FF0000"/>
                </a:solidFill>
                <a:latin typeface="Microsoft Sans Serif" panose="020B0604020202020204" pitchFamily="34" charset="0"/>
              </a:rPr>
              <a:t>os.udaje. </a:t>
            </a:r>
            <a:r>
              <a:rPr lang="sk-SK" altLang="en-US" sz="2800" baseline="-25000">
                <a:solidFill>
                  <a:srgbClr val="FF0000"/>
                </a:solidFill>
                <a:latin typeface="Microsoft Sans Serif" panose="020B0604020202020204" pitchFamily="34" charset="0"/>
              </a:rPr>
              <a:t>meno</a:t>
            </a:r>
            <a:r>
              <a:rPr lang="en-US" altLang="en-US" sz="2800">
                <a:solidFill>
                  <a:srgbClr val="000000"/>
                </a:solidFill>
                <a:latin typeface="Times New Roman" panose="02020603050405020304" pitchFamily="18" charset="0"/>
              </a:rPr>
              <a:t>	</a:t>
            </a:r>
          </a:p>
          <a:p>
            <a:pPr algn="ctr"/>
            <a:r>
              <a:rPr lang="sk-SK" altLang="en-US" sz="2800" b="1" baseline="-25000">
                <a:solidFill>
                  <a:srgbClr val="000000"/>
                </a:solidFill>
                <a:latin typeface="Microsoft Sans Serif" panose="020B0604020202020204" pitchFamily="34" charset="0"/>
              </a:rPr>
              <a:t>Ak je zavedený </a:t>
            </a:r>
            <a:r>
              <a:rPr lang="en-US" altLang="en-US" sz="2800" b="1" baseline="-25000">
                <a:solidFill>
                  <a:srgbClr val="000000"/>
                </a:solidFill>
                <a:latin typeface="Microsoft Sans Serif" panose="020B0604020202020204" pitchFamily="34" charset="0"/>
              </a:rPr>
              <a:t>alias </a:t>
            </a:r>
            <a:r>
              <a:rPr lang="sk-SK" altLang="en-US" sz="2800" b="1" baseline="-25000">
                <a:solidFill>
                  <a:srgbClr val="000000"/>
                </a:solidFill>
                <a:latin typeface="Microsoft Sans Serif" panose="020B0604020202020204" pitchFamily="34" charset="0"/>
              </a:rPr>
              <a:t>tabuľky</a:t>
            </a:r>
            <a:r>
              <a:rPr lang="en-US" altLang="en-US" sz="2800">
                <a:solidFill>
                  <a:srgbClr val="000000"/>
                </a:solidFill>
                <a:latin typeface="Times New Roman" panose="02020603050405020304" pitchFamily="18" charset="0"/>
              </a:rPr>
              <a:t>	</a:t>
            </a:r>
          </a:p>
          <a:p>
            <a:r>
              <a:rPr lang="sk-SK" altLang="en-US" sz="2800" baseline="-25000">
                <a:solidFill>
                  <a:srgbClr val="000000"/>
                </a:solidFill>
                <a:latin typeface="Microsoft Sans Serif" panose="020B0604020202020204" pitchFamily="34" charset="0"/>
              </a:rPr>
              <a:t>názov </a:t>
            </a:r>
            <a:r>
              <a:rPr lang="en-US" altLang="en-US" sz="2800" baseline="-25000">
                <a:solidFill>
                  <a:srgbClr val="000000"/>
                </a:solidFill>
                <a:latin typeface="Microsoft Sans Serif" panose="020B0604020202020204" pitchFamily="34" charset="0"/>
              </a:rPr>
              <a:t>_stl</a:t>
            </a:r>
            <a:r>
              <a:rPr lang="sk-SK" altLang="en-US" sz="2800" baseline="-25000">
                <a:solidFill>
                  <a:srgbClr val="000000"/>
                </a:solidFill>
                <a:latin typeface="Microsoft Sans Serif" panose="020B0604020202020204" pitchFamily="34" charset="0"/>
              </a:rPr>
              <a:t>pc</a:t>
            </a:r>
            <a:r>
              <a:rPr lang="en-US" altLang="en-US" sz="2800" baseline="-25000">
                <a:solidFill>
                  <a:srgbClr val="000000"/>
                </a:solidFill>
                <a:latin typeface="Microsoft Sans Serif" panose="020B0604020202020204" pitchFamily="34" charset="0"/>
              </a:rPr>
              <a:t>a</a:t>
            </a:r>
            <a:r>
              <a:rPr lang="en-US" altLang="en-US" sz="2800">
                <a:solidFill>
                  <a:srgbClr val="000000"/>
                </a:solidFill>
                <a:latin typeface="Times New Roman" panose="02020603050405020304" pitchFamily="18" charset="0"/>
              </a:rPr>
              <a:t>	</a:t>
            </a:r>
            <a:r>
              <a:rPr lang="sk-SK" altLang="en-US" sz="2800">
                <a:solidFill>
                  <a:srgbClr val="000000"/>
                </a:solidFill>
                <a:latin typeface="Times New Roman" panose="02020603050405020304" pitchFamily="18" charset="0"/>
              </a:rPr>
              <a:t>			</a:t>
            </a:r>
            <a:r>
              <a:rPr lang="sk-SK" altLang="en-US" sz="2800" baseline="-25000">
                <a:solidFill>
                  <a:srgbClr val="FF0000"/>
                </a:solidFill>
                <a:latin typeface="Microsoft Sans Serif" panose="020B0604020202020204" pitchFamily="34" charset="0"/>
              </a:rPr>
              <a:t>meno</a:t>
            </a:r>
            <a:r>
              <a:rPr lang="en-US" altLang="en-US" sz="2800">
                <a:solidFill>
                  <a:srgbClr val="000000"/>
                </a:solidFill>
                <a:latin typeface="Times New Roman" panose="02020603050405020304" pitchFamily="18" charset="0"/>
              </a:rPr>
              <a:t>	</a:t>
            </a:r>
          </a:p>
          <a:p>
            <a:r>
              <a:rPr lang="en-US" altLang="en-US" sz="2800" baseline="-25000">
                <a:solidFill>
                  <a:srgbClr val="000000"/>
                </a:solidFill>
                <a:latin typeface="Microsoft Sans Serif" panose="020B0604020202020204" pitchFamily="34" charset="0"/>
              </a:rPr>
              <a:t>a</a:t>
            </a:r>
            <a:r>
              <a:rPr lang="sk-SK" altLang="en-US" sz="2800" baseline="-25000">
                <a:solidFill>
                  <a:srgbClr val="000000"/>
                </a:solidFill>
                <a:latin typeface="Microsoft Sans Serif" panose="020B0604020202020204" pitchFamily="34" charset="0"/>
              </a:rPr>
              <a:t>lias</a:t>
            </a:r>
            <a:r>
              <a:rPr lang="en-US" altLang="en-US" sz="2800" baseline="-25000">
                <a:solidFill>
                  <a:srgbClr val="000000"/>
                </a:solidFill>
                <a:latin typeface="Microsoft Sans Serif" panose="020B0604020202020204" pitchFamily="34" charset="0"/>
              </a:rPr>
              <a:t>_ta</a:t>
            </a:r>
            <a:r>
              <a:rPr lang="sk-SK" altLang="en-US" sz="2800" baseline="-25000">
                <a:solidFill>
                  <a:srgbClr val="000000"/>
                </a:solidFill>
                <a:latin typeface="Microsoft Sans Serif" panose="020B0604020202020204" pitchFamily="34" charset="0"/>
              </a:rPr>
              <a:t>bulky_na</a:t>
            </a:r>
            <a:r>
              <a:rPr lang="en-US" altLang="en-US" sz="2800" baseline="-25000">
                <a:solidFill>
                  <a:srgbClr val="000000"/>
                </a:solidFill>
                <a:latin typeface="Microsoft Sans Serif" panose="020B0604020202020204" pitchFamily="34" charset="0"/>
              </a:rPr>
              <a:t>zov_st</a:t>
            </a:r>
            <a:r>
              <a:rPr lang="sk-SK" altLang="en-US" sz="2800" baseline="-25000">
                <a:solidFill>
                  <a:srgbClr val="000000"/>
                </a:solidFill>
                <a:latin typeface="Microsoft Sans Serif" panose="020B0604020202020204" pitchFamily="34" charset="0"/>
              </a:rPr>
              <a:t>lpc</a:t>
            </a:r>
            <a:r>
              <a:rPr lang="en-US" altLang="en-US" sz="2800" baseline="-25000">
                <a:solidFill>
                  <a:srgbClr val="000000"/>
                </a:solidFill>
                <a:latin typeface="Microsoft Sans Serif" panose="020B0604020202020204" pitchFamily="34" charset="0"/>
              </a:rPr>
              <a:t>a</a:t>
            </a:r>
            <a:r>
              <a:rPr lang="sk-SK" altLang="en-US" sz="2800" baseline="-25000">
                <a:solidFill>
                  <a:srgbClr val="000000"/>
                </a:solidFill>
                <a:latin typeface="Microsoft Sans Serif" panose="020B0604020202020204" pitchFamily="34" charset="0"/>
              </a:rPr>
              <a:t>	</a:t>
            </a:r>
            <a:r>
              <a:rPr lang="en-US" altLang="en-US" sz="2800">
                <a:solidFill>
                  <a:srgbClr val="000000"/>
                </a:solidFill>
                <a:latin typeface="Times New Roman" panose="02020603050405020304" pitchFamily="18" charset="0"/>
              </a:rPr>
              <a:t>	</a:t>
            </a:r>
            <a:r>
              <a:rPr lang="en-US" altLang="en-US" sz="2800" baseline="-25000">
                <a:solidFill>
                  <a:srgbClr val="FF0000"/>
                </a:solidFill>
                <a:latin typeface="Microsoft Sans Serif" panose="020B0604020202020204" pitchFamily="34" charset="0"/>
              </a:rPr>
              <a:t>ou.meno</a:t>
            </a:r>
            <a:r>
              <a:rPr lang="en-US" altLang="en-US" sz="2800">
                <a:solidFill>
                  <a:srgbClr val="000000"/>
                </a:solidFill>
                <a:latin typeface="Times New Roman" panose="02020603050405020304" pitchFamily="18" charset="0"/>
              </a:rPr>
              <a:t>	</a:t>
            </a:r>
          </a:p>
        </p:txBody>
      </p:sp>
    </p:spTree>
    <p:extLst>
      <p:ext uri="{BB962C8B-B14F-4D97-AF65-F5344CB8AC3E}">
        <p14:creationId xmlns:p14="http://schemas.microsoft.com/office/powerpoint/2010/main" val="3441377853"/>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descr="Tečkované kosočtverce"/>
          <p:cNvSpPr>
            <a:spLocks noChangeArrowheads="1"/>
          </p:cNvSpPr>
          <p:nvPr/>
        </p:nvSpPr>
        <p:spPr bwMode="auto">
          <a:xfrm>
            <a:off x="685800" y="5029200"/>
            <a:ext cx="7772400" cy="1219200"/>
          </a:xfrm>
          <a:prstGeom prst="rect">
            <a:avLst/>
          </a:prstGeom>
          <a:blipFill dpi="0" rotWithShape="0">
            <a:blip r:embed="rId3"/>
            <a:srcRect/>
            <a:tile tx="0" ty="0" sx="100000" sy="100000" flip="none" algn="tl"/>
          </a:blipFill>
          <a:ln w="57150">
            <a:solidFill>
              <a:srgbClr val="FF0000"/>
            </a:solidFill>
            <a:miter lim="800000"/>
            <a:headEnd/>
            <a:tailEnd/>
          </a:ln>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p:txBody>
      </p:sp>
      <p:sp>
        <p:nvSpPr>
          <p:cNvPr id="32771" name="Rectangle 3"/>
          <p:cNvSpPr>
            <a:spLocks noGrp="1" noChangeArrowheads="1"/>
          </p:cNvSpPr>
          <p:nvPr>
            <p:ph type="title"/>
          </p:nvPr>
        </p:nvSpPr>
        <p:spPr>
          <a:xfrm>
            <a:off x="685800" y="304800"/>
            <a:ext cx="7772400" cy="658813"/>
          </a:xfrm>
        </p:spPr>
        <p:txBody>
          <a:bodyPr/>
          <a:lstStyle/>
          <a:p>
            <a:pPr>
              <a:defRPr/>
            </a:pPr>
            <a:r>
              <a:rPr lang="sk-SK" sz="3200" i="1"/>
              <a:t>Selekcia</a:t>
            </a:r>
            <a:r>
              <a:rPr lang="en-US" sz="3200" i="1"/>
              <a:t> – </a:t>
            </a:r>
            <a:r>
              <a:rPr lang="sk-SK" sz="3200" i="1"/>
              <a:t>výber  stĺpcov  a riadkov</a:t>
            </a:r>
          </a:p>
        </p:txBody>
      </p:sp>
      <p:sp>
        <p:nvSpPr>
          <p:cNvPr id="32772" name="Rectangle 4"/>
          <p:cNvSpPr>
            <a:spLocks noChangeArrowheads="1"/>
          </p:cNvSpPr>
          <p:nvPr/>
        </p:nvSpPr>
        <p:spPr bwMode="auto">
          <a:xfrm>
            <a:off x="685800" y="1000125"/>
            <a:ext cx="79914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449263">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a:t>SELECT </a:t>
            </a:r>
            <a:r>
              <a:rPr lang="sk-SK" altLang="en-US" err="1"/>
              <a:t>rod_cislo</a:t>
            </a:r>
            <a:r>
              <a:rPr lang="sk-SK" altLang="en-US"/>
              <a:t>, meno, priezvisko, </a:t>
            </a:r>
            <a:r>
              <a:rPr lang="sk-SK" altLang="en-US" err="1"/>
              <a:t>ullica</a:t>
            </a:r>
            <a:r>
              <a:rPr lang="sk-SK" altLang="en-US"/>
              <a:t> , obec </a:t>
            </a:r>
          </a:p>
          <a:p>
            <a:r>
              <a:rPr lang="sk-SK" altLang="en-US"/>
              <a:t>FROM </a:t>
            </a:r>
            <a:r>
              <a:rPr lang="sk-SK" altLang="en-US" err="1"/>
              <a:t>os_udaje</a:t>
            </a:r>
            <a:endParaRPr lang="sk-SK" altLang="en-US"/>
          </a:p>
          <a:p>
            <a:r>
              <a:rPr lang="sk-SK" altLang="en-US">
                <a:solidFill>
                  <a:srgbClr val="0000FF"/>
                </a:solidFill>
              </a:rPr>
              <a:t>WHERE meno</a:t>
            </a:r>
            <a:r>
              <a:rPr lang="en-US" altLang="en-US">
                <a:solidFill>
                  <a:srgbClr val="0000FF"/>
                </a:solidFill>
              </a:rPr>
              <a:t> =‘Erika’;</a:t>
            </a:r>
            <a:endParaRPr lang="sk-SK" altLang="en-US">
              <a:solidFill>
                <a:srgbClr val="0000FF"/>
              </a:solidFill>
            </a:endParaRPr>
          </a:p>
        </p:txBody>
      </p:sp>
      <p:graphicFrame>
        <p:nvGraphicFramePr>
          <p:cNvPr id="32773" name="Group 5"/>
          <p:cNvGraphicFramePr>
            <a:graphicFrameLocks noGrp="1"/>
          </p:cNvGraphicFramePr>
          <p:nvPr>
            <p:ph type="tbl" idx="1"/>
          </p:nvPr>
        </p:nvGraphicFramePr>
        <p:xfrm>
          <a:off x="685800" y="2133600"/>
          <a:ext cx="7772400" cy="4114802"/>
        </p:xfrm>
        <a:graphic>
          <a:graphicData uri="http://schemas.openxmlformats.org/drawingml/2006/table">
            <a:tbl>
              <a:tblPr/>
              <a:tblGrid>
                <a:gridCol w="1554163">
                  <a:extLst>
                    <a:ext uri="{9D8B030D-6E8A-4147-A177-3AD203B41FA5}">
                      <a16:colId xmlns:a16="http://schemas.microsoft.com/office/drawing/2014/main" val="20000"/>
                    </a:ext>
                  </a:extLst>
                </a:gridCol>
                <a:gridCol w="1322387">
                  <a:extLst>
                    <a:ext uri="{9D8B030D-6E8A-4147-A177-3AD203B41FA5}">
                      <a16:colId xmlns:a16="http://schemas.microsoft.com/office/drawing/2014/main" val="20001"/>
                    </a:ext>
                  </a:extLst>
                </a:gridCol>
                <a:gridCol w="1398588">
                  <a:extLst>
                    <a:ext uri="{9D8B030D-6E8A-4147-A177-3AD203B41FA5}">
                      <a16:colId xmlns:a16="http://schemas.microsoft.com/office/drawing/2014/main" val="20002"/>
                    </a:ext>
                  </a:extLst>
                </a:gridCol>
                <a:gridCol w="2098675">
                  <a:extLst>
                    <a:ext uri="{9D8B030D-6E8A-4147-A177-3AD203B41FA5}">
                      <a16:colId xmlns:a16="http://schemas.microsoft.com/office/drawing/2014/main" val="20003"/>
                    </a:ext>
                  </a:extLst>
                </a:gridCol>
                <a:gridCol w="1398587">
                  <a:extLst>
                    <a:ext uri="{9D8B030D-6E8A-4147-A177-3AD203B41FA5}">
                      <a16:colId xmlns:a16="http://schemas.microsoft.com/office/drawing/2014/main" val="20004"/>
                    </a:ext>
                  </a:extLst>
                </a:gridCol>
              </a:tblGrid>
              <a:tr h="6461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rPr>
                        <a:t>#rod_cislo</a:t>
                      </a:r>
                      <a:endParaRPr kumimoji="0" lang="sk-SK" sz="1800" b="1"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rPr>
                        <a:t>meno</a:t>
                      </a:r>
                      <a:endParaRPr kumimoji="0" lang="sk-SK"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rPr>
                        <a:t>priezvisko </a:t>
                      </a:r>
                      <a:endParaRPr kumimoji="0" lang="sk-SK"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rPr>
                        <a:t>ulica</a:t>
                      </a:r>
                      <a:endParaRPr kumimoji="0" lang="sk-SK"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rPr>
                        <a:t>obec</a:t>
                      </a:r>
                      <a:endParaRPr kumimoji="0" lang="sk-SK"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3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801106/3456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Stanislav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Ratroch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Juh 2100/456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Kosice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62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790907/1259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Branislav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Novak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 Prievoznicka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Kosice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4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810514/5341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Lukas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Kluciar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Tatranska 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Komarno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4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771124/3578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Zdeno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Satrapa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Namestie SNP 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Plzen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53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79</a:t>
                      </a:r>
                      <a:r>
                        <a:rPr kumimoji="0" lang="en-US" sz="1800" b="1" i="0" u="none" strike="noStrike" cap="none" normalizeH="0" baseline="0">
                          <a:ln>
                            <a:noFill/>
                          </a:ln>
                          <a:solidFill>
                            <a:schemeClr val="tx1"/>
                          </a:solidFill>
                          <a:effectLst/>
                          <a:latin typeface="Times New Roman" pitchFamily="18" charset="0"/>
                        </a:rPr>
                        <a:t>5</a:t>
                      </a:r>
                      <a:r>
                        <a:rPr kumimoji="0" lang="sk-SK" sz="1800" b="1" i="0" u="none" strike="noStrike" cap="none" normalizeH="0" baseline="0">
                          <a:ln>
                            <a:noFill/>
                          </a:ln>
                          <a:solidFill>
                            <a:schemeClr val="tx1"/>
                          </a:solidFill>
                          <a:effectLst/>
                          <a:latin typeface="Times New Roman" pitchFamily="18" charset="0"/>
                        </a:rPr>
                        <a:t>310/2145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Erika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Lipovska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Orlove 16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Bytca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4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79</a:t>
                      </a:r>
                      <a:r>
                        <a:rPr kumimoji="0" lang="en-US" sz="1800" b="1" i="0" u="none" strike="noStrike" cap="none" normalizeH="0" baseline="0">
                          <a:ln>
                            <a:noFill/>
                          </a:ln>
                          <a:solidFill>
                            <a:schemeClr val="tx1"/>
                          </a:solidFill>
                          <a:effectLst/>
                          <a:latin typeface="Times New Roman" pitchFamily="18" charset="0"/>
                        </a:rPr>
                        <a:t>6</a:t>
                      </a:r>
                      <a:r>
                        <a:rPr kumimoji="0" lang="sk-SK" sz="1800" b="1" i="0" u="none" strike="noStrike" cap="none" normalizeH="0" baseline="0">
                          <a:ln>
                            <a:noFill/>
                          </a:ln>
                          <a:solidFill>
                            <a:schemeClr val="tx1"/>
                          </a:solidFill>
                          <a:effectLst/>
                          <a:latin typeface="Times New Roman" pitchFamily="18" charset="0"/>
                        </a:rPr>
                        <a:t>225/7452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Erika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Slamova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err="1">
                          <a:ln>
                            <a:noFill/>
                          </a:ln>
                          <a:solidFill>
                            <a:schemeClr val="tx1"/>
                          </a:solidFill>
                          <a:effectLst/>
                          <a:latin typeface="Times New Roman" pitchFamily="18" charset="0"/>
                        </a:rPr>
                        <a:t>Dolna</a:t>
                      </a:r>
                      <a:r>
                        <a:rPr kumimoji="0" lang="sk-SK" sz="1800" b="1" i="0" u="none" strike="noStrike" cap="none" normalizeH="0" baseline="0">
                          <a:ln>
                            <a:noFill/>
                          </a:ln>
                          <a:solidFill>
                            <a:schemeClr val="tx1"/>
                          </a:solidFill>
                          <a:effectLst/>
                          <a:latin typeface="Times New Roman" pitchFamily="18" charset="0"/>
                        </a:rPr>
                        <a:t> 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1" i="0" u="none" strike="noStrike" cap="none" normalizeH="0" baseline="0">
                          <a:ln>
                            <a:noFill/>
                          </a:ln>
                          <a:solidFill>
                            <a:schemeClr val="tx1"/>
                          </a:solidFill>
                          <a:effectLst/>
                          <a:latin typeface="Times New Roman" pitchFamily="18" charset="0"/>
                        </a:rPr>
                        <a:t>B</a:t>
                      </a:r>
                      <a:r>
                        <a:rPr kumimoji="0" lang="en-US" sz="1800" b="1" i="0" u="none" strike="noStrike" cap="none" normalizeH="0" baseline="0">
                          <a:ln>
                            <a:noFill/>
                          </a:ln>
                          <a:solidFill>
                            <a:schemeClr val="tx1"/>
                          </a:solidFill>
                          <a:effectLst/>
                          <a:latin typeface="Times New Roman" pitchFamily="18" charset="0"/>
                        </a:rPr>
                        <a:t>.</a:t>
                      </a:r>
                      <a:r>
                        <a:rPr kumimoji="0" lang="sk-SK" sz="1800" b="1" i="0" u="none" strike="noStrike" cap="none" normalizeH="0" baseline="0">
                          <a:ln>
                            <a:noFill/>
                          </a:ln>
                          <a:solidFill>
                            <a:schemeClr val="tx1"/>
                          </a:solidFill>
                          <a:effectLst/>
                          <a:latin typeface="Times New Roman" pitchFamily="18" charset="0"/>
                        </a:rPr>
                        <a:t> Bystrica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27932740"/>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32773"/>
                                        </p:tgtEl>
                                        <p:attrNameLst>
                                          <p:attrName>style.visibility</p:attrName>
                                        </p:attrNameLst>
                                      </p:cBhvr>
                                      <p:to>
                                        <p:strVal val="visible"/>
                                      </p:to>
                                    </p:set>
                                    <p:anim calcmode="lin" valueType="num">
                                      <p:cBhvr additive="base">
                                        <p:cTn id="7" dur="500" fill="hold"/>
                                        <p:tgtEl>
                                          <p:spTgt spid="32773"/>
                                        </p:tgtEl>
                                        <p:attrNameLst>
                                          <p:attrName>ppt_x</p:attrName>
                                        </p:attrNameLst>
                                      </p:cBhvr>
                                      <p:tavLst>
                                        <p:tav tm="0">
                                          <p:val>
                                            <p:strVal val="0-#ppt_w/2"/>
                                          </p:val>
                                        </p:tav>
                                        <p:tav tm="100000">
                                          <p:val>
                                            <p:strVal val="#ppt_x"/>
                                          </p:val>
                                        </p:tav>
                                      </p:tavLst>
                                    </p:anim>
                                    <p:anim calcmode="lin" valueType="num">
                                      <p:cBhvr additive="base">
                                        <p:cTn id="8" dur="500" fill="hold"/>
                                        <p:tgtEl>
                                          <p:spTgt spid="3277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772"/>
                                        </p:tgtEl>
                                        <p:attrNameLst>
                                          <p:attrName>style.visibility</p:attrName>
                                        </p:attrNameLst>
                                      </p:cBhvr>
                                      <p:to>
                                        <p:strVal val="visible"/>
                                      </p:to>
                                    </p:set>
                                    <p:anim calcmode="lin" valueType="num">
                                      <p:cBhvr additive="base">
                                        <p:cTn id="13" dur="500" fill="hold"/>
                                        <p:tgtEl>
                                          <p:spTgt spid="32772"/>
                                        </p:tgtEl>
                                        <p:attrNameLst>
                                          <p:attrName>ppt_x</p:attrName>
                                        </p:attrNameLst>
                                      </p:cBhvr>
                                      <p:tavLst>
                                        <p:tav tm="0">
                                          <p:val>
                                            <p:strVal val="0-#ppt_w/2"/>
                                          </p:val>
                                        </p:tav>
                                        <p:tav tm="100000">
                                          <p:val>
                                            <p:strVal val="#ppt_x"/>
                                          </p:val>
                                        </p:tav>
                                      </p:tavLst>
                                    </p:anim>
                                    <p:anim calcmode="lin" valueType="num">
                                      <p:cBhvr additive="base">
                                        <p:cTn id="14" dur="500" fill="hold"/>
                                        <p:tgtEl>
                                          <p:spTgt spid="3277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770"/>
                                        </p:tgtEl>
                                        <p:attrNameLst>
                                          <p:attrName>style.visibility</p:attrName>
                                        </p:attrNameLst>
                                      </p:cBhvr>
                                      <p:to>
                                        <p:strVal val="visible"/>
                                      </p:to>
                                    </p:set>
                                    <p:anim calcmode="lin" valueType="num">
                                      <p:cBhvr additive="base">
                                        <p:cTn id="19" dur="500" fill="hold"/>
                                        <p:tgtEl>
                                          <p:spTgt spid="32770"/>
                                        </p:tgtEl>
                                        <p:attrNameLst>
                                          <p:attrName>ppt_x</p:attrName>
                                        </p:attrNameLst>
                                      </p:cBhvr>
                                      <p:tavLst>
                                        <p:tav tm="0">
                                          <p:val>
                                            <p:strVal val="0-#ppt_w/2"/>
                                          </p:val>
                                        </p:tav>
                                        <p:tav tm="100000">
                                          <p:val>
                                            <p:strVal val="#ppt_x"/>
                                          </p:val>
                                        </p:tav>
                                      </p:tavLst>
                                    </p:anim>
                                    <p:anim calcmode="lin" valueType="num">
                                      <p:cBhvr additive="base">
                                        <p:cTn id="20" dur="500" fill="hold"/>
                                        <p:tgtEl>
                                          <p:spTgt spid="327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nimBg="1"/>
      <p:bldP spid="32772"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5"/>
            <a:ext cx="7818438" cy="600075"/>
          </a:xfrm>
        </p:spPr>
        <p:txBody>
          <a:bodyPr>
            <a:normAutofit fontScale="90000"/>
          </a:bodyPr>
          <a:lstStyle/>
          <a:p>
            <a:pPr algn="ctr">
              <a:defRPr/>
            </a:pPr>
            <a:r>
              <a:rPr lang="sk-SK"/>
              <a:t>Výber bez aliasov</a:t>
            </a:r>
            <a:endParaRPr lang="en-US"/>
          </a:p>
        </p:txBody>
      </p:sp>
      <p:sp>
        <p:nvSpPr>
          <p:cNvPr id="38916" name="Obdĺžnik 4"/>
          <p:cNvSpPr>
            <a:spLocks noChangeArrowheads="1"/>
          </p:cNvSpPr>
          <p:nvPr/>
        </p:nvSpPr>
        <p:spPr bwMode="auto">
          <a:xfrm>
            <a:off x="765175" y="2395538"/>
            <a:ext cx="76835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2400" b="1"/>
              <a:t>select meno from os_udaje;</a:t>
            </a:r>
            <a:endParaRPr lang="sk-SK" altLang="en-US" sz="2400" b="1"/>
          </a:p>
          <a:p>
            <a:endParaRPr lang="en-US" altLang="en-US" sz="2400" b="1"/>
          </a:p>
          <a:p>
            <a:r>
              <a:rPr lang="en-US" altLang="en-US" sz="2400" b="1"/>
              <a:t>select os_udaje.meno from os_udaje;</a:t>
            </a:r>
            <a:endParaRPr lang="sk-SK" altLang="en-US" sz="2400" b="1"/>
          </a:p>
          <a:p>
            <a:endParaRPr lang="en-US" altLang="en-US" sz="2400" b="1"/>
          </a:p>
          <a:p>
            <a:r>
              <a:rPr lang="en-US" altLang="en-US" sz="2400" b="1"/>
              <a:t>select </a:t>
            </a:r>
            <a:r>
              <a:rPr lang="sk-SK" altLang="en-US" sz="2400" b="1"/>
              <a:t>kmat</a:t>
            </a:r>
            <a:r>
              <a:rPr lang="en-US" altLang="en-US" sz="2400" b="1"/>
              <a:t>.os_udaje.meno from </a:t>
            </a:r>
            <a:r>
              <a:rPr lang="sk-SK" altLang="en-US" sz="2400" b="1"/>
              <a:t>kmat</a:t>
            </a:r>
            <a:r>
              <a:rPr lang="en-US" altLang="en-US" sz="2400" b="1"/>
              <a:t>.os_udaje;</a:t>
            </a:r>
          </a:p>
        </p:txBody>
      </p:sp>
    </p:spTree>
    <p:extLst>
      <p:ext uri="{BB962C8B-B14F-4D97-AF65-F5344CB8AC3E}">
        <p14:creationId xmlns:p14="http://schemas.microsoft.com/office/powerpoint/2010/main" val="3800062728"/>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5"/>
            <a:ext cx="7818438" cy="600075"/>
          </a:xfrm>
        </p:spPr>
        <p:txBody>
          <a:bodyPr>
            <a:normAutofit fontScale="90000"/>
          </a:bodyPr>
          <a:lstStyle/>
          <a:p>
            <a:pPr algn="ctr">
              <a:defRPr/>
            </a:pPr>
            <a:r>
              <a:rPr lang="sk-SK"/>
              <a:t>Výber s použitím aliasov</a:t>
            </a:r>
            <a:endParaRPr lang="en-US"/>
          </a:p>
        </p:txBody>
      </p:sp>
      <p:sp>
        <p:nvSpPr>
          <p:cNvPr id="40964" name="Obdĺžnik 4"/>
          <p:cNvSpPr>
            <a:spLocks noChangeArrowheads="1"/>
          </p:cNvSpPr>
          <p:nvPr/>
        </p:nvSpPr>
        <p:spPr bwMode="auto">
          <a:xfrm>
            <a:off x="765175" y="2395538"/>
            <a:ext cx="76835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2400" b="1"/>
              <a:t>select </a:t>
            </a:r>
            <a:r>
              <a:rPr lang="en-US" altLang="en-US" sz="2400" b="1" err="1"/>
              <a:t>meno</a:t>
            </a:r>
            <a:r>
              <a:rPr lang="en-US" altLang="en-US" sz="2400" b="1"/>
              <a:t> from </a:t>
            </a:r>
            <a:r>
              <a:rPr lang="en-US" altLang="en-US" sz="2400" b="1" err="1"/>
              <a:t>os_udaje</a:t>
            </a:r>
            <a:r>
              <a:rPr lang="sk-SK" altLang="en-US" sz="2400" b="1"/>
              <a:t> </a:t>
            </a:r>
            <a:r>
              <a:rPr lang="sk-SK" altLang="en-US" sz="2400" b="1" err="1">
                <a:solidFill>
                  <a:srgbClr val="FF0000"/>
                </a:solidFill>
              </a:rPr>
              <a:t>ou</a:t>
            </a:r>
            <a:r>
              <a:rPr lang="en-US" altLang="en-US" sz="2400" b="1"/>
              <a:t>;</a:t>
            </a:r>
            <a:endParaRPr lang="sk-SK" altLang="en-US" sz="2400" b="1"/>
          </a:p>
          <a:p>
            <a:endParaRPr lang="en-US" altLang="en-US" sz="2400" b="1"/>
          </a:p>
          <a:p>
            <a:r>
              <a:rPr lang="en-US" altLang="en-US" sz="2400" b="1"/>
              <a:t>select </a:t>
            </a:r>
            <a:r>
              <a:rPr lang="en-US" altLang="en-US" sz="2400" b="1">
                <a:solidFill>
                  <a:srgbClr val="FF0000"/>
                </a:solidFill>
              </a:rPr>
              <a:t>o</a:t>
            </a:r>
            <a:r>
              <a:rPr lang="sk-SK" altLang="en-US" sz="2400" b="1">
                <a:solidFill>
                  <a:srgbClr val="FF0000"/>
                </a:solidFill>
              </a:rPr>
              <a:t>u</a:t>
            </a:r>
            <a:r>
              <a:rPr lang="en-US" altLang="en-US" sz="2400" b="1"/>
              <a:t>.</a:t>
            </a:r>
            <a:r>
              <a:rPr lang="en-US" altLang="en-US" sz="2400" b="1" err="1"/>
              <a:t>meno</a:t>
            </a:r>
            <a:r>
              <a:rPr lang="en-US" altLang="en-US" sz="2400" b="1"/>
              <a:t> from </a:t>
            </a:r>
            <a:r>
              <a:rPr lang="en-US" altLang="en-US" sz="2400" b="1" err="1"/>
              <a:t>os_udaje</a:t>
            </a:r>
            <a:r>
              <a:rPr lang="sk-SK" altLang="en-US" sz="2400" b="1"/>
              <a:t> </a:t>
            </a:r>
            <a:r>
              <a:rPr lang="sk-SK" altLang="en-US" sz="2400" b="1" err="1">
                <a:solidFill>
                  <a:srgbClr val="FF0000"/>
                </a:solidFill>
              </a:rPr>
              <a:t>ou</a:t>
            </a:r>
            <a:r>
              <a:rPr lang="en-US" altLang="en-US" sz="2400" b="1"/>
              <a:t>;</a:t>
            </a:r>
            <a:endParaRPr lang="sk-SK" altLang="en-US" sz="2400" b="1"/>
          </a:p>
          <a:p>
            <a:endParaRPr lang="en-US" altLang="en-US" sz="2400" b="1"/>
          </a:p>
          <a:p>
            <a:r>
              <a:rPr lang="en-US" altLang="en-US" sz="2400" b="1"/>
              <a:t>Select</a:t>
            </a:r>
            <a:r>
              <a:rPr lang="sk-SK" altLang="en-US" sz="2400" b="1"/>
              <a:t> </a:t>
            </a:r>
            <a:r>
              <a:rPr lang="sk-SK" altLang="en-US" sz="2400" b="1" err="1">
                <a:solidFill>
                  <a:srgbClr val="FF0000"/>
                </a:solidFill>
              </a:rPr>
              <a:t>ou</a:t>
            </a:r>
            <a:r>
              <a:rPr lang="en-US" altLang="en-US" sz="2400" b="1"/>
              <a:t>.</a:t>
            </a:r>
            <a:r>
              <a:rPr lang="en-US" altLang="en-US" sz="2400" b="1" err="1"/>
              <a:t>meno</a:t>
            </a:r>
            <a:r>
              <a:rPr lang="en-US" altLang="en-US" sz="2400" b="1"/>
              <a:t> from </a:t>
            </a:r>
            <a:r>
              <a:rPr lang="sk-SK" altLang="en-US" sz="2400" b="1" err="1"/>
              <a:t>kmat</a:t>
            </a:r>
            <a:r>
              <a:rPr lang="en-US" altLang="en-US" sz="2400" b="1"/>
              <a:t>.</a:t>
            </a:r>
            <a:r>
              <a:rPr lang="en-US" altLang="en-US" sz="2400" b="1" err="1"/>
              <a:t>os_udaje</a:t>
            </a:r>
            <a:r>
              <a:rPr lang="sk-SK" altLang="en-US" sz="2400" b="1"/>
              <a:t> </a:t>
            </a:r>
            <a:r>
              <a:rPr lang="sk-SK" altLang="en-US" sz="2400" b="1" err="1">
                <a:solidFill>
                  <a:srgbClr val="FF0000"/>
                </a:solidFill>
              </a:rPr>
              <a:t>ou</a:t>
            </a:r>
            <a:r>
              <a:rPr lang="en-US" altLang="en-US" sz="2400" b="1"/>
              <a:t>;</a:t>
            </a:r>
          </a:p>
        </p:txBody>
      </p:sp>
    </p:spTree>
    <p:extLst>
      <p:ext uri="{BB962C8B-B14F-4D97-AF65-F5344CB8AC3E}">
        <p14:creationId xmlns:p14="http://schemas.microsoft.com/office/powerpoint/2010/main" val="1311943341"/>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5"/>
            <a:ext cx="7818438" cy="600075"/>
          </a:xfrm>
        </p:spPr>
        <p:txBody>
          <a:bodyPr>
            <a:normAutofit fontScale="90000"/>
          </a:bodyPr>
          <a:lstStyle/>
          <a:p>
            <a:pPr algn="ctr">
              <a:defRPr/>
            </a:pPr>
            <a:r>
              <a:rPr lang="sk-SK"/>
              <a:t>Alias stĺpca</a:t>
            </a:r>
            <a:endParaRPr lang="en-US"/>
          </a:p>
        </p:txBody>
      </p:sp>
      <p:sp>
        <p:nvSpPr>
          <p:cNvPr id="43012" name="Obdĺžnik 4"/>
          <p:cNvSpPr>
            <a:spLocks noChangeArrowheads="1"/>
          </p:cNvSpPr>
          <p:nvPr/>
        </p:nvSpPr>
        <p:spPr bwMode="auto">
          <a:xfrm>
            <a:off x="581025" y="1670050"/>
            <a:ext cx="830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2400" b="1"/>
              <a:t>select </a:t>
            </a:r>
            <a:r>
              <a:rPr lang="sk-SK" altLang="en-US" sz="2400" b="1"/>
              <a:t>vyraz AS alias_stlpca</a:t>
            </a:r>
          </a:p>
          <a:p>
            <a:endParaRPr lang="en-US" altLang="en-US" sz="2400" b="1"/>
          </a:p>
        </p:txBody>
      </p:sp>
      <p:sp>
        <p:nvSpPr>
          <p:cNvPr id="6" name="Nadpis 1"/>
          <p:cNvSpPr txBox="1">
            <a:spLocks/>
          </p:cNvSpPr>
          <p:nvPr/>
        </p:nvSpPr>
        <p:spPr bwMode="auto">
          <a:xfrm>
            <a:off x="390525" y="493713"/>
            <a:ext cx="7818438" cy="1292225"/>
          </a:xfrm>
          <a:prstGeom prst="rect">
            <a:avLst/>
          </a:prstGeom>
          <a:noFill/>
          <a:ln w="9525">
            <a:noFill/>
            <a:miter lim="800000"/>
            <a:headEnd/>
            <a:tailEnd/>
          </a:ln>
          <a:effectLst/>
        </p:spPr>
        <p:txBody>
          <a:bodyPr lIns="0" rIns="0" anchor="ctr"/>
          <a:lstStyle>
            <a:lvl1pPr algn="l" rtl="0" eaLnBrk="0" fontAlgn="base" hangingPunct="0">
              <a:spcBef>
                <a:spcPct val="0"/>
              </a:spcBef>
              <a:spcAft>
                <a:spcPct val="0"/>
              </a:spcAft>
              <a:defRPr sz="22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2200" b="1">
                <a:solidFill>
                  <a:schemeClr val="tx1"/>
                </a:solidFill>
                <a:effectLst>
                  <a:outerShdw blurRad="38100" dist="38100" dir="2700000" algn="tl">
                    <a:srgbClr val="C0C0C0"/>
                  </a:outerShdw>
                </a:effectLst>
                <a:latin typeface="Arial" charset="0"/>
              </a:defRPr>
            </a:lvl2pPr>
            <a:lvl3pPr algn="l" rtl="0" eaLnBrk="0" fontAlgn="base" hangingPunct="0">
              <a:spcBef>
                <a:spcPct val="0"/>
              </a:spcBef>
              <a:spcAft>
                <a:spcPct val="0"/>
              </a:spcAft>
              <a:defRPr sz="2200" b="1">
                <a:solidFill>
                  <a:schemeClr val="tx1"/>
                </a:solidFill>
                <a:effectLst>
                  <a:outerShdw blurRad="38100" dist="38100" dir="2700000" algn="tl">
                    <a:srgbClr val="C0C0C0"/>
                  </a:outerShdw>
                </a:effectLst>
                <a:latin typeface="Arial" charset="0"/>
              </a:defRPr>
            </a:lvl3pPr>
            <a:lvl4pPr algn="l" rtl="0" eaLnBrk="0" fontAlgn="base" hangingPunct="0">
              <a:spcBef>
                <a:spcPct val="0"/>
              </a:spcBef>
              <a:spcAft>
                <a:spcPct val="0"/>
              </a:spcAft>
              <a:defRPr sz="2200" b="1">
                <a:solidFill>
                  <a:schemeClr val="tx1"/>
                </a:solidFill>
                <a:effectLst>
                  <a:outerShdw blurRad="38100" dist="38100" dir="2700000" algn="tl">
                    <a:srgbClr val="C0C0C0"/>
                  </a:outerShdw>
                </a:effectLst>
                <a:latin typeface="Arial" charset="0"/>
              </a:defRPr>
            </a:lvl4pPr>
            <a:lvl5pPr algn="l" rtl="0" eaLnBrk="0" fontAlgn="base" hangingPunct="0">
              <a:spcBef>
                <a:spcPct val="0"/>
              </a:spcBef>
              <a:spcAft>
                <a:spcPct val="0"/>
              </a:spcAft>
              <a:defRPr sz="2200" b="1">
                <a:solidFill>
                  <a:schemeClr val="tx1"/>
                </a:solidFill>
                <a:effectLst>
                  <a:outerShdw blurRad="38100" dist="38100" dir="2700000" algn="tl">
                    <a:srgbClr val="C0C0C0"/>
                  </a:outerShdw>
                </a:effectLst>
                <a:latin typeface="Arial" charset="0"/>
              </a:defRPr>
            </a:lvl5pPr>
            <a:lvl6pPr marL="457200" algn="l" rtl="0" fontAlgn="base">
              <a:spcBef>
                <a:spcPct val="0"/>
              </a:spcBef>
              <a:spcAft>
                <a:spcPct val="0"/>
              </a:spcAft>
              <a:defRPr sz="2200" b="1">
                <a:solidFill>
                  <a:schemeClr val="tx1"/>
                </a:solidFill>
                <a:effectLst>
                  <a:outerShdw blurRad="38100" dist="38100" dir="2700000" algn="tl">
                    <a:srgbClr val="C0C0C0"/>
                  </a:outerShdw>
                </a:effectLst>
                <a:latin typeface="Arial" charset="0"/>
              </a:defRPr>
            </a:lvl6pPr>
            <a:lvl7pPr marL="914400" algn="l" rtl="0" fontAlgn="base">
              <a:spcBef>
                <a:spcPct val="0"/>
              </a:spcBef>
              <a:spcAft>
                <a:spcPct val="0"/>
              </a:spcAft>
              <a:defRPr sz="2200" b="1">
                <a:solidFill>
                  <a:schemeClr val="tx1"/>
                </a:solidFill>
                <a:effectLst>
                  <a:outerShdw blurRad="38100" dist="38100" dir="2700000" algn="tl">
                    <a:srgbClr val="C0C0C0"/>
                  </a:outerShdw>
                </a:effectLst>
                <a:latin typeface="Arial" charset="0"/>
              </a:defRPr>
            </a:lvl7pPr>
            <a:lvl8pPr marL="1371600" algn="l" rtl="0" fontAlgn="base">
              <a:spcBef>
                <a:spcPct val="0"/>
              </a:spcBef>
              <a:spcAft>
                <a:spcPct val="0"/>
              </a:spcAft>
              <a:defRPr sz="2200" b="1">
                <a:solidFill>
                  <a:schemeClr val="tx1"/>
                </a:solidFill>
                <a:effectLst>
                  <a:outerShdw blurRad="38100" dist="38100" dir="2700000" algn="tl">
                    <a:srgbClr val="C0C0C0"/>
                  </a:outerShdw>
                </a:effectLst>
                <a:latin typeface="Arial" charset="0"/>
              </a:defRPr>
            </a:lvl8pPr>
            <a:lvl9pPr marL="1828800" algn="l" rtl="0" fontAlgn="base">
              <a:spcBef>
                <a:spcPct val="0"/>
              </a:spcBef>
              <a:spcAft>
                <a:spcPct val="0"/>
              </a:spcAft>
              <a:defRPr sz="2200" b="1">
                <a:solidFill>
                  <a:schemeClr val="tx1"/>
                </a:solidFill>
                <a:effectLst>
                  <a:outerShdw blurRad="38100" dist="38100" dir="2700000" algn="tl">
                    <a:srgbClr val="C0C0C0"/>
                  </a:outerShdw>
                </a:effectLst>
                <a:latin typeface="Arial" charset="0"/>
              </a:defRPr>
            </a:lvl9pPr>
          </a:lstStyle>
          <a:p>
            <a:pPr algn="ctr">
              <a:defRPr/>
            </a:pPr>
            <a:r>
              <a:rPr lang="sk-SK" b="0" baseline="-25000"/>
              <a:t>V časti </a:t>
            </a:r>
            <a:r>
              <a:rPr lang="sk-SK" b="0" baseline="-25000" err="1"/>
              <a:t>Select</a:t>
            </a:r>
            <a:r>
              <a:rPr lang="sk-SK" b="0" baseline="-25000"/>
              <a:t> za výrazom môžeme dopísať alias stĺpca, ktorý sa stane názvom stĺpca vo výsledku. </a:t>
            </a:r>
            <a:r>
              <a:rPr lang="sk-SK" b="0" baseline="-25000">
                <a:solidFill>
                  <a:srgbClr val="FF0000"/>
                </a:solidFill>
              </a:rPr>
              <a:t>Tento alias nie je možné použiť v inej časti </a:t>
            </a:r>
            <a:r>
              <a:rPr lang="sk-SK" b="0" baseline="-25000" err="1">
                <a:solidFill>
                  <a:srgbClr val="FF0000"/>
                </a:solidFill>
              </a:rPr>
              <a:t>selectu</a:t>
            </a:r>
            <a:r>
              <a:rPr lang="en-US" b="0" baseline="-25000">
                <a:solidFill>
                  <a:srgbClr val="FF0000"/>
                </a:solidFill>
              </a:rPr>
              <a:t>.</a:t>
            </a:r>
            <a:endParaRPr lang="en-US" kern="0">
              <a:solidFill>
                <a:srgbClr val="FF0000"/>
              </a:solidFill>
            </a:endParaRPr>
          </a:p>
        </p:txBody>
      </p:sp>
      <p:sp>
        <p:nvSpPr>
          <p:cNvPr id="43014" name="Obdĺžnik 6"/>
          <p:cNvSpPr>
            <a:spLocks noChangeArrowheads="1"/>
          </p:cNvSpPr>
          <p:nvPr/>
        </p:nvSpPr>
        <p:spPr bwMode="auto">
          <a:xfrm>
            <a:off x="444500" y="2144713"/>
            <a:ext cx="7712075"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a:t>Príklad:</a:t>
            </a:r>
          </a:p>
          <a:p>
            <a:endParaRPr lang="sk-SK" altLang="en-US"/>
          </a:p>
          <a:p>
            <a:r>
              <a:rPr lang="pt-BR" altLang="en-US"/>
              <a:t>select os_cislo, </a:t>
            </a:r>
            <a:r>
              <a:rPr lang="pt-BR" altLang="en-US">
                <a:solidFill>
                  <a:srgbClr val="FF0000"/>
                </a:solidFill>
              </a:rPr>
              <a:t>rocnik +1 AS novy_rocnik </a:t>
            </a:r>
            <a:r>
              <a:rPr lang="pt-BR" altLang="en-US"/>
              <a:t>from student;</a:t>
            </a:r>
          </a:p>
          <a:p>
            <a:endParaRPr lang="sk-SK" altLang="en-US"/>
          </a:p>
          <a:p>
            <a:r>
              <a:rPr lang="pt-BR" altLang="en-US"/>
              <a:t>OS_CISLO </a:t>
            </a:r>
            <a:r>
              <a:rPr lang="sk-SK" altLang="en-US"/>
              <a:t>  </a:t>
            </a:r>
            <a:r>
              <a:rPr lang="pt-BR" altLang="en-US"/>
              <a:t>NOVY_ROCNIK</a:t>
            </a:r>
            <a:endParaRPr lang="sk-SK" altLang="en-US"/>
          </a:p>
          <a:p>
            <a:endParaRPr lang="pt-BR" altLang="en-US"/>
          </a:p>
          <a:p>
            <a:pPr lvl="1"/>
            <a:r>
              <a:rPr lang="pt-BR" altLang="en-US"/>
              <a:t>501512 	4 </a:t>
            </a:r>
            <a:endParaRPr lang="sk-SK" altLang="en-US"/>
          </a:p>
          <a:p>
            <a:pPr lvl="1"/>
            <a:r>
              <a:rPr lang="pt-BR" altLang="en-US"/>
              <a:t>501469 	3 </a:t>
            </a:r>
            <a:endParaRPr lang="sk-SK" altLang="en-US"/>
          </a:p>
          <a:p>
            <a:pPr lvl="1"/>
            <a:r>
              <a:rPr lang="pt-BR" altLang="en-US"/>
              <a:t>501414 	3 </a:t>
            </a:r>
            <a:endParaRPr lang="sk-SK" altLang="en-US"/>
          </a:p>
          <a:p>
            <a:pPr lvl="1"/>
            <a:r>
              <a:rPr lang="pt-BR" altLang="en-US"/>
              <a:t>550545 	2 </a:t>
            </a:r>
            <a:endParaRPr lang="sk-SK" altLang="en-US"/>
          </a:p>
          <a:p>
            <a:pPr lvl="1"/>
            <a:r>
              <a:rPr lang="pt-BR" altLang="en-US"/>
              <a:t>550020 	4 </a:t>
            </a:r>
            <a:endParaRPr lang="sk-SK" altLang="en-US"/>
          </a:p>
          <a:p>
            <a:pPr lvl="1"/>
            <a:r>
              <a:rPr lang="pt-BR" altLang="en-US"/>
              <a:t>501567 	1 </a:t>
            </a:r>
            <a:endParaRPr lang="sk-SK" altLang="en-US"/>
          </a:p>
          <a:p>
            <a:pPr lvl="1"/>
            <a:r>
              <a:rPr lang="pt-BR" altLang="en-US"/>
              <a:t>501319 	3</a:t>
            </a:r>
            <a:endParaRPr lang="en-US" altLang="en-US"/>
          </a:p>
        </p:txBody>
      </p:sp>
    </p:spTree>
    <p:extLst>
      <p:ext uri="{BB962C8B-B14F-4D97-AF65-F5344CB8AC3E}">
        <p14:creationId xmlns:p14="http://schemas.microsoft.com/office/powerpoint/2010/main" val="83678115"/>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5"/>
            <a:ext cx="7818438" cy="600075"/>
          </a:xfrm>
        </p:spPr>
        <p:txBody>
          <a:bodyPr>
            <a:normAutofit fontScale="90000"/>
          </a:bodyPr>
          <a:lstStyle/>
          <a:p>
            <a:pPr algn="ctr">
              <a:defRPr/>
            </a:pPr>
            <a:r>
              <a:rPr lang="sk-SK"/>
              <a:t>Nesprávne použitie alias stĺpca</a:t>
            </a:r>
            <a:endParaRPr lang="en-US"/>
          </a:p>
        </p:txBody>
      </p:sp>
      <p:sp>
        <p:nvSpPr>
          <p:cNvPr id="45060" name="Obdĺžnik 4"/>
          <p:cNvSpPr>
            <a:spLocks noChangeArrowheads="1"/>
          </p:cNvSpPr>
          <p:nvPr/>
        </p:nvSpPr>
        <p:spPr bwMode="auto">
          <a:xfrm>
            <a:off x="581025" y="1670050"/>
            <a:ext cx="830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2400" b="1"/>
              <a:t>select </a:t>
            </a:r>
            <a:r>
              <a:rPr lang="sk-SK" altLang="en-US" sz="2400" b="1"/>
              <a:t>vyraz AS alias_stlpca</a:t>
            </a:r>
          </a:p>
          <a:p>
            <a:endParaRPr lang="en-US" altLang="en-US" sz="2400" b="1"/>
          </a:p>
        </p:txBody>
      </p:sp>
      <p:sp>
        <p:nvSpPr>
          <p:cNvPr id="6" name="Nadpis 1"/>
          <p:cNvSpPr txBox="1">
            <a:spLocks/>
          </p:cNvSpPr>
          <p:nvPr/>
        </p:nvSpPr>
        <p:spPr bwMode="auto">
          <a:xfrm>
            <a:off x="390525" y="493713"/>
            <a:ext cx="7818438" cy="1292225"/>
          </a:xfrm>
          <a:prstGeom prst="rect">
            <a:avLst/>
          </a:prstGeom>
          <a:noFill/>
          <a:ln w="9525">
            <a:noFill/>
            <a:miter lim="800000"/>
            <a:headEnd/>
            <a:tailEnd/>
          </a:ln>
          <a:effectLst/>
        </p:spPr>
        <p:txBody>
          <a:bodyPr lIns="0" rIns="0" anchor="ctr"/>
          <a:lstStyle>
            <a:lvl1pPr algn="l" rtl="0" eaLnBrk="0" fontAlgn="base" hangingPunct="0">
              <a:spcBef>
                <a:spcPct val="0"/>
              </a:spcBef>
              <a:spcAft>
                <a:spcPct val="0"/>
              </a:spcAft>
              <a:defRPr sz="22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2200" b="1">
                <a:solidFill>
                  <a:schemeClr val="tx1"/>
                </a:solidFill>
                <a:effectLst>
                  <a:outerShdw blurRad="38100" dist="38100" dir="2700000" algn="tl">
                    <a:srgbClr val="C0C0C0"/>
                  </a:outerShdw>
                </a:effectLst>
                <a:latin typeface="Arial" charset="0"/>
              </a:defRPr>
            </a:lvl2pPr>
            <a:lvl3pPr algn="l" rtl="0" eaLnBrk="0" fontAlgn="base" hangingPunct="0">
              <a:spcBef>
                <a:spcPct val="0"/>
              </a:spcBef>
              <a:spcAft>
                <a:spcPct val="0"/>
              </a:spcAft>
              <a:defRPr sz="2200" b="1">
                <a:solidFill>
                  <a:schemeClr val="tx1"/>
                </a:solidFill>
                <a:effectLst>
                  <a:outerShdw blurRad="38100" dist="38100" dir="2700000" algn="tl">
                    <a:srgbClr val="C0C0C0"/>
                  </a:outerShdw>
                </a:effectLst>
                <a:latin typeface="Arial" charset="0"/>
              </a:defRPr>
            </a:lvl3pPr>
            <a:lvl4pPr algn="l" rtl="0" eaLnBrk="0" fontAlgn="base" hangingPunct="0">
              <a:spcBef>
                <a:spcPct val="0"/>
              </a:spcBef>
              <a:spcAft>
                <a:spcPct val="0"/>
              </a:spcAft>
              <a:defRPr sz="2200" b="1">
                <a:solidFill>
                  <a:schemeClr val="tx1"/>
                </a:solidFill>
                <a:effectLst>
                  <a:outerShdw blurRad="38100" dist="38100" dir="2700000" algn="tl">
                    <a:srgbClr val="C0C0C0"/>
                  </a:outerShdw>
                </a:effectLst>
                <a:latin typeface="Arial" charset="0"/>
              </a:defRPr>
            </a:lvl4pPr>
            <a:lvl5pPr algn="l" rtl="0" eaLnBrk="0" fontAlgn="base" hangingPunct="0">
              <a:spcBef>
                <a:spcPct val="0"/>
              </a:spcBef>
              <a:spcAft>
                <a:spcPct val="0"/>
              </a:spcAft>
              <a:defRPr sz="2200" b="1">
                <a:solidFill>
                  <a:schemeClr val="tx1"/>
                </a:solidFill>
                <a:effectLst>
                  <a:outerShdw blurRad="38100" dist="38100" dir="2700000" algn="tl">
                    <a:srgbClr val="C0C0C0"/>
                  </a:outerShdw>
                </a:effectLst>
                <a:latin typeface="Arial" charset="0"/>
              </a:defRPr>
            </a:lvl5pPr>
            <a:lvl6pPr marL="457200" algn="l" rtl="0" fontAlgn="base">
              <a:spcBef>
                <a:spcPct val="0"/>
              </a:spcBef>
              <a:spcAft>
                <a:spcPct val="0"/>
              </a:spcAft>
              <a:defRPr sz="2200" b="1">
                <a:solidFill>
                  <a:schemeClr val="tx1"/>
                </a:solidFill>
                <a:effectLst>
                  <a:outerShdw blurRad="38100" dist="38100" dir="2700000" algn="tl">
                    <a:srgbClr val="C0C0C0"/>
                  </a:outerShdw>
                </a:effectLst>
                <a:latin typeface="Arial" charset="0"/>
              </a:defRPr>
            </a:lvl6pPr>
            <a:lvl7pPr marL="914400" algn="l" rtl="0" fontAlgn="base">
              <a:spcBef>
                <a:spcPct val="0"/>
              </a:spcBef>
              <a:spcAft>
                <a:spcPct val="0"/>
              </a:spcAft>
              <a:defRPr sz="2200" b="1">
                <a:solidFill>
                  <a:schemeClr val="tx1"/>
                </a:solidFill>
                <a:effectLst>
                  <a:outerShdw blurRad="38100" dist="38100" dir="2700000" algn="tl">
                    <a:srgbClr val="C0C0C0"/>
                  </a:outerShdw>
                </a:effectLst>
                <a:latin typeface="Arial" charset="0"/>
              </a:defRPr>
            </a:lvl7pPr>
            <a:lvl8pPr marL="1371600" algn="l" rtl="0" fontAlgn="base">
              <a:spcBef>
                <a:spcPct val="0"/>
              </a:spcBef>
              <a:spcAft>
                <a:spcPct val="0"/>
              </a:spcAft>
              <a:defRPr sz="2200" b="1">
                <a:solidFill>
                  <a:schemeClr val="tx1"/>
                </a:solidFill>
                <a:effectLst>
                  <a:outerShdw blurRad="38100" dist="38100" dir="2700000" algn="tl">
                    <a:srgbClr val="C0C0C0"/>
                  </a:outerShdw>
                </a:effectLst>
                <a:latin typeface="Arial" charset="0"/>
              </a:defRPr>
            </a:lvl8pPr>
            <a:lvl9pPr marL="1828800" algn="l" rtl="0" fontAlgn="base">
              <a:spcBef>
                <a:spcPct val="0"/>
              </a:spcBef>
              <a:spcAft>
                <a:spcPct val="0"/>
              </a:spcAft>
              <a:defRPr sz="2200" b="1">
                <a:solidFill>
                  <a:schemeClr val="tx1"/>
                </a:solidFill>
                <a:effectLst>
                  <a:outerShdw blurRad="38100" dist="38100" dir="2700000" algn="tl">
                    <a:srgbClr val="C0C0C0"/>
                  </a:outerShdw>
                </a:effectLst>
                <a:latin typeface="Arial" charset="0"/>
              </a:defRPr>
            </a:lvl9pPr>
          </a:lstStyle>
          <a:p>
            <a:pPr algn="ctr">
              <a:defRPr/>
            </a:pPr>
            <a:r>
              <a:rPr lang="sk-SK" b="0" baseline="-25000"/>
              <a:t>V časti </a:t>
            </a:r>
            <a:r>
              <a:rPr lang="sk-SK" b="0" baseline="-25000" err="1"/>
              <a:t>Select</a:t>
            </a:r>
            <a:r>
              <a:rPr lang="sk-SK" b="0" baseline="-25000"/>
              <a:t> za výrazom môžeme dopísať alias stĺpca, ktorý sa stane názvom stĺpca vo výsledku,</a:t>
            </a:r>
            <a:r>
              <a:rPr lang="sk-SK" b="0"/>
              <a:t> </a:t>
            </a:r>
            <a:r>
              <a:rPr lang="sk-SK" b="0" baseline="-25000">
                <a:solidFill>
                  <a:srgbClr val="FF0000"/>
                </a:solidFill>
              </a:rPr>
              <a:t>ale</a:t>
            </a:r>
            <a:r>
              <a:rPr lang="sk-SK" b="0">
                <a:solidFill>
                  <a:srgbClr val="FF0000"/>
                </a:solidFill>
              </a:rPr>
              <a:t> </a:t>
            </a:r>
            <a:r>
              <a:rPr lang="sk-SK" b="0" baseline="-25000">
                <a:solidFill>
                  <a:srgbClr val="FF0000"/>
                </a:solidFill>
              </a:rPr>
              <a:t>t</a:t>
            </a:r>
            <a:r>
              <a:rPr lang="en-US" b="0" baseline="-25000">
                <a:solidFill>
                  <a:srgbClr val="FF0000"/>
                </a:solidFill>
              </a:rPr>
              <a:t>e</a:t>
            </a:r>
            <a:r>
              <a:rPr lang="sk-SK" b="0" baseline="-25000" err="1">
                <a:solidFill>
                  <a:srgbClr val="FF0000"/>
                </a:solidFill>
              </a:rPr>
              <a:t>nto</a:t>
            </a:r>
            <a:r>
              <a:rPr lang="sk-SK" b="0" baseline="-25000">
                <a:solidFill>
                  <a:srgbClr val="FF0000"/>
                </a:solidFill>
              </a:rPr>
              <a:t> alias nie je možné použiť v inej časti </a:t>
            </a:r>
            <a:r>
              <a:rPr lang="sk-SK" b="0" baseline="-25000" err="1">
                <a:solidFill>
                  <a:srgbClr val="FF0000"/>
                </a:solidFill>
              </a:rPr>
              <a:t>selectu</a:t>
            </a:r>
            <a:r>
              <a:rPr lang="en-US" b="0" baseline="-25000">
                <a:solidFill>
                  <a:srgbClr val="FF0000"/>
                </a:solidFill>
              </a:rPr>
              <a:t>.</a:t>
            </a:r>
            <a:endParaRPr lang="en-US" kern="0">
              <a:solidFill>
                <a:srgbClr val="FF0000"/>
              </a:solidFill>
            </a:endParaRPr>
          </a:p>
        </p:txBody>
      </p:sp>
      <p:sp>
        <p:nvSpPr>
          <p:cNvPr id="45062" name="Obdĺžnik 6"/>
          <p:cNvSpPr>
            <a:spLocks noChangeArrowheads="1"/>
          </p:cNvSpPr>
          <p:nvPr/>
        </p:nvSpPr>
        <p:spPr bwMode="auto">
          <a:xfrm>
            <a:off x="444500" y="2144713"/>
            <a:ext cx="771207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a:t>Príklad:</a:t>
            </a:r>
          </a:p>
          <a:p>
            <a:endParaRPr lang="sk-SK" altLang="en-US"/>
          </a:p>
          <a:p>
            <a:r>
              <a:rPr lang="pt-BR" altLang="en-US" b="1"/>
              <a:t>select os_cislo, rocnik +1 AS novy_rocnik  </a:t>
            </a:r>
            <a:endParaRPr lang="sk-SK" altLang="en-US" b="1"/>
          </a:p>
          <a:p>
            <a:r>
              <a:rPr lang="pt-BR" altLang="en-US" b="1"/>
              <a:t>  from student</a:t>
            </a:r>
            <a:endParaRPr lang="sk-SK" altLang="en-US" b="1"/>
          </a:p>
          <a:p>
            <a:r>
              <a:rPr lang="en-US" altLang="en-US" b="1"/>
              <a:t>     </a:t>
            </a:r>
            <a:r>
              <a:rPr lang="sk-SK" altLang="en-US" b="1" err="1"/>
              <a:t>where</a:t>
            </a:r>
            <a:r>
              <a:rPr lang="sk-SK" altLang="en-US" b="1"/>
              <a:t> </a:t>
            </a:r>
            <a:r>
              <a:rPr lang="sk-SK" altLang="en-US" b="1" err="1"/>
              <a:t>novy_rocnik</a:t>
            </a:r>
            <a:r>
              <a:rPr lang="sk-SK" altLang="en-US" b="1"/>
              <a:t>=1;</a:t>
            </a:r>
          </a:p>
          <a:p>
            <a:endParaRPr lang="sk-SK" altLang="en-US" b="1" baseline="-25000">
              <a:solidFill>
                <a:srgbClr val="FF0000"/>
              </a:solidFill>
            </a:endParaRPr>
          </a:p>
          <a:p>
            <a:r>
              <a:rPr lang="sk-SK" altLang="en-US" sz="2800" b="1" baseline="-25000">
                <a:solidFill>
                  <a:srgbClr val="FF0000"/>
                </a:solidFill>
              </a:rPr>
              <a:t>S</a:t>
            </a:r>
            <a:r>
              <a:rPr lang="en-US" altLang="en-US" sz="2800" b="1" baseline="-25000">
                <a:solidFill>
                  <a:srgbClr val="FF0000"/>
                </a:solidFill>
              </a:rPr>
              <a:t>QL&gt; </a:t>
            </a:r>
            <a:r>
              <a:rPr lang="sk-SK" altLang="en-US" sz="2800" b="1" baseline="-25000">
                <a:solidFill>
                  <a:srgbClr val="FF0000"/>
                </a:solidFill>
              </a:rPr>
              <a:t>/</a:t>
            </a:r>
            <a:endParaRPr lang="en-US" altLang="en-US" sz="2800" b="1">
              <a:solidFill>
                <a:srgbClr val="FF0000"/>
              </a:solidFill>
            </a:endParaRPr>
          </a:p>
          <a:p>
            <a:r>
              <a:rPr lang="en-US" altLang="en-US" sz="2800" b="1" baseline="-25000">
                <a:solidFill>
                  <a:srgbClr val="FF0000"/>
                </a:solidFill>
              </a:rPr>
              <a:t>where </a:t>
            </a:r>
            <a:r>
              <a:rPr lang="en-US" altLang="en-US" sz="2800" b="1" baseline="-25000" err="1">
                <a:solidFill>
                  <a:srgbClr val="FF0000"/>
                </a:solidFill>
              </a:rPr>
              <a:t>novy_rocnik</a:t>
            </a:r>
            <a:r>
              <a:rPr lang="en-US" altLang="en-US" sz="2800" b="1" baseline="-25000">
                <a:solidFill>
                  <a:srgbClr val="FF0000"/>
                </a:solidFill>
              </a:rPr>
              <a:t> = 1 </a:t>
            </a:r>
            <a:endParaRPr lang="sk-SK" altLang="en-US" sz="2800" b="1" baseline="-25000">
              <a:solidFill>
                <a:srgbClr val="FF0000"/>
              </a:solidFill>
            </a:endParaRPr>
          </a:p>
          <a:p>
            <a:r>
              <a:rPr lang="en-US" altLang="en-US" sz="2800" b="1" baseline="-25000">
                <a:solidFill>
                  <a:srgbClr val="FF0000"/>
                </a:solidFill>
              </a:rPr>
              <a:t>ERROR at line 3:</a:t>
            </a:r>
            <a:endParaRPr lang="en-US" altLang="en-US" sz="2800" b="1">
              <a:solidFill>
                <a:srgbClr val="FF0000"/>
              </a:solidFill>
            </a:endParaRPr>
          </a:p>
          <a:p>
            <a:r>
              <a:rPr lang="en-US" altLang="en-US" sz="2800" b="1" baseline="-25000">
                <a:solidFill>
                  <a:srgbClr val="FF0000"/>
                </a:solidFill>
              </a:rPr>
              <a:t>ORA-00904: "NOVY_ROCNIK</a:t>
            </a:r>
            <a:r>
              <a:rPr lang="sk-SK" altLang="en-US" sz="2800" b="1" baseline="-25000">
                <a:solidFill>
                  <a:srgbClr val="FF0000"/>
                </a:solidFill>
              </a:rPr>
              <a:t>“</a:t>
            </a:r>
            <a:r>
              <a:rPr lang="en-US" altLang="en-US" sz="2800" b="1" baseline="-25000">
                <a:solidFill>
                  <a:srgbClr val="FF0000"/>
                </a:solidFill>
              </a:rPr>
              <a:t>: invalid identifier</a:t>
            </a:r>
            <a:endParaRPr lang="pt-BR" altLang="en-US" sz="2800" b="1">
              <a:solidFill>
                <a:srgbClr val="FF0000"/>
              </a:solidFill>
            </a:endParaRPr>
          </a:p>
          <a:p>
            <a:endParaRPr lang="sk-SK" altLang="en-US"/>
          </a:p>
        </p:txBody>
      </p:sp>
    </p:spTree>
    <p:extLst>
      <p:ext uri="{BB962C8B-B14F-4D97-AF65-F5344CB8AC3E}">
        <p14:creationId xmlns:p14="http://schemas.microsoft.com/office/powerpoint/2010/main" val="629302051"/>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44500" y="332656"/>
            <a:ext cx="7818438" cy="600075"/>
          </a:xfrm>
        </p:spPr>
        <p:txBody>
          <a:bodyPr>
            <a:normAutofit fontScale="90000"/>
          </a:bodyPr>
          <a:lstStyle/>
          <a:p>
            <a:pPr algn="ctr">
              <a:defRPr/>
            </a:pPr>
            <a:r>
              <a:rPr lang="sk-SK"/>
              <a:t>Použitie alias stĺpca ako nového stĺpca v tabuľke</a:t>
            </a:r>
            <a:endParaRPr lang="en-US"/>
          </a:p>
        </p:txBody>
      </p:sp>
      <p:sp>
        <p:nvSpPr>
          <p:cNvPr id="47108" name="Obdĺžnik 6"/>
          <p:cNvSpPr>
            <a:spLocks noChangeArrowheads="1"/>
          </p:cNvSpPr>
          <p:nvPr/>
        </p:nvSpPr>
        <p:spPr bwMode="auto">
          <a:xfrm>
            <a:off x="631825" y="1220069"/>
            <a:ext cx="7713663" cy="481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b="1"/>
              <a:t>CREATE TABLE </a:t>
            </a:r>
            <a:r>
              <a:rPr lang="sk-SK" altLang="en-US" b="1" err="1"/>
              <a:t>pom_tab</a:t>
            </a:r>
            <a:endParaRPr lang="sk-SK" altLang="en-US" b="1"/>
          </a:p>
          <a:p>
            <a:r>
              <a:rPr lang="sk-SK" altLang="en-US" b="1"/>
              <a:t>AS</a:t>
            </a:r>
          </a:p>
          <a:p>
            <a:r>
              <a:rPr lang="pt-BR" altLang="en-US" b="1"/>
              <a:t>select os_cislo, rocnik +1 AS novy_rocnik  </a:t>
            </a:r>
            <a:endParaRPr lang="sk-SK" altLang="en-US" b="1"/>
          </a:p>
          <a:p>
            <a:r>
              <a:rPr lang="sk-SK" altLang="en-US" b="1"/>
              <a:t>	</a:t>
            </a:r>
            <a:r>
              <a:rPr lang="pt-BR" altLang="en-US" b="1"/>
              <a:t>from student;</a:t>
            </a:r>
            <a:endParaRPr lang="sk-SK" altLang="en-US" b="1"/>
          </a:p>
          <a:p>
            <a:r>
              <a:rPr lang="sk-SK" altLang="en-US" b="1"/>
              <a:t>	</a:t>
            </a:r>
            <a:endParaRPr lang="sk-SK" altLang="en-US" b="1" baseline="-25000">
              <a:solidFill>
                <a:srgbClr val="FF0000"/>
              </a:solidFill>
            </a:endParaRPr>
          </a:p>
          <a:p>
            <a:r>
              <a:rPr lang="sk-SK" altLang="en-US" sz="2800" b="1" baseline="-25000">
                <a:solidFill>
                  <a:srgbClr val="FF0000"/>
                </a:solidFill>
              </a:rPr>
              <a:t>S</a:t>
            </a:r>
            <a:r>
              <a:rPr lang="en-US" altLang="en-US" sz="2800" b="1" baseline="-25000">
                <a:solidFill>
                  <a:srgbClr val="FF0000"/>
                </a:solidFill>
              </a:rPr>
              <a:t>QL&gt; </a:t>
            </a:r>
            <a:r>
              <a:rPr lang="sk-SK" altLang="en-US" sz="2800" b="1" baseline="-25000">
                <a:solidFill>
                  <a:srgbClr val="FF0000"/>
                </a:solidFill>
              </a:rPr>
              <a:t>/</a:t>
            </a:r>
            <a:endParaRPr lang="en-US" altLang="en-US" sz="2800" b="1">
              <a:solidFill>
                <a:srgbClr val="FF0000"/>
              </a:solidFill>
            </a:endParaRPr>
          </a:p>
          <a:p>
            <a:r>
              <a:rPr lang="sk-SK" altLang="en-US" sz="2800" b="1" baseline="-25000">
                <a:solidFill>
                  <a:srgbClr val="FF0000"/>
                </a:solidFill>
              </a:rPr>
              <a:t>Table </a:t>
            </a:r>
            <a:r>
              <a:rPr lang="sk-SK" altLang="en-US" sz="2800" b="1" baseline="-25000" err="1">
                <a:solidFill>
                  <a:srgbClr val="FF0000"/>
                </a:solidFill>
              </a:rPr>
              <a:t>created</a:t>
            </a:r>
            <a:r>
              <a:rPr lang="sk-SK" altLang="en-US" sz="2800" b="1" baseline="-25000">
                <a:solidFill>
                  <a:srgbClr val="FF0000"/>
                </a:solidFill>
              </a:rPr>
              <a:t>.</a:t>
            </a:r>
            <a:endParaRPr lang="en-US" altLang="en-US" sz="2800" b="1" baseline="-25000">
              <a:solidFill>
                <a:srgbClr val="FF0000"/>
              </a:solidFill>
            </a:endParaRPr>
          </a:p>
          <a:p>
            <a:endParaRPr lang="sk-SK" altLang="en-US" sz="2800" b="1" baseline="-25000">
              <a:solidFill>
                <a:srgbClr val="FF0000"/>
              </a:solidFill>
            </a:endParaRPr>
          </a:p>
          <a:p>
            <a:r>
              <a:rPr lang="sk-SK" altLang="en-US" sz="2800" b="1" baseline="-25000"/>
              <a:t>SQ</a:t>
            </a:r>
            <a:r>
              <a:rPr lang="en-US" altLang="en-US" sz="2800" b="1" baseline="-25000"/>
              <a:t>L&gt;</a:t>
            </a:r>
            <a:r>
              <a:rPr lang="en-US" altLang="en-US" sz="2800" b="1"/>
              <a:t> </a:t>
            </a:r>
            <a:r>
              <a:rPr lang="en-US" altLang="en-US" sz="2800" b="1" baseline="-25000" err="1"/>
              <a:t>desc</a:t>
            </a:r>
            <a:r>
              <a:rPr lang="en-US" altLang="en-US" sz="2800" b="1" baseline="-25000"/>
              <a:t> </a:t>
            </a:r>
            <a:r>
              <a:rPr lang="en-US" altLang="en-US" sz="2800" b="1" baseline="-25000" err="1"/>
              <a:t>pom_tab</a:t>
            </a:r>
            <a:endParaRPr lang="sk-SK" altLang="en-US" sz="2800" b="1" baseline="-25000"/>
          </a:p>
          <a:p>
            <a:r>
              <a:rPr lang="en-US" altLang="en-US" sz="2800" b="1" baseline="-25000"/>
              <a:t>Name		NULL?</a:t>
            </a:r>
            <a:r>
              <a:rPr lang="en-US" altLang="en-US" sz="2800" b="1"/>
              <a:t> 		</a:t>
            </a:r>
            <a:r>
              <a:rPr lang="en-US" altLang="en-US" sz="2800" b="1" baseline="-25000"/>
              <a:t>TYPE</a:t>
            </a:r>
          </a:p>
          <a:p>
            <a:r>
              <a:rPr lang="en-US" altLang="en-US" sz="2800" b="1" baseline="-25000"/>
              <a:t>___________________________________________</a:t>
            </a:r>
          </a:p>
          <a:p>
            <a:r>
              <a:rPr lang="en-US" altLang="en-US" sz="2800" b="1" baseline="-25000"/>
              <a:t>OS_CISLO	NOT NULL	NUMBER(38)</a:t>
            </a:r>
          </a:p>
          <a:p>
            <a:r>
              <a:rPr lang="en-US" altLang="en-US" sz="2800" b="1" baseline="-25000"/>
              <a:t>NOVY_ROCNIK			NUMBER</a:t>
            </a:r>
            <a:endParaRPr lang="pt-BR" altLang="en-US" sz="2800" b="1"/>
          </a:p>
          <a:p>
            <a:endParaRPr lang="sk-SK" altLang="en-US"/>
          </a:p>
        </p:txBody>
      </p:sp>
    </p:spTree>
    <p:extLst>
      <p:ext uri="{BB962C8B-B14F-4D97-AF65-F5344CB8AC3E}">
        <p14:creationId xmlns:p14="http://schemas.microsoft.com/office/powerpoint/2010/main" val="1822603592"/>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5536" y="548680"/>
            <a:ext cx="8352928" cy="600075"/>
          </a:xfrm>
        </p:spPr>
        <p:txBody>
          <a:bodyPr>
            <a:normAutofit fontScale="90000"/>
          </a:bodyPr>
          <a:lstStyle/>
          <a:p>
            <a:pPr>
              <a:defRPr/>
            </a:pPr>
            <a:r>
              <a:rPr lang="sk-SK"/>
              <a:t>Použitie alias</a:t>
            </a:r>
            <a:r>
              <a:rPr lang="en-US" err="1"/>
              <a:t>ov</a:t>
            </a:r>
            <a:r>
              <a:rPr lang="en-US"/>
              <a:t> </a:t>
            </a:r>
            <a:r>
              <a:rPr lang="en-US" err="1"/>
              <a:t>kompletn</a:t>
            </a:r>
            <a:r>
              <a:rPr lang="sk-SK"/>
              <a:t>é použitie</a:t>
            </a:r>
            <a:br>
              <a:rPr lang="en-US"/>
            </a:br>
            <a:r>
              <a:rPr lang="sk-SK"/>
              <a:t>príklad</a:t>
            </a:r>
            <a:br>
              <a:rPr lang="sk-SK"/>
            </a:br>
            <a:endParaRPr lang="en-US"/>
          </a:p>
        </p:txBody>
      </p:sp>
      <p:sp>
        <p:nvSpPr>
          <p:cNvPr id="49156" name="Obdĺžnik 6"/>
          <p:cNvSpPr>
            <a:spLocks noChangeArrowheads="1"/>
          </p:cNvSpPr>
          <p:nvPr/>
        </p:nvSpPr>
        <p:spPr bwMode="auto">
          <a:xfrm>
            <a:off x="631825" y="1081088"/>
            <a:ext cx="7713663"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pt-BR" altLang="en-US" sz="3200" b="1" baseline="-25000"/>
              <a:t>SELECT ou .rod_cislo AS rc , meno, priezvisko AS priezv FROM os_udaje ou ;</a:t>
            </a:r>
            <a:endParaRPr lang="pt-BR" altLang="en-US" sz="3200" b="1"/>
          </a:p>
          <a:p>
            <a:endParaRPr lang="sk-SK" altLang="en-US" sz="3200" baseline="-25000">
              <a:solidFill>
                <a:srgbClr val="FF0000"/>
              </a:solidFill>
            </a:endParaRPr>
          </a:p>
          <a:p>
            <a:endParaRPr lang="sk-SK" altLang="en-US"/>
          </a:p>
        </p:txBody>
      </p:sp>
      <p:sp>
        <p:nvSpPr>
          <p:cNvPr id="49157" name="Obdĺžnik 2"/>
          <p:cNvSpPr>
            <a:spLocks noChangeArrowheads="1"/>
          </p:cNvSpPr>
          <p:nvPr/>
        </p:nvSpPr>
        <p:spPr bwMode="auto">
          <a:xfrm>
            <a:off x="1003300" y="2219325"/>
            <a:ext cx="6321425"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RC	</a:t>
            </a:r>
            <a:r>
              <a:rPr lang="sk-SK" altLang="en-US"/>
              <a:t>	</a:t>
            </a:r>
            <a:r>
              <a:rPr lang="en-US" altLang="en-US"/>
              <a:t>MENO	</a:t>
            </a:r>
            <a:r>
              <a:rPr lang="sk-SK" altLang="en-US"/>
              <a:t>	</a:t>
            </a:r>
            <a:r>
              <a:rPr lang="en-US" altLang="en-US"/>
              <a:t>PRIEZV</a:t>
            </a:r>
          </a:p>
          <a:p>
            <a:r>
              <a:rPr lang="en-US" altLang="en-US"/>
              <a:t>841106/3456	Peter	</a:t>
            </a:r>
            <a:r>
              <a:rPr lang="sk-SK" altLang="en-US"/>
              <a:t>	</a:t>
            </a:r>
            <a:r>
              <a:rPr lang="en-US" altLang="en-US" err="1"/>
              <a:t>Novák</a:t>
            </a:r>
            <a:endParaRPr lang="en-US" altLang="en-US"/>
          </a:p>
          <a:p>
            <a:r>
              <a:rPr lang="en-US" altLang="en-US"/>
              <a:t>840312/7845	Stanislav	</a:t>
            </a:r>
            <a:r>
              <a:rPr lang="en-US" altLang="en-US" err="1"/>
              <a:t>Steinmuller</a:t>
            </a:r>
            <a:endParaRPr lang="en-US" altLang="en-US"/>
          </a:p>
          <a:p>
            <a:r>
              <a:rPr lang="en-US" altLang="en-US"/>
              <a:t>860907/1259	Janos	</a:t>
            </a:r>
            <a:r>
              <a:rPr lang="sk-SK" altLang="en-US"/>
              <a:t>	</a:t>
            </a:r>
            <a:r>
              <a:rPr lang="en-US" altLang="en-US" err="1"/>
              <a:t>Toth</a:t>
            </a:r>
            <a:endParaRPr lang="en-US" altLang="en-US"/>
          </a:p>
          <a:p>
            <a:r>
              <a:rPr lang="en-US" altLang="en-US"/>
              <a:t>850130/3695	Marek	</a:t>
            </a:r>
            <a:r>
              <a:rPr lang="sk-SK" altLang="en-US"/>
              <a:t>	</a:t>
            </a:r>
            <a:r>
              <a:rPr lang="en-US" altLang="en-US" err="1"/>
              <a:t>Ratroch</a:t>
            </a:r>
            <a:endParaRPr lang="en-US" altLang="en-US"/>
          </a:p>
          <a:p>
            <a:r>
              <a:rPr lang="en-US" altLang="en-US"/>
              <a:t>841201/1248	</a:t>
            </a:r>
            <a:r>
              <a:rPr lang="en-US" altLang="en-US" err="1"/>
              <a:t>Bohuslav</a:t>
            </a:r>
            <a:r>
              <a:rPr lang="en-US" altLang="en-US"/>
              <a:t>	</a:t>
            </a:r>
            <a:r>
              <a:rPr lang="en-US" altLang="en-US" err="1"/>
              <a:t>Biely</a:t>
            </a:r>
            <a:endParaRPr lang="en-US" altLang="en-US"/>
          </a:p>
          <a:p>
            <a:r>
              <a:rPr lang="en-US" altLang="en-US"/>
              <a:t>830514/5341	Branislav	</a:t>
            </a:r>
            <a:r>
              <a:rPr lang="en-US" altLang="en-US" err="1"/>
              <a:t>Balaz</a:t>
            </a:r>
            <a:endParaRPr lang="en-US" altLang="en-US"/>
          </a:p>
          <a:p>
            <a:r>
              <a:rPr lang="en-US" altLang="en-US"/>
              <a:t>781015/4431	Peter	</a:t>
            </a:r>
            <a:r>
              <a:rPr lang="sk-SK" altLang="en-US"/>
              <a:t>	</a:t>
            </a:r>
            <a:r>
              <a:rPr lang="en-US" altLang="en-US" err="1"/>
              <a:t>Kapustný</a:t>
            </a:r>
            <a:endParaRPr lang="en-US" altLang="en-US"/>
          </a:p>
          <a:p>
            <a:r>
              <a:rPr lang="en-US" altLang="en-US"/>
              <a:t>800407/3522	Marek	</a:t>
            </a:r>
            <a:r>
              <a:rPr lang="sk-SK" altLang="en-US"/>
              <a:t>	</a:t>
            </a:r>
            <a:r>
              <a:rPr lang="en-US" altLang="en-US" err="1"/>
              <a:t>Durica</a:t>
            </a:r>
            <a:endParaRPr lang="en-US" altLang="en-US"/>
          </a:p>
          <a:p>
            <a:r>
              <a:rPr lang="en-US" altLang="en-US"/>
              <a:t>791229/5431	Martin	</a:t>
            </a:r>
            <a:r>
              <a:rPr lang="sk-SK" altLang="en-US"/>
              <a:t>	</a:t>
            </a:r>
            <a:r>
              <a:rPr lang="en-US" altLang="en-US" err="1"/>
              <a:t>Kluciar</a:t>
            </a:r>
            <a:endParaRPr lang="en-US" altLang="en-US"/>
          </a:p>
          <a:p>
            <a:r>
              <a:rPr lang="sk-SK" altLang="en-US"/>
              <a:t>...</a:t>
            </a:r>
            <a:endParaRPr lang="en-US" altLang="en-US"/>
          </a:p>
        </p:txBody>
      </p:sp>
    </p:spTree>
    <p:extLst>
      <p:ext uri="{BB962C8B-B14F-4D97-AF65-F5344CB8AC3E}">
        <p14:creationId xmlns:p14="http://schemas.microsoft.com/office/powerpoint/2010/main" val="1025893650"/>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762000" y="2057400"/>
            <a:ext cx="7772400" cy="2362200"/>
          </a:xfrm>
        </p:spPr>
        <p:txBody>
          <a:bodyPr/>
          <a:lstStyle/>
          <a:p>
            <a:pPr>
              <a:defRPr/>
            </a:pPr>
            <a:r>
              <a:rPr lang="en-US" sz="5400" err="1"/>
              <a:t>Pr</a:t>
            </a:r>
            <a:r>
              <a:rPr lang="sk-SK" sz="5400" err="1"/>
              <a:t>áca</a:t>
            </a:r>
            <a:r>
              <a:rPr lang="sk-SK" sz="5400"/>
              <a:t> s viacerými </a:t>
            </a:r>
            <a:br>
              <a:rPr lang="sk-SK" sz="5400"/>
            </a:br>
            <a:r>
              <a:rPr lang="sk-SK" sz="5400"/>
              <a:t>tabuľkami</a:t>
            </a:r>
          </a:p>
        </p:txBody>
      </p:sp>
    </p:spTree>
    <p:extLst>
      <p:ext uri="{BB962C8B-B14F-4D97-AF65-F5344CB8AC3E}">
        <p14:creationId xmlns:p14="http://schemas.microsoft.com/office/powerpoint/2010/main" val="1070076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pPr>
              <a:defRPr/>
            </a:pPr>
            <a:r>
              <a:rPr lang="sk-SK"/>
              <a:t>Základné typy spojení</a:t>
            </a:r>
            <a:endParaRPr lang="en-US"/>
          </a:p>
        </p:txBody>
      </p:sp>
      <p:sp>
        <p:nvSpPr>
          <p:cNvPr id="53251" name="Zástupný objekt pre pätu 2"/>
          <p:cNvSpPr>
            <a:spLocks noGrp="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de-DE" altLang="en-US" sz="1400" b="1"/>
          </a:p>
        </p:txBody>
      </p:sp>
      <p:sp>
        <p:nvSpPr>
          <p:cNvPr id="53252" name="Obdĺžnik 3"/>
          <p:cNvSpPr>
            <a:spLocks noChangeArrowheads="1"/>
          </p:cNvSpPr>
          <p:nvPr/>
        </p:nvSpPr>
        <p:spPr bwMode="auto">
          <a:xfrm>
            <a:off x="390525" y="1309688"/>
            <a:ext cx="8226425"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b="1" dirty="0" err="1"/>
              <a:t>tabulka_A</a:t>
            </a:r>
            <a:r>
              <a:rPr lang="en-US" altLang="en-US" b="1" dirty="0"/>
              <a:t> </a:t>
            </a:r>
            <a:r>
              <a:rPr lang="sk-SK" altLang="en-US" b="1" dirty="0"/>
              <a:t> </a:t>
            </a:r>
            <a:r>
              <a:rPr lang="en-US" altLang="en-US" b="1" dirty="0"/>
              <a:t>{LEFT | RIGHT | FULL </a:t>
            </a:r>
            <a:r>
              <a:rPr lang="sk-SK" altLang="en-US" b="1" dirty="0"/>
              <a:t> OUTER</a:t>
            </a:r>
            <a:r>
              <a:rPr lang="en-US" altLang="en-US" b="1" dirty="0"/>
              <a:t>} JOIN tabu</a:t>
            </a:r>
            <a:r>
              <a:rPr lang="sk-SK" altLang="en-US" b="1" dirty="0"/>
              <a:t>l</a:t>
            </a:r>
            <a:r>
              <a:rPr lang="en-US" altLang="en-US" b="1" dirty="0" err="1"/>
              <a:t>ka_B</a:t>
            </a:r>
            <a:endParaRPr lang="sk-SK" altLang="en-US" b="1" dirty="0"/>
          </a:p>
          <a:p>
            <a:r>
              <a:rPr lang="en-US" altLang="en-US" b="1" dirty="0"/>
              <a:t>{	ON ( </a:t>
            </a:r>
            <a:r>
              <a:rPr lang="en-US" altLang="en-US" b="1" dirty="0" err="1"/>
              <a:t>podmienky_spojenia</a:t>
            </a:r>
            <a:r>
              <a:rPr lang="en-US" altLang="en-US" b="1" dirty="0"/>
              <a:t>)</a:t>
            </a:r>
          </a:p>
          <a:p>
            <a:r>
              <a:rPr lang="sk-SK" altLang="en-US" b="1" dirty="0"/>
              <a:t>	</a:t>
            </a:r>
            <a:r>
              <a:rPr lang="en-US" altLang="en-US" b="1" dirty="0"/>
              <a:t>I</a:t>
            </a:r>
          </a:p>
          <a:p>
            <a:r>
              <a:rPr lang="sk-SK" altLang="en-US" b="1" dirty="0"/>
              <a:t>	</a:t>
            </a:r>
            <a:r>
              <a:rPr lang="en-US" altLang="en-US" b="1" dirty="0"/>
              <a:t>USING( </a:t>
            </a:r>
            <a:r>
              <a:rPr lang="en-US" altLang="en-US" b="1" dirty="0" err="1"/>
              <a:t>zoznam_stlpcov</a:t>
            </a:r>
            <a:r>
              <a:rPr lang="en-US" altLang="en-US" b="1" dirty="0"/>
              <a:t>)</a:t>
            </a:r>
          </a:p>
          <a:p>
            <a:r>
              <a:rPr lang="en-US" altLang="en-US" dirty="0"/>
              <a:t>}</a:t>
            </a:r>
            <a:endParaRPr lang="sk-SK" altLang="en-US" dirty="0"/>
          </a:p>
          <a:p>
            <a:endParaRPr lang="en-US" altLang="en-US" dirty="0"/>
          </a:p>
          <a:p>
            <a:r>
              <a:rPr lang="en-US" altLang="en-US" dirty="0"/>
              <a:t>USING - je </a:t>
            </a:r>
            <a:r>
              <a:rPr lang="en-US" altLang="en-US" dirty="0" err="1"/>
              <a:t>možné</a:t>
            </a:r>
            <a:r>
              <a:rPr lang="en-US" altLang="en-US" dirty="0"/>
              <a:t> </a:t>
            </a:r>
            <a:r>
              <a:rPr lang="en-US" altLang="en-US" dirty="0" err="1"/>
              <a:t>použiť</a:t>
            </a:r>
            <a:r>
              <a:rPr lang="en-US" altLang="en-US" dirty="0"/>
              <a:t> </a:t>
            </a:r>
            <a:r>
              <a:rPr lang="en-US" altLang="en-US" dirty="0" err="1"/>
              <a:t>len</a:t>
            </a:r>
            <a:r>
              <a:rPr lang="en-US" altLang="en-US" dirty="0"/>
              <a:t> v </a:t>
            </a:r>
            <a:r>
              <a:rPr lang="en-US" altLang="en-US" dirty="0" err="1"/>
              <a:t>prípade</a:t>
            </a:r>
            <a:r>
              <a:rPr lang="en-US" altLang="en-US" dirty="0"/>
              <a:t>, </a:t>
            </a:r>
            <a:r>
              <a:rPr lang="en-US" altLang="en-US" dirty="0" err="1"/>
              <a:t>že</a:t>
            </a:r>
            <a:r>
              <a:rPr lang="en-US" altLang="en-US" dirty="0"/>
              <a:t> </a:t>
            </a:r>
            <a:r>
              <a:rPr lang="en-US" altLang="en-US" dirty="0" err="1"/>
              <a:t>atribúty</a:t>
            </a:r>
            <a:r>
              <a:rPr lang="en-US" altLang="en-US" dirty="0"/>
              <a:t> </a:t>
            </a:r>
            <a:r>
              <a:rPr lang="en-US" altLang="en-US" dirty="0" err="1"/>
              <a:t>primárneho</a:t>
            </a:r>
            <a:r>
              <a:rPr lang="en-US" altLang="en-US" dirty="0"/>
              <a:t> a </a:t>
            </a:r>
            <a:r>
              <a:rPr lang="en-US" altLang="en-US" dirty="0" err="1"/>
              <a:t>cudzieho</a:t>
            </a:r>
            <a:r>
              <a:rPr lang="en-US" altLang="en-US" dirty="0"/>
              <a:t> </a:t>
            </a:r>
            <a:r>
              <a:rPr lang="en-US" altLang="en-US" dirty="0" err="1"/>
              <a:t>kľúča</a:t>
            </a:r>
            <a:r>
              <a:rPr lang="en-US" altLang="en-US" dirty="0"/>
              <a:t> </a:t>
            </a:r>
            <a:r>
              <a:rPr lang="en-US" altLang="en-US" dirty="0" err="1"/>
              <a:t>majú</a:t>
            </a:r>
            <a:r>
              <a:rPr lang="en-US" altLang="en-US" dirty="0"/>
              <a:t> </a:t>
            </a:r>
            <a:r>
              <a:rPr lang="en-US" altLang="en-US" dirty="0" err="1"/>
              <a:t>rovnaké</a:t>
            </a:r>
            <a:r>
              <a:rPr lang="en-US" altLang="en-US" dirty="0"/>
              <a:t> </a:t>
            </a:r>
            <a:r>
              <a:rPr lang="en-US" altLang="en-US" dirty="0" err="1"/>
              <a:t>meno</a:t>
            </a:r>
            <a:r>
              <a:rPr lang="en-US" altLang="en-US" dirty="0"/>
              <a:t>. Pri </a:t>
            </a:r>
            <a:r>
              <a:rPr lang="en-US" altLang="en-US" dirty="0" err="1"/>
              <a:t>stĺpcoch</a:t>
            </a:r>
            <a:r>
              <a:rPr lang="en-US" altLang="en-US" dirty="0"/>
              <a:t> </a:t>
            </a:r>
            <a:r>
              <a:rPr lang="en-US" altLang="en-US" dirty="0" err="1"/>
              <a:t>použitých</a:t>
            </a:r>
            <a:r>
              <a:rPr lang="en-US" altLang="en-US" dirty="0"/>
              <a:t> v </a:t>
            </a:r>
            <a:r>
              <a:rPr lang="en-US" altLang="en-US" dirty="0" err="1"/>
              <a:t>klauzule</a:t>
            </a:r>
            <a:r>
              <a:rPr lang="en-US" altLang="en-US" dirty="0"/>
              <a:t> USING </a:t>
            </a:r>
            <a:r>
              <a:rPr lang="en-US" altLang="en-US" dirty="0" err="1"/>
              <a:t>nie</a:t>
            </a:r>
            <a:r>
              <a:rPr lang="en-US" altLang="en-US" dirty="0"/>
              <a:t> je </a:t>
            </a:r>
            <a:r>
              <a:rPr lang="en-US" altLang="en-US" dirty="0" err="1"/>
              <a:t>možné</a:t>
            </a:r>
            <a:r>
              <a:rPr lang="en-US" altLang="en-US" dirty="0"/>
              <a:t> </a:t>
            </a:r>
            <a:r>
              <a:rPr lang="en-US" altLang="en-US" dirty="0" err="1"/>
              <a:t>používať</a:t>
            </a:r>
            <a:r>
              <a:rPr lang="en-US" altLang="en-US" dirty="0"/>
              <a:t> alias </a:t>
            </a:r>
            <a:r>
              <a:rPr lang="en-US" altLang="en-US" dirty="0" err="1"/>
              <a:t>tabuľky</a:t>
            </a:r>
            <a:r>
              <a:rPr lang="en-US" altLang="en-US" dirty="0"/>
              <a:t>.</a:t>
            </a:r>
          </a:p>
          <a:p>
            <a:endParaRPr lang="sk-SK" altLang="en-US" dirty="0"/>
          </a:p>
          <a:p>
            <a:r>
              <a:rPr lang="en-US" altLang="en-US" dirty="0"/>
              <a:t>ON - je </a:t>
            </a:r>
            <a:r>
              <a:rPr lang="en-US" altLang="en-US" dirty="0" err="1"/>
              <a:t>možné</a:t>
            </a:r>
            <a:r>
              <a:rPr lang="en-US" altLang="en-US" dirty="0"/>
              <a:t> </a:t>
            </a:r>
            <a:r>
              <a:rPr lang="en-US" altLang="en-US" dirty="0" err="1"/>
              <a:t>využiť</a:t>
            </a:r>
            <a:r>
              <a:rPr lang="en-US" altLang="en-US" dirty="0"/>
              <a:t> </a:t>
            </a:r>
            <a:r>
              <a:rPr lang="en-US" altLang="en-US" dirty="0" err="1"/>
              <a:t>vždy</a:t>
            </a:r>
            <a:r>
              <a:rPr lang="en-US" altLang="en-US" dirty="0"/>
              <a:t>. V </a:t>
            </a:r>
            <a:r>
              <a:rPr lang="en-US" altLang="en-US" dirty="0" err="1"/>
              <a:t>tomto</a:t>
            </a:r>
            <a:r>
              <a:rPr lang="en-US" altLang="en-US" dirty="0"/>
              <a:t> </a:t>
            </a:r>
            <a:r>
              <a:rPr lang="en-US" altLang="en-US" dirty="0" err="1"/>
              <a:t>prípade</a:t>
            </a:r>
            <a:r>
              <a:rPr lang="en-US" altLang="en-US" dirty="0"/>
              <a:t> je </a:t>
            </a:r>
            <a:r>
              <a:rPr lang="en-US" altLang="en-US" dirty="0" err="1"/>
              <a:t>nutné</a:t>
            </a:r>
            <a:r>
              <a:rPr lang="en-US" altLang="en-US" dirty="0"/>
              <a:t> </a:t>
            </a:r>
            <a:r>
              <a:rPr lang="en-US" altLang="en-US" dirty="0" err="1"/>
              <a:t>používať</a:t>
            </a:r>
            <a:r>
              <a:rPr lang="en-US" altLang="en-US" dirty="0"/>
              <a:t> alias </a:t>
            </a:r>
            <a:r>
              <a:rPr lang="en-US" altLang="en-US" dirty="0" err="1"/>
              <a:t>tabuľky</a:t>
            </a:r>
            <a:r>
              <a:rPr lang="en-US" altLang="en-US" dirty="0"/>
              <a:t>.</a:t>
            </a:r>
          </a:p>
        </p:txBody>
      </p:sp>
    </p:spTree>
    <p:extLst>
      <p:ext uri="{BB962C8B-B14F-4D97-AF65-F5344CB8AC3E}">
        <p14:creationId xmlns:p14="http://schemas.microsoft.com/office/powerpoint/2010/main" val="3457963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pPr algn="ctr">
              <a:defRPr/>
            </a:pPr>
            <a:r>
              <a:rPr lang="en-US"/>
              <a:t>T</a:t>
            </a:r>
            <a:r>
              <a:rPr lang="sk-SK" err="1"/>
              <a:t>ypy</a:t>
            </a:r>
            <a:r>
              <a:rPr lang="sk-SK"/>
              <a:t> </a:t>
            </a:r>
            <a:r>
              <a:rPr lang="sk-SK" err="1"/>
              <a:t>spojen</a:t>
            </a:r>
            <a:r>
              <a:rPr lang="en-US" err="1"/>
              <a:t>ia</a:t>
            </a:r>
            <a:r>
              <a:rPr lang="en-US"/>
              <a:t> USING</a:t>
            </a:r>
          </a:p>
        </p:txBody>
      </p:sp>
      <p:sp>
        <p:nvSpPr>
          <p:cNvPr id="54275" name="Zástupný objekt pre pätu 2"/>
          <p:cNvSpPr>
            <a:spLocks noGrp="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de-DE" altLang="en-US" sz="1400" b="1"/>
          </a:p>
        </p:txBody>
      </p:sp>
      <p:sp>
        <p:nvSpPr>
          <p:cNvPr id="4" name="Obdĺžnik 3"/>
          <p:cNvSpPr/>
          <p:nvPr/>
        </p:nvSpPr>
        <p:spPr>
          <a:xfrm>
            <a:off x="390525" y="1309688"/>
            <a:ext cx="8475663" cy="3570208"/>
          </a:xfrm>
          <a:prstGeom prst="rect">
            <a:avLst/>
          </a:prstGeom>
        </p:spPr>
        <p:txBody>
          <a:bodyPr>
            <a:spAutoFit/>
          </a:bodyPr>
          <a:lstStyle/>
          <a:p>
            <a:pPr>
              <a:defRPr/>
            </a:pPr>
            <a:r>
              <a:rPr lang="en-US" sz="3200" b="1" baseline="-25000"/>
              <a:t>SELECT</a:t>
            </a:r>
            <a:r>
              <a:rPr lang="sk-SK" sz="3200" b="1" baseline="-25000"/>
              <a:t> </a:t>
            </a:r>
            <a:r>
              <a:rPr lang="en-US" sz="3200" b="1" baseline="-25000" err="1"/>
              <a:t>rod_cislo</a:t>
            </a:r>
            <a:r>
              <a:rPr lang="en-US" sz="3200" b="1" baseline="-25000"/>
              <a:t> , </a:t>
            </a:r>
            <a:r>
              <a:rPr lang="en-US" sz="3200" b="1" baseline="-25000" err="1"/>
              <a:t>st.os_cislo</a:t>
            </a:r>
            <a:r>
              <a:rPr lang="en-US" sz="3200" b="1" baseline="-25000"/>
              <a:t>, </a:t>
            </a:r>
            <a:r>
              <a:rPr lang="en-US" sz="3200" b="1" baseline="-25000" err="1"/>
              <a:t>ou.meno</a:t>
            </a:r>
            <a:r>
              <a:rPr lang="en-US" sz="3200" b="1" baseline="-25000"/>
              <a:t>, </a:t>
            </a:r>
            <a:r>
              <a:rPr lang="en-US" sz="3200" b="1" baseline="-25000" err="1"/>
              <a:t>ou</a:t>
            </a:r>
            <a:r>
              <a:rPr lang="en-US" sz="3200" b="1" baseline="-25000"/>
              <a:t>.</a:t>
            </a:r>
            <a:r>
              <a:rPr lang="sk-SK" sz="3200" b="1" baseline="-25000"/>
              <a:t>priezvisko </a:t>
            </a:r>
            <a:endParaRPr lang="en-US" sz="3200"/>
          </a:p>
          <a:p>
            <a:pPr>
              <a:defRPr/>
            </a:pPr>
            <a:r>
              <a:rPr lang="en-US" sz="3200" b="1" baseline="-25000"/>
              <a:t>FROM</a:t>
            </a:r>
            <a:r>
              <a:rPr lang="sk-SK" sz="3200" b="1" baseline="-25000"/>
              <a:t> </a:t>
            </a:r>
            <a:r>
              <a:rPr lang="en-US" sz="3200" b="1" baseline="-25000" err="1"/>
              <a:t>os_udaje</a:t>
            </a:r>
            <a:r>
              <a:rPr lang="en-US" sz="3200" b="1" baseline="-25000"/>
              <a:t> </a:t>
            </a:r>
            <a:r>
              <a:rPr lang="en-US" sz="3200" b="1" baseline="-25000" err="1"/>
              <a:t>ou</a:t>
            </a:r>
            <a:r>
              <a:rPr lang="en-US" sz="3200" b="1" baseline="-25000"/>
              <a:t> JOIN student </a:t>
            </a:r>
            <a:r>
              <a:rPr lang="en-US" sz="3200" b="1" baseline="-25000" err="1"/>
              <a:t>st</a:t>
            </a:r>
            <a:r>
              <a:rPr lang="en-US" sz="3200" b="1" baseline="-25000"/>
              <a:t> </a:t>
            </a:r>
            <a:r>
              <a:rPr lang="en-US" sz="3200" b="1" baseline="-25000">
                <a:solidFill>
                  <a:srgbClr val="FF0000"/>
                </a:solidFill>
              </a:rPr>
              <a:t>USING</a:t>
            </a:r>
            <a:r>
              <a:rPr lang="en-US" sz="3200" b="1" baseline="-25000"/>
              <a:t> ( </a:t>
            </a:r>
            <a:r>
              <a:rPr lang="en-US" sz="3200" b="1" baseline="-25000" err="1"/>
              <a:t>rod_cislo</a:t>
            </a:r>
            <a:r>
              <a:rPr lang="en-US" sz="3200" b="1" baseline="-25000"/>
              <a:t> )</a:t>
            </a:r>
            <a:r>
              <a:rPr lang="sk-SK" sz="3200" b="1" baseline="-25000"/>
              <a:t>;</a:t>
            </a:r>
            <a:endParaRPr lang="en-US" sz="3200"/>
          </a:p>
          <a:p>
            <a:pPr>
              <a:defRPr/>
            </a:pPr>
            <a:endParaRPr lang="en-US"/>
          </a:p>
          <a:p>
            <a:pPr>
              <a:defRPr/>
            </a:pPr>
            <a:endParaRPr lang="en-US"/>
          </a:p>
          <a:p>
            <a:pPr>
              <a:defRPr/>
            </a:pPr>
            <a:r>
              <a:rPr lang="en-US" err="1"/>
              <a:t>Pozn</a:t>
            </a:r>
            <a:r>
              <a:rPr lang="sk-SK"/>
              <a:t>á</a:t>
            </a:r>
            <a:r>
              <a:rPr lang="en-US" err="1"/>
              <a:t>mka</a:t>
            </a:r>
            <a:r>
              <a:rPr lang="sk-SK"/>
              <a:t>:</a:t>
            </a:r>
          </a:p>
          <a:p>
            <a:pPr>
              <a:defRPr/>
            </a:pPr>
            <a:endParaRPr lang="sk-SK"/>
          </a:p>
          <a:p>
            <a:pPr marL="342900" indent="-342900">
              <a:buFont typeface="Arial" panose="020B0604020202020204" pitchFamily="34" charset="0"/>
              <a:buChar char="•"/>
              <a:defRPr/>
            </a:pPr>
            <a:r>
              <a:rPr lang="en-US"/>
              <a:t>USING - je </a:t>
            </a:r>
            <a:r>
              <a:rPr lang="en-US" err="1"/>
              <a:t>možné</a:t>
            </a:r>
            <a:r>
              <a:rPr lang="en-US"/>
              <a:t> </a:t>
            </a:r>
            <a:r>
              <a:rPr lang="en-US" err="1"/>
              <a:t>použiť</a:t>
            </a:r>
            <a:r>
              <a:rPr lang="en-US"/>
              <a:t> </a:t>
            </a:r>
            <a:r>
              <a:rPr lang="en-US" err="1"/>
              <a:t>len</a:t>
            </a:r>
            <a:r>
              <a:rPr lang="en-US"/>
              <a:t> v </a:t>
            </a:r>
            <a:r>
              <a:rPr lang="en-US" err="1"/>
              <a:t>prípade</a:t>
            </a:r>
            <a:r>
              <a:rPr lang="en-US"/>
              <a:t>, </a:t>
            </a:r>
            <a:r>
              <a:rPr lang="en-US" err="1"/>
              <a:t>že</a:t>
            </a:r>
            <a:r>
              <a:rPr lang="en-US"/>
              <a:t> </a:t>
            </a:r>
            <a:r>
              <a:rPr lang="en-US" err="1"/>
              <a:t>atribúty</a:t>
            </a:r>
            <a:r>
              <a:rPr lang="en-US"/>
              <a:t> </a:t>
            </a:r>
            <a:r>
              <a:rPr lang="en-US" err="1"/>
              <a:t>primárneho</a:t>
            </a:r>
            <a:r>
              <a:rPr lang="en-US"/>
              <a:t> a </a:t>
            </a:r>
            <a:r>
              <a:rPr lang="en-US" err="1"/>
              <a:t>cudzieho</a:t>
            </a:r>
            <a:r>
              <a:rPr lang="en-US"/>
              <a:t> </a:t>
            </a:r>
            <a:r>
              <a:rPr lang="en-US" err="1"/>
              <a:t>kľúča</a:t>
            </a:r>
            <a:r>
              <a:rPr lang="en-US"/>
              <a:t> </a:t>
            </a:r>
            <a:r>
              <a:rPr lang="en-US" err="1"/>
              <a:t>majú</a:t>
            </a:r>
            <a:r>
              <a:rPr lang="en-US"/>
              <a:t> </a:t>
            </a:r>
            <a:r>
              <a:rPr lang="en-US" err="1"/>
              <a:t>rovnaké</a:t>
            </a:r>
            <a:r>
              <a:rPr lang="en-US"/>
              <a:t> </a:t>
            </a:r>
            <a:r>
              <a:rPr lang="en-US" err="1"/>
              <a:t>meno</a:t>
            </a:r>
            <a:r>
              <a:rPr lang="en-US"/>
              <a:t>. </a:t>
            </a:r>
            <a:endParaRPr lang="sk-SK"/>
          </a:p>
          <a:p>
            <a:pPr>
              <a:defRPr/>
            </a:pPr>
            <a:endParaRPr lang="sk-SK"/>
          </a:p>
          <a:p>
            <a:pPr marL="342900" indent="-342900">
              <a:buFont typeface="Arial" panose="020B0604020202020204" pitchFamily="34" charset="0"/>
              <a:buChar char="•"/>
              <a:defRPr/>
            </a:pPr>
            <a:r>
              <a:rPr lang="en-US" err="1"/>
              <a:t>Pri</a:t>
            </a:r>
            <a:r>
              <a:rPr lang="en-US"/>
              <a:t> </a:t>
            </a:r>
            <a:r>
              <a:rPr lang="en-US" err="1"/>
              <a:t>stĺpcoch</a:t>
            </a:r>
            <a:r>
              <a:rPr lang="en-US"/>
              <a:t> </a:t>
            </a:r>
            <a:r>
              <a:rPr lang="en-US" err="1"/>
              <a:t>použitých</a:t>
            </a:r>
            <a:r>
              <a:rPr lang="en-US"/>
              <a:t> v </a:t>
            </a:r>
            <a:r>
              <a:rPr lang="en-US" err="1"/>
              <a:t>klauzule</a:t>
            </a:r>
            <a:r>
              <a:rPr lang="en-US"/>
              <a:t> USING </a:t>
            </a:r>
            <a:r>
              <a:rPr lang="en-US" err="1"/>
              <a:t>nie</a:t>
            </a:r>
            <a:r>
              <a:rPr lang="en-US"/>
              <a:t> je </a:t>
            </a:r>
            <a:r>
              <a:rPr lang="en-US" err="1"/>
              <a:t>možné</a:t>
            </a:r>
            <a:r>
              <a:rPr lang="en-US"/>
              <a:t> </a:t>
            </a:r>
            <a:r>
              <a:rPr lang="en-US" err="1"/>
              <a:t>používať</a:t>
            </a:r>
            <a:r>
              <a:rPr lang="en-US"/>
              <a:t> alias </a:t>
            </a:r>
            <a:r>
              <a:rPr lang="en-US" err="1"/>
              <a:t>tabuľky</a:t>
            </a:r>
            <a:r>
              <a:rPr lang="en-US"/>
              <a:t>.</a:t>
            </a:r>
          </a:p>
          <a:p>
            <a:pPr>
              <a:defRPr/>
            </a:pPr>
            <a:endParaRPr lang="sk-SK"/>
          </a:p>
        </p:txBody>
      </p:sp>
    </p:spTree>
    <p:extLst>
      <p:ext uri="{BB962C8B-B14F-4D97-AF65-F5344CB8AC3E}">
        <p14:creationId xmlns:p14="http://schemas.microsoft.com/office/powerpoint/2010/main" val="1214236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pPr algn="ctr">
              <a:defRPr/>
            </a:pPr>
            <a:r>
              <a:rPr lang="en-US"/>
              <a:t>T</a:t>
            </a:r>
            <a:r>
              <a:rPr lang="sk-SK" err="1"/>
              <a:t>ypy</a:t>
            </a:r>
            <a:r>
              <a:rPr lang="sk-SK"/>
              <a:t> </a:t>
            </a:r>
            <a:r>
              <a:rPr lang="sk-SK" err="1"/>
              <a:t>spojen</a:t>
            </a:r>
            <a:r>
              <a:rPr lang="en-US" err="1"/>
              <a:t>ia</a:t>
            </a:r>
            <a:r>
              <a:rPr lang="en-US"/>
              <a:t> USING</a:t>
            </a:r>
          </a:p>
        </p:txBody>
      </p:sp>
      <p:sp>
        <p:nvSpPr>
          <p:cNvPr id="55299" name="Zástupný objekt pre pätu 2"/>
          <p:cNvSpPr>
            <a:spLocks noGrp="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de-DE" altLang="en-US" sz="1400" b="1"/>
          </a:p>
        </p:txBody>
      </p:sp>
      <p:sp>
        <p:nvSpPr>
          <p:cNvPr id="55300" name="Obdĺžnik 3"/>
          <p:cNvSpPr>
            <a:spLocks noChangeArrowheads="1"/>
          </p:cNvSpPr>
          <p:nvPr/>
        </p:nvSpPr>
        <p:spPr bwMode="auto">
          <a:xfrm>
            <a:off x="457200" y="1417638"/>
            <a:ext cx="8721725" cy="4072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a:solidFill>
                  <a:srgbClr val="FF0000"/>
                </a:solidFill>
              </a:rPr>
              <a:t>Jednoduchý (</a:t>
            </a:r>
            <a:r>
              <a:rPr lang="sk-SK" altLang="en-US" err="1">
                <a:solidFill>
                  <a:srgbClr val="FF0000"/>
                </a:solidFill>
              </a:rPr>
              <a:t>Jednoatribútový</a:t>
            </a:r>
            <a:r>
              <a:rPr lang="sk-SK" altLang="en-US">
                <a:solidFill>
                  <a:srgbClr val="FF0000"/>
                </a:solidFill>
              </a:rPr>
              <a:t>) spojovací atribút</a:t>
            </a:r>
          </a:p>
          <a:p>
            <a:endParaRPr lang="sk-SK" altLang="en-US">
              <a:solidFill>
                <a:srgbClr val="FF0000"/>
              </a:solidFill>
            </a:endParaRPr>
          </a:p>
          <a:p>
            <a:r>
              <a:rPr lang="en-US" altLang="en-US" b="1"/>
              <a:t>SELECT</a:t>
            </a:r>
            <a:r>
              <a:rPr lang="sk-SK" altLang="en-US" b="1"/>
              <a:t> </a:t>
            </a:r>
            <a:r>
              <a:rPr lang="en-US" altLang="en-US" b="1" err="1"/>
              <a:t>rod_cislo</a:t>
            </a:r>
            <a:r>
              <a:rPr lang="en-US" altLang="en-US" b="1"/>
              <a:t> , </a:t>
            </a:r>
            <a:r>
              <a:rPr lang="en-US" altLang="en-US" b="1" err="1"/>
              <a:t>st.os_cislo</a:t>
            </a:r>
            <a:r>
              <a:rPr lang="en-US" altLang="en-US" b="1"/>
              <a:t>, </a:t>
            </a:r>
            <a:r>
              <a:rPr lang="en-US" altLang="en-US" b="1" err="1"/>
              <a:t>ou.meno</a:t>
            </a:r>
            <a:r>
              <a:rPr lang="en-US" altLang="en-US" b="1"/>
              <a:t>, </a:t>
            </a:r>
            <a:r>
              <a:rPr lang="en-US" altLang="en-US" b="1" err="1"/>
              <a:t>ou.priezvisko</a:t>
            </a:r>
            <a:endParaRPr lang="en-US" altLang="en-US" sz="3200" b="1"/>
          </a:p>
          <a:p>
            <a:r>
              <a:rPr lang="en-US" altLang="en-US" sz="3200" b="1" baseline="-25000"/>
              <a:t>FROM</a:t>
            </a:r>
            <a:r>
              <a:rPr lang="sk-SK" altLang="en-US" sz="3200" b="1" baseline="-25000"/>
              <a:t> </a:t>
            </a:r>
            <a:r>
              <a:rPr lang="en-US" altLang="en-US" sz="3200" b="1" baseline="-25000" err="1"/>
              <a:t>os_udaje</a:t>
            </a:r>
            <a:r>
              <a:rPr lang="en-US" altLang="en-US" sz="3200" b="1" baseline="-25000"/>
              <a:t> </a:t>
            </a:r>
            <a:r>
              <a:rPr lang="en-US" altLang="en-US" sz="3200" b="1" baseline="-25000" err="1"/>
              <a:t>ou</a:t>
            </a:r>
            <a:r>
              <a:rPr lang="en-US" altLang="en-US" sz="3200" b="1" baseline="-25000"/>
              <a:t> JOIN student </a:t>
            </a:r>
            <a:r>
              <a:rPr lang="en-US" altLang="en-US" sz="3200" b="1" baseline="-25000" err="1"/>
              <a:t>st</a:t>
            </a:r>
            <a:r>
              <a:rPr lang="en-US" altLang="en-US" sz="3200" b="1" baseline="-25000"/>
              <a:t> USING ( </a:t>
            </a:r>
            <a:r>
              <a:rPr lang="en-US" altLang="en-US" sz="3200" b="1" baseline="-25000" err="1"/>
              <a:t>rod_cislo</a:t>
            </a:r>
            <a:r>
              <a:rPr lang="en-US" altLang="en-US" sz="3200" b="1" baseline="-25000"/>
              <a:t> )</a:t>
            </a:r>
            <a:r>
              <a:rPr lang="sk-SK" altLang="en-US" sz="3200" b="1" baseline="-25000"/>
              <a:t>;</a:t>
            </a:r>
            <a:endParaRPr lang="en-US" altLang="en-US" sz="3200" b="1"/>
          </a:p>
          <a:p>
            <a:endParaRPr lang="en-US" altLang="en-US">
              <a:solidFill>
                <a:srgbClr val="FF0000"/>
              </a:solidFill>
            </a:endParaRPr>
          </a:p>
          <a:p>
            <a:r>
              <a:rPr lang="en-US" altLang="en-US" err="1">
                <a:solidFill>
                  <a:srgbClr val="FF0000"/>
                </a:solidFill>
              </a:rPr>
              <a:t>Kompozitn</a:t>
            </a:r>
            <a:r>
              <a:rPr lang="sk-SK" altLang="en-US">
                <a:solidFill>
                  <a:srgbClr val="FF0000"/>
                </a:solidFill>
              </a:rPr>
              <a:t>ý spojovací  atribút</a:t>
            </a:r>
          </a:p>
          <a:p>
            <a:endParaRPr lang="en-US" altLang="en-US"/>
          </a:p>
          <a:p>
            <a:r>
              <a:rPr lang="pt-BR" altLang="en-US" sz="3200" b="1" baseline="-25000"/>
              <a:t>SELECT rod_cislo , st.os_cislo, ou.meno, ou.</a:t>
            </a:r>
            <a:r>
              <a:rPr lang="sk-SK" altLang="en-US" sz="3200" b="1" baseline="-25000"/>
              <a:t>priezvisko</a:t>
            </a:r>
            <a:r>
              <a:rPr lang="en-US" altLang="en-US" sz="3200" b="1" baseline="-25000"/>
              <a:t>, </a:t>
            </a:r>
            <a:r>
              <a:rPr lang="sk-SK" altLang="en-US" sz="3200" b="1" baseline="-25000"/>
              <a:t>sto</a:t>
            </a:r>
            <a:r>
              <a:rPr lang="en-US" altLang="en-US" sz="3200" b="1" baseline="-25000"/>
              <a:t>.</a:t>
            </a:r>
            <a:r>
              <a:rPr lang="en-US" altLang="en-US" sz="3200" b="1" baseline="-25000" err="1"/>
              <a:t>popis_odboru</a:t>
            </a:r>
            <a:r>
              <a:rPr lang="en-US" altLang="en-US" sz="3200" b="1" baseline="-25000"/>
              <a:t>, </a:t>
            </a:r>
            <a:r>
              <a:rPr lang="sk-SK" altLang="en-US" sz="3200" b="1" baseline="-25000"/>
              <a:t>sto</a:t>
            </a:r>
            <a:r>
              <a:rPr lang="en-US" altLang="en-US" sz="3200" b="1" baseline="-25000"/>
              <a:t>.</a:t>
            </a:r>
            <a:r>
              <a:rPr lang="en-US" altLang="en-US" sz="3200" b="1" baseline="-25000" err="1"/>
              <a:t>popis_zamerania</a:t>
            </a:r>
            <a:r>
              <a:rPr lang="en-US" altLang="en-US" sz="3200" b="1" baseline="-25000"/>
              <a:t> </a:t>
            </a:r>
            <a:endParaRPr lang="sk-SK" altLang="en-US" sz="3200" b="1" baseline="-25000"/>
          </a:p>
          <a:p>
            <a:r>
              <a:rPr lang="en-US" altLang="en-US" sz="3200" b="1" baseline="-25000"/>
              <a:t>FROM </a:t>
            </a:r>
            <a:r>
              <a:rPr lang="en-US" altLang="en-US" sz="3200" b="1" baseline="-25000" err="1"/>
              <a:t>os_udaje</a:t>
            </a:r>
            <a:r>
              <a:rPr lang="en-US" altLang="en-US" sz="3200" b="1" baseline="-25000"/>
              <a:t> </a:t>
            </a:r>
            <a:r>
              <a:rPr lang="en-US" altLang="en-US" sz="3200" b="1" baseline="-25000" err="1"/>
              <a:t>ou</a:t>
            </a:r>
            <a:r>
              <a:rPr lang="en-US" altLang="en-US" sz="3200" b="1" baseline="-25000"/>
              <a:t> JOIN student </a:t>
            </a:r>
            <a:r>
              <a:rPr lang="en-US" altLang="en-US" sz="3200" b="1" baseline="-25000" err="1"/>
              <a:t>st</a:t>
            </a:r>
            <a:r>
              <a:rPr lang="en-US" altLang="en-US" sz="3200" b="1" baseline="-25000"/>
              <a:t> USING ( </a:t>
            </a:r>
            <a:r>
              <a:rPr lang="en-US" altLang="en-US" sz="3200" b="1" baseline="-25000" err="1"/>
              <a:t>rod_cislo</a:t>
            </a:r>
            <a:r>
              <a:rPr lang="en-US" altLang="en-US" sz="3200" b="1" baseline="-25000"/>
              <a:t> )</a:t>
            </a:r>
            <a:endParaRPr lang="en-US" altLang="en-US" sz="3200"/>
          </a:p>
          <a:p>
            <a:r>
              <a:rPr lang="en-US" altLang="en-US" sz="3200" b="1" baseline="-25000"/>
              <a:t>JOIN </a:t>
            </a:r>
            <a:r>
              <a:rPr lang="en-US" altLang="en-US" sz="3200" b="1" baseline="-25000" err="1"/>
              <a:t>st_odbory</a:t>
            </a:r>
            <a:r>
              <a:rPr lang="en-US" altLang="en-US" sz="3200" b="1" baseline="-25000"/>
              <a:t> </a:t>
            </a:r>
            <a:r>
              <a:rPr lang="en-US" altLang="en-US" sz="3200" b="1" baseline="-25000" err="1"/>
              <a:t>sto</a:t>
            </a:r>
            <a:r>
              <a:rPr lang="en-US" altLang="en-US" sz="3200" b="1" baseline="-25000"/>
              <a:t> USING ( </a:t>
            </a:r>
            <a:r>
              <a:rPr lang="en-US" altLang="en-US" sz="3200" b="1" baseline="-25000" err="1">
                <a:solidFill>
                  <a:schemeClr val="tx2">
                    <a:lumMod val="60000"/>
                    <a:lumOff val="40000"/>
                  </a:schemeClr>
                </a:solidFill>
              </a:rPr>
              <a:t>st_odbor</a:t>
            </a:r>
            <a:r>
              <a:rPr lang="en-US" altLang="en-US" sz="3200" b="1" baseline="-25000">
                <a:solidFill>
                  <a:schemeClr val="tx2">
                    <a:lumMod val="60000"/>
                    <a:lumOff val="40000"/>
                  </a:schemeClr>
                </a:solidFill>
              </a:rPr>
              <a:t>, </a:t>
            </a:r>
            <a:r>
              <a:rPr lang="en-US" altLang="en-US" sz="3200" b="1" baseline="-25000" err="1">
                <a:solidFill>
                  <a:schemeClr val="tx2">
                    <a:lumMod val="60000"/>
                    <a:lumOff val="40000"/>
                  </a:schemeClr>
                </a:solidFill>
              </a:rPr>
              <a:t>st_zameranie</a:t>
            </a:r>
            <a:r>
              <a:rPr lang="en-US" altLang="en-US" sz="3200" b="1" baseline="-25000">
                <a:solidFill>
                  <a:schemeClr val="tx2">
                    <a:lumMod val="60000"/>
                    <a:lumOff val="40000"/>
                  </a:schemeClr>
                </a:solidFill>
              </a:rPr>
              <a:t> </a:t>
            </a:r>
            <a:r>
              <a:rPr lang="en-US" altLang="en-US" sz="3200" b="1" baseline="-25000"/>
              <a:t>)</a:t>
            </a:r>
            <a:r>
              <a:rPr lang="sk-SK" altLang="en-US" sz="3200" b="1" baseline="-25000"/>
              <a:t>;</a:t>
            </a:r>
            <a:endParaRPr lang="sk-SK" altLang="en-US" sz="3200"/>
          </a:p>
        </p:txBody>
      </p:sp>
    </p:spTree>
    <p:extLst>
      <p:ext uri="{BB962C8B-B14F-4D97-AF65-F5344CB8AC3E}">
        <p14:creationId xmlns:p14="http://schemas.microsoft.com/office/powerpoint/2010/main" val="705731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pPr algn="ctr">
              <a:defRPr/>
            </a:pPr>
            <a:r>
              <a:rPr lang="en-US"/>
              <a:t>T</a:t>
            </a:r>
            <a:r>
              <a:rPr lang="sk-SK" err="1"/>
              <a:t>ypy</a:t>
            </a:r>
            <a:r>
              <a:rPr lang="sk-SK"/>
              <a:t> </a:t>
            </a:r>
            <a:r>
              <a:rPr lang="sk-SK" err="1"/>
              <a:t>spojen</a:t>
            </a:r>
            <a:r>
              <a:rPr lang="en-US" err="1"/>
              <a:t>ia</a:t>
            </a:r>
            <a:r>
              <a:rPr lang="en-US"/>
              <a:t> </a:t>
            </a:r>
            <a:r>
              <a:rPr lang="sk-SK"/>
              <a:t>ON</a:t>
            </a:r>
            <a:endParaRPr lang="en-US"/>
          </a:p>
        </p:txBody>
      </p:sp>
      <p:sp>
        <p:nvSpPr>
          <p:cNvPr id="56323" name="Zástupný objekt pre pätu 2"/>
          <p:cNvSpPr>
            <a:spLocks noGrp="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de-DE" altLang="en-US" sz="1400" b="1"/>
          </a:p>
        </p:txBody>
      </p:sp>
      <p:sp>
        <p:nvSpPr>
          <p:cNvPr id="56324" name="Obdĺžnik 3"/>
          <p:cNvSpPr>
            <a:spLocks noChangeArrowheads="1"/>
          </p:cNvSpPr>
          <p:nvPr/>
        </p:nvSpPr>
        <p:spPr bwMode="auto">
          <a:xfrm>
            <a:off x="390525" y="1309688"/>
            <a:ext cx="8721725" cy="202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3200" b="1" baseline="-25000"/>
              <a:t>SELECT</a:t>
            </a:r>
            <a:r>
              <a:rPr lang="sk-SK" altLang="en-US" sz="3200" b="1" baseline="-25000"/>
              <a:t> </a:t>
            </a:r>
            <a:r>
              <a:rPr lang="en-US" altLang="en-US" sz="3200" b="1" baseline="-25000" err="1">
                <a:solidFill>
                  <a:srgbClr val="FF0000"/>
                </a:solidFill>
              </a:rPr>
              <a:t>st.rod_cislo</a:t>
            </a:r>
            <a:r>
              <a:rPr lang="en-US" altLang="en-US" sz="3200" b="1" baseline="-25000">
                <a:solidFill>
                  <a:srgbClr val="FF0000"/>
                </a:solidFill>
              </a:rPr>
              <a:t> </a:t>
            </a:r>
            <a:r>
              <a:rPr lang="en-US" altLang="en-US" sz="3200" b="1" baseline="-25000"/>
              <a:t>, </a:t>
            </a:r>
            <a:r>
              <a:rPr lang="en-US" altLang="en-US" sz="3200" b="1" baseline="-25000" err="1"/>
              <a:t>st.os_cislo</a:t>
            </a:r>
            <a:r>
              <a:rPr lang="en-US" altLang="en-US" sz="3200" b="1" baseline="-25000"/>
              <a:t>, </a:t>
            </a:r>
            <a:r>
              <a:rPr lang="en-US" altLang="en-US" sz="3200" b="1" baseline="-25000" err="1"/>
              <a:t>ou.meno</a:t>
            </a:r>
            <a:r>
              <a:rPr lang="en-US" altLang="en-US" sz="3200" b="1" baseline="-25000"/>
              <a:t>, </a:t>
            </a:r>
            <a:r>
              <a:rPr lang="en-US" altLang="en-US" sz="3200" b="1" baseline="-25000" err="1"/>
              <a:t>ou</a:t>
            </a:r>
            <a:r>
              <a:rPr lang="en-US" altLang="en-US" sz="3200" b="1" baseline="-25000"/>
              <a:t>.</a:t>
            </a:r>
            <a:r>
              <a:rPr lang="sk-SK" altLang="en-US" sz="3200" b="1" baseline="-25000"/>
              <a:t>priezvisko </a:t>
            </a:r>
            <a:endParaRPr lang="en-US" altLang="en-US" sz="3200"/>
          </a:p>
          <a:p>
            <a:r>
              <a:rPr lang="en-US" altLang="en-US" sz="3200" b="1" baseline="-25000"/>
              <a:t>FROM</a:t>
            </a:r>
            <a:r>
              <a:rPr lang="sk-SK" altLang="en-US" sz="3200" b="1" baseline="-25000"/>
              <a:t> </a:t>
            </a:r>
            <a:r>
              <a:rPr lang="en-US" altLang="en-US" sz="3200" b="1" baseline="-25000" err="1"/>
              <a:t>os_udaje</a:t>
            </a:r>
            <a:r>
              <a:rPr lang="en-US" altLang="en-US" sz="3200" b="1" baseline="-25000"/>
              <a:t> </a:t>
            </a:r>
            <a:r>
              <a:rPr lang="en-US" altLang="en-US" sz="3200" b="1" baseline="-25000" err="1"/>
              <a:t>ou</a:t>
            </a:r>
            <a:r>
              <a:rPr lang="en-US" altLang="en-US" sz="3200" b="1" baseline="-25000"/>
              <a:t> JOIN student </a:t>
            </a:r>
            <a:r>
              <a:rPr lang="en-US" altLang="en-US" sz="3200" b="1" baseline="-25000" err="1"/>
              <a:t>st</a:t>
            </a:r>
            <a:r>
              <a:rPr lang="en-US" altLang="en-US" sz="3200" b="1" baseline="-25000"/>
              <a:t> </a:t>
            </a:r>
            <a:endParaRPr lang="sk-SK" altLang="en-US" sz="3200" b="1" baseline="-25000"/>
          </a:p>
          <a:p>
            <a:r>
              <a:rPr lang="sk-SK" altLang="en-US" sz="3200" b="1" baseline="-25000"/>
              <a:t>	ON</a:t>
            </a:r>
            <a:r>
              <a:rPr lang="en-US" altLang="en-US" sz="3200" b="1" baseline="-25000"/>
              <a:t>( </a:t>
            </a:r>
            <a:r>
              <a:rPr lang="sk-SK" altLang="en-US" sz="3200" b="1" baseline="-25000" err="1"/>
              <a:t>ou</a:t>
            </a:r>
            <a:r>
              <a:rPr lang="sk-SK" altLang="en-US" sz="3200" b="1" baseline="-25000"/>
              <a:t>.</a:t>
            </a:r>
            <a:r>
              <a:rPr lang="en-US" altLang="en-US" sz="3200" b="1" baseline="-25000" err="1"/>
              <a:t>rod_cislo</a:t>
            </a:r>
            <a:r>
              <a:rPr lang="en-US" altLang="en-US" sz="3200" b="1" baseline="-25000"/>
              <a:t> </a:t>
            </a:r>
            <a:r>
              <a:rPr lang="sk-SK" altLang="en-US" sz="3200" b="1" baseline="-25000"/>
              <a:t>= </a:t>
            </a:r>
            <a:r>
              <a:rPr lang="sk-SK" altLang="en-US" sz="3200" b="1" baseline="-25000" err="1"/>
              <a:t>st.rod_cislo</a:t>
            </a:r>
            <a:r>
              <a:rPr lang="en-US" altLang="en-US" sz="3200" b="1" baseline="-25000"/>
              <a:t>)</a:t>
            </a:r>
            <a:r>
              <a:rPr lang="sk-SK" altLang="en-US" sz="3200" b="1" baseline="-25000"/>
              <a:t>;</a:t>
            </a:r>
            <a:endParaRPr lang="en-US" altLang="en-US" sz="3200"/>
          </a:p>
          <a:p>
            <a:endParaRPr lang="en-US" altLang="en-US"/>
          </a:p>
          <a:p>
            <a:endParaRPr lang="en-US" altLang="en-US"/>
          </a:p>
        </p:txBody>
      </p:sp>
    </p:spTree>
    <p:extLst>
      <p:ext uri="{BB962C8B-B14F-4D97-AF65-F5344CB8AC3E}">
        <p14:creationId xmlns:p14="http://schemas.microsoft.com/office/powerpoint/2010/main" val="6214348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5"/>
            <a:ext cx="7899400" cy="600075"/>
          </a:xfrm>
        </p:spPr>
        <p:txBody>
          <a:bodyPr>
            <a:normAutofit fontScale="90000"/>
          </a:bodyPr>
          <a:lstStyle/>
          <a:p>
            <a:pPr algn="ctr">
              <a:defRPr/>
            </a:pPr>
            <a:r>
              <a:rPr lang="en-US"/>
              <a:t>T</a:t>
            </a:r>
            <a:r>
              <a:rPr lang="sk-SK" err="1"/>
              <a:t>ypy</a:t>
            </a:r>
            <a:r>
              <a:rPr lang="sk-SK"/>
              <a:t> </a:t>
            </a:r>
            <a:r>
              <a:rPr lang="sk-SK" err="1"/>
              <a:t>spojen</a:t>
            </a:r>
            <a:r>
              <a:rPr lang="en-US" err="1"/>
              <a:t>ia</a:t>
            </a:r>
            <a:r>
              <a:rPr lang="en-US"/>
              <a:t> </a:t>
            </a:r>
            <a:r>
              <a:rPr lang="sk-SK"/>
              <a:t>ON</a:t>
            </a:r>
            <a:endParaRPr lang="en-US"/>
          </a:p>
        </p:txBody>
      </p:sp>
      <p:sp>
        <p:nvSpPr>
          <p:cNvPr id="57347" name="Zástupný objekt pre pätu 2"/>
          <p:cNvSpPr>
            <a:spLocks noGrp="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de-DE" altLang="en-US" sz="1400" b="1"/>
          </a:p>
        </p:txBody>
      </p:sp>
      <p:sp>
        <p:nvSpPr>
          <p:cNvPr id="57348" name="Obdĺžnik 3"/>
          <p:cNvSpPr>
            <a:spLocks noChangeArrowheads="1"/>
          </p:cNvSpPr>
          <p:nvPr/>
        </p:nvSpPr>
        <p:spPr bwMode="auto">
          <a:xfrm>
            <a:off x="390525" y="1309688"/>
            <a:ext cx="8721725" cy="481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3200" b="1" baseline="-25000"/>
              <a:t>SELECT</a:t>
            </a:r>
            <a:r>
              <a:rPr lang="sk-SK" altLang="en-US" sz="3200" b="1" baseline="-25000"/>
              <a:t> </a:t>
            </a:r>
            <a:r>
              <a:rPr lang="sk-SK" altLang="en-US" sz="3200" b="1" baseline="-25000" err="1">
                <a:solidFill>
                  <a:srgbClr val="C00000"/>
                </a:solidFill>
              </a:rPr>
              <a:t>ou</a:t>
            </a:r>
            <a:r>
              <a:rPr lang="sk-SK" altLang="en-US" sz="3200" b="1" baseline="-25000">
                <a:solidFill>
                  <a:srgbClr val="C00000"/>
                </a:solidFill>
              </a:rPr>
              <a:t>.</a:t>
            </a:r>
            <a:r>
              <a:rPr lang="en-US" altLang="en-US" sz="3200" b="1" baseline="-25000" err="1">
                <a:solidFill>
                  <a:srgbClr val="C00000"/>
                </a:solidFill>
              </a:rPr>
              <a:t>rod_cislo</a:t>
            </a:r>
            <a:r>
              <a:rPr lang="en-US" altLang="en-US" sz="3200" b="1" baseline="-25000">
                <a:solidFill>
                  <a:srgbClr val="C00000"/>
                </a:solidFill>
              </a:rPr>
              <a:t> </a:t>
            </a:r>
            <a:r>
              <a:rPr lang="en-US" altLang="en-US" sz="3200" b="1" baseline="-25000"/>
              <a:t>, </a:t>
            </a:r>
            <a:r>
              <a:rPr lang="en-US" altLang="en-US" sz="3200" b="1" baseline="-25000" err="1"/>
              <a:t>st.os_cislo</a:t>
            </a:r>
            <a:r>
              <a:rPr lang="en-US" altLang="en-US" sz="3200" b="1" baseline="-25000"/>
              <a:t>, </a:t>
            </a:r>
            <a:r>
              <a:rPr lang="en-US" altLang="en-US" sz="3200" b="1" baseline="-25000" err="1"/>
              <a:t>ou.meno</a:t>
            </a:r>
            <a:r>
              <a:rPr lang="en-US" altLang="en-US" sz="3200" b="1" baseline="-25000"/>
              <a:t>, </a:t>
            </a:r>
            <a:r>
              <a:rPr lang="en-US" altLang="en-US" sz="3200" b="1" baseline="-25000" err="1"/>
              <a:t>ou</a:t>
            </a:r>
            <a:r>
              <a:rPr lang="en-US" altLang="en-US" sz="3200" b="1" baseline="-25000"/>
              <a:t>.</a:t>
            </a:r>
            <a:r>
              <a:rPr lang="sk-SK" altLang="en-US" sz="3200" b="1" baseline="-25000"/>
              <a:t>priezvisko </a:t>
            </a:r>
            <a:endParaRPr lang="en-US" altLang="en-US" sz="3200"/>
          </a:p>
          <a:p>
            <a:r>
              <a:rPr lang="en-US" altLang="en-US" sz="3200" b="1" baseline="-25000"/>
              <a:t>FROM</a:t>
            </a:r>
            <a:r>
              <a:rPr lang="sk-SK" altLang="en-US" sz="3200" b="1" baseline="-25000"/>
              <a:t>    </a:t>
            </a:r>
            <a:r>
              <a:rPr lang="en-US" altLang="en-US" sz="3200" b="1" baseline="-25000" err="1">
                <a:solidFill>
                  <a:srgbClr val="C00000"/>
                </a:solidFill>
              </a:rPr>
              <a:t>os_udaje</a:t>
            </a:r>
            <a:r>
              <a:rPr lang="en-US" altLang="en-US" sz="3200" b="1" baseline="-25000">
                <a:solidFill>
                  <a:srgbClr val="C00000"/>
                </a:solidFill>
              </a:rPr>
              <a:t> </a:t>
            </a:r>
            <a:r>
              <a:rPr lang="en-US" altLang="en-US" sz="3200" b="1" baseline="-25000" err="1">
                <a:solidFill>
                  <a:srgbClr val="C00000"/>
                </a:solidFill>
              </a:rPr>
              <a:t>ou</a:t>
            </a:r>
            <a:r>
              <a:rPr lang="en-US" altLang="en-US" sz="3200" b="1" baseline="-25000">
                <a:solidFill>
                  <a:srgbClr val="C00000"/>
                </a:solidFill>
              </a:rPr>
              <a:t> JOIN student </a:t>
            </a:r>
            <a:r>
              <a:rPr lang="en-US" altLang="en-US" sz="3200" b="1" baseline="-25000" err="1">
                <a:solidFill>
                  <a:srgbClr val="C00000"/>
                </a:solidFill>
              </a:rPr>
              <a:t>st</a:t>
            </a:r>
            <a:r>
              <a:rPr lang="en-US" altLang="en-US" sz="3200" b="1" baseline="-25000">
                <a:solidFill>
                  <a:srgbClr val="C00000"/>
                </a:solidFill>
              </a:rPr>
              <a:t> </a:t>
            </a:r>
            <a:endParaRPr lang="sk-SK" altLang="en-US" sz="3200" b="1" baseline="-25000">
              <a:solidFill>
                <a:srgbClr val="C00000"/>
              </a:solidFill>
            </a:endParaRPr>
          </a:p>
          <a:p>
            <a:r>
              <a:rPr lang="sk-SK" altLang="en-US" sz="3200" b="1" baseline="-25000"/>
              <a:t>	   </a:t>
            </a:r>
            <a:r>
              <a:rPr lang="sk-SK" altLang="en-US" sz="3200" b="1" baseline="-25000">
                <a:solidFill>
                  <a:srgbClr val="C00000"/>
                </a:solidFill>
              </a:rPr>
              <a:t>ON</a:t>
            </a:r>
            <a:r>
              <a:rPr lang="en-US" altLang="en-US" sz="3200" b="1" baseline="-25000">
                <a:solidFill>
                  <a:srgbClr val="C00000"/>
                </a:solidFill>
              </a:rPr>
              <a:t>( </a:t>
            </a:r>
            <a:r>
              <a:rPr lang="sk-SK" altLang="en-US" sz="3200" b="1" baseline="-25000" err="1">
                <a:solidFill>
                  <a:srgbClr val="C00000"/>
                </a:solidFill>
              </a:rPr>
              <a:t>ou</a:t>
            </a:r>
            <a:r>
              <a:rPr lang="sk-SK" altLang="en-US" sz="3200" b="1" baseline="-25000">
                <a:solidFill>
                  <a:srgbClr val="C00000"/>
                </a:solidFill>
              </a:rPr>
              <a:t>.</a:t>
            </a:r>
            <a:r>
              <a:rPr lang="en-US" altLang="en-US" sz="3200" b="1" baseline="-25000" err="1">
                <a:solidFill>
                  <a:srgbClr val="C00000"/>
                </a:solidFill>
              </a:rPr>
              <a:t>rod_cislo</a:t>
            </a:r>
            <a:r>
              <a:rPr lang="en-US" altLang="en-US" sz="3200" b="1" baseline="-25000">
                <a:solidFill>
                  <a:srgbClr val="C00000"/>
                </a:solidFill>
              </a:rPr>
              <a:t> </a:t>
            </a:r>
            <a:r>
              <a:rPr lang="sk-SK" altLang="en-US" sz="3200" b="1" baseline="-25000">
                <a:solidFill>
                  <a:srgbClr val="C00000"/>
                </a:solidFill>
              </a:rPr>
              <a:t>= </a:t>
            </a:r>
            <a:r>
              <a:rPr lang="sk-SK" altLang="en-US" sz="3200" b="1" baseline="-25000" err="1">
                <a:solidFill>
                  <a:srgbClr val="C00000"/>
                </a:solidFill>
              </a:rPr>
              <a:t>st.rod_cislo</a:t>
            </a:r>
            <a:r>
              <a:rPr lang="en-US" altLang="en-US" sz="3200" b="1" baseline="-25000">
                <a:solidFill>
                  <a:srgbClr val="C00000"/>
                </a:solidFill>
              </a:rPr>
              <a:t>)</a:t>
            </a:r>
            <a:r>
              <a:rPr lang="sk-SK" altLang="en-US" sz="3200" b="1" baseline="-25000">
                <a:solidFill>
                  <a:srgbClr val="C00000"/>
                </a:solidFill>
              </a:rPr>
              <a:t>;</a:t>
            </a:r>
            <a:endParaRPr lang="en-US" altLang="en-US" sz="3200">
              <a:solidFill>
                <a:srgbClr val="C00000"/>
              </a:solidFill>
            </a:endParaRPr>
          </a:p>
          <a:p>
            <a:endParaRPr lang="en-US" altLang="en-US">
              <a:solidFill>
                <a:srgbClr val="C00000"/>
              </a:solidFill>
            </a:endParaRPr>
          </a:p>
          <a:p>
            <a:endParaRPr lang="en-US" altLang="en-US"/>
          </a:p>
          <a:p>
            <a:r>
              <a:rPr lang="pt-BR" altLang="en-US" sz="3200" b="1" baseline="-25000"/>
              <a:t>SELECT </a:t>
            </a:r>
            <a:r>
              <a:rPr lang="sk-SK" altLang="en-US" sz="3200" b="1" baseline="-25000" err="1"/>
              <a:t>ou</a:t>
            </a:r>
            <a:r>
              <a:rPr lang="sk-SK" altLang="en-US" sz="3200" b="1" baseline="-25000"/>
              <a:t>.</a:t>
            </a:r>
            <a:r>
              <a:rPr lang="pt-BR" altLang="en-US" sz="3200" b="1" baseline="-25000"/>
              <a:t>rod_cislo , st.os_cislo, ou.meno, ou.</a:t>
            </a:r>
            <a:r>
              <a:rPr lang="sk-SK" altLang="en-US" sz="3200" b="1" baseline="-25000"/>
              <a:t>priezvisko</a:t>
            </a:r>
            <a:r>
              <a:rPr lang="en-US" altLang="en-US" sz="3200" b="1" baseline="-25000"/>
              <a:t>, </a:t>
            </a:r>
            <a:r>
              <a:rPr lang="sk-SK" altLang="en-US" sz="3200" b="1" baseline="-25000"/>
              <a:t>	      	   sto</a:t>
            </a:r>
            <a:r>
              <a:rPr lang="en-US" altLang="en-US" sz="3200" b="1" baseline="-25000"/>
              <a:t>.</a:t>
            </a:r>
            <a:r>
              <a:rPr lang="en-US" altLang="en-US" sz="3200" b="1" baseline="-25000" err="1"/>
              <a:t>popis_odboru</a:t>
            </a:r>
            <a:r>
              <a:rPr lang="en-US" altLang="en-US" sz="3200" b="1" baseline="-25000"/>
              <a:t>, </a:t>
            </a:r>
            <a:r>
              <a:rPr lang="sk-SK" altLang="en-US" sz="3200" b="1" baseline="-25000"/>
              <a:t>sto</a:t>
            </a:r>
            <a:r>
              <a:rPr lang="en-US" altLang="en-US" sz="3200" b="1" baseline="-25000"/>
              <a:t>.</a:t>
            </a:r>
            <a:r>
              <a:rPr lang="en-US" altLang="en-US" sz="3200" b="1" baseline="-25000" err="1"/>
              <a:t>popis_zamerania</a:t>
            </a:r>
            <a:r>
              <a:rPr lang="en-US" altLang="en-US" sz="3200" b="1" baseline="-25000"/>
              <a:t> </a:t>
            </a:r>
            <a:endParaRPr lang="sk-SK" altLang="en-US" sz="3200" b="1" baseline="-25000"/>
          </a:p>
          <a:p>
            <a:r>
              <a:rPr lang="en-US" altLang="en-US" sz="3200" b="1" baseline="-25000"/>
              <a:t>FROM </a:t>
            </a:r>
            <a:r>
              <a:rPr lang="sk-SK" altLang="en-US" sz="3200" b="1" baseline="-25000"/>
              <a:t>   </a:t>
            </a:r>
            <a:r>
              <a:rPr lang="en-US" altLang="en-US" sz="3200" b="1" baseline="-25000" err="1"/>
              <a:t>os_udaje</a:t>
            </a:r>
            <a:r>
              <a:rPr lang="en-US" altLang="en-US" sz="3200" b="1" baseline="-25000"/>
              <a:t> </a:t>
            </a:r>
            <a:r>
              <a:rPr lang="en-US" altLang="en-US" sz="3200" b="1" baseline="-25000" err="1"/>
              <a:t>ou</a:t>
            </a:r>
            <a:r>
              <a:rPr lang="en-US" altLang="en-US" sz="3200" b="1" baseline="-25000"/>
              <a:t> JOIN student </a:t>
            </a:r>
            <a:r>
              <a:rPr lang="en-US" altLang="en-US" sz="3200" b="1" baseline="-25000" err="1"/>
              <a:t>st</a:t>
            </a:r>
            <a:r>
              <a:rPr lang="en-US" altLang="en-US" sz="3200" b="1" baseline="-25000"/>
              <a:t> </a:t>
            </a:r>
            <a:endParaRPr lang="sk-SK" altLang="en-US" sz="3200" b="1" baseline="-25000"/>
          </a:p>
          <a:p>
            <a:r>
              <a:rPr lang="sk-SK" altLang="en-US" sz="3200" b="1" baseline="-25000"/>
              <a:t>	         ON (</a:t>
            </a:r>
            <a:r>
              <a:rPr lang="sk-SK" altLang="en-US" sz="3200" b="1" baseline="-25000" err="1"/>
              <a:t>ou</a:t>
            </a:r>
            <a:r>
              <a:rPr lang="sk-SK" altLang="en-US" sz="3200" b="1" baseline="-25000"/>
              <a:t>.</a:t>
            </a:r>
            <a:r>
              <a:rPr lang="en-US" altLang="en-US" sz="3200" b="1" baseline="-25000" err="1"/>
              <a:t>rod_cislo</a:t>
            </a:r>
            <a:r>
              <a:rPr lang="en-US" altLang="en-US" sz="3200" b="1" baseline="-25000"/>
              <a:t> </a:t>
            </a:r>
            <a:r>
              <a:rPr lang="sk-SK" altLang="en-US" sz="3200" b="1" baseline="-25000"/>
              <a:t>= </a:t>
            </a:r>
            <a:r>
              <a:rPr lang="sk-SK" altLang="en-US" sz="3200" b="1" baseline="-25000" err="1"/>
              <a:t>st.rod_cislo</a:t>
            </a:r>
            <a:r>
              <a:rPr lang="en-US" altLang="en-US" sz="3200" b="1" baseline="-25000"/>
              <a:t>)</a:t>
            </a:r>
            <a:endParaRPr lang="en-US" altLang="en-US" sz="3200"/>
          </a:p>
          <a:p>
            <a:r>
              <a:rPr lang="sk-SK" altLang="en-US" sz="3200" b="1" baseline="-25000"/>
              <a:t>            </a:t>
            </a:r>
            <a:r>
              <a:rPr lang="en-US" altLang="en-US" sz="3200" b="1" baseline="-25000"/>
              <a:t>JOIN </a:t>
            </a:r>
            <a:r>
              <a:rPr lang="sk-SK" altLang="en-US" sz="3200" b="1" baseline="-25000"/>
              <a:t>     </a:t>
            </a:r>
            <a:r>
              <a:rPr lang="en-US" altLang="en-US" sz="3200" b="1" baseline="-25000" err="1"/>
              <a:t>st_odbory</a:t>
            </a:r>
            <a:r>
              <a:rPr lang="en-US" altLang="en-US" sz="3200" b="1" baseline="-25000"/>
              <a:t> </a:t>
            </a:r>
            <a:r>
              <a:rPr lang="en-US" altLang="en-US" sz="3200" b="1" baseline="-25000" err="1"/>
              <a:t>sto</a:t>
            </a:r>
            <a:r>
              <a:rPr lang="en-US" altLang="en-US" sz="3200" b="1" baseline="-25000"/>
              <a:t> </a:t>
            </a:r>
            <a:endParaRPr lang="sk-SK" altLang="en-US" sz="3200" b="1" baseline="-25000"/>
          </a:p>
          <a:p>
            <a:r>
              <a:rPr lang="sk-SK" altLang="en-US" sz="3200" b="1" baseline="-25000"/>
              <a:t>	         </a:t>
            </a:r>
            <a:r>
              <a:rPr lang="sk-SK" altLang="en-US" sz="3200" b="1" baseline="-25000">
                <a:solidFill>
                  <a:srgbClr val="C00000"/>
                </a:solidFill>
              </a:rPr>
              <a:t>ON</a:t>
            </a:r>
            <a:r>
              <a:rPr lang="en-US" altLang="en-US" sz="3200" b="1" baseline="-25000">
                <a:solidFill>
                  <a:srgbClr val="C00000"/>
                </a:solidFill>
              </a:rPr>
              <a:t> ( </a:t>
            </a:r>
            <a:r>
              <a:rPr lang="sk-SK" altLang="en-US" sz="3200" b="1" baseline="-25000">
                <a:solidFill>
                  <a:srgbClr val="C00000"/>
                </a:solidFill>
              </a:rPr>
              <a:t>st.</a:t>
            </a:r>
            <a:r>
              <a:rPr lang="en-US" altLang="en-US" sz="3200" b="1" baseline="-25000" err="1">
                <a:solidFill>
                  <a:srgbClr val="C00000"/>
                </a:solidFill>
              </a:rPr>
              <a:t>st_odbo</a:t>
            </a:r>
            <a:r>
              <a:rPr lang="sk-SK" altLang="en-US" sz="3200" b="1" baseline="-25000">
                <a:solidFill>
                  <a:srgbClr val="C00000"/>
                </a:solidFill>
              </a:rPr>
              <a:t>r=</a:t>
            </a:r>
            <a:r>
              <a:rPr lang="sk-SK" altLang="en-US" sz="3200" b="1" baseline="-25000" err="1">
                <a:solidFill>
                  <a:srgbClr val="C00000"/>
                </a:solidFill>
              </a:rPr>
              <a:t>sto.st_odbor</a:t>
            </a:r>
            <a:r>
              <a:rPr lang="sk-SK" altLang="en-US" sz="3200" b="1">
                <a:solidFill>
                  <a:srgbClr val="C00000"/>
                </a:solidFill>
              </a:rPr>
              <a:t> </a:t>
            </a:r>
            <a:r>
              <a:rPr lang="sk-SK" altLang="en-US" sz="3200" b="1" baseline="-25000">
                <a:solidFill>
                  <a:srgbClr val="C00000"/>
                </a:solidFill>
                <a:highlight>
                  <a:srgbClr val="FFFF00"/>
                </a:highlight>
              </a:rPr>
              <a:t>AND</a:t>
            </a:r>
          </a:p>
          <a:p>
            <a:r>
              <a:rPr lang="sk-SK" altLang="en-US" sz="3200" b="1" baseline="-25000">
                <a:solidFill>
                  <a:srgbClr val="C00000"/>
                </a:solidFill>
              </a:rPr>
              <a:t>	         st.</a:t>
            </a:r>
            <a:r>
              <a:rPr lang="en-US" altLang="en-US" sz="3200" b="1" baseline="-25000" err="1">
                <a:solidFill>
                  <a:srgbClr val="C00000"/>
                </a:solidFill>
              </a:rPr>
              <a:t>st_zameranie</a:t>
            </a:r>
            <a:r>
              <a:rPr lang="sk-SK" altLang="en-US" sz="3200" b="1" baseline="-25000">
                <a:solidFill>
                  <a:srgbClr val="C00000"/>
                </a:solidFill>
              </a:rPr>
              <a:t>= sto.</a:t>
            </a:r>
            <a:r>
              <a:rPr lang="en-US" altLang="en-US" sz="3200" b="1" baseline="-25000">
                <a:solidFill>
                  <a:srgbClr val="C00000"/>
                </a:solidFill>
              </a:rPr>
              <a:t> </a:t>
            </a:r>
            <a:r>
              <a:rPr lang="en-US" altLang="en-US" sz="3200" b="1" baseline="-25000" err="1">
                <a:solidFill>
                  <a:srgbClr val="C00000"/>
                </a:solidFill>
              </a:rPr>
              <a:t>st_zameranie</a:t>
            </a:r>
            <a:r>
              <a:rPr lang="en-US" altLang="en-US" sz="3200" b="1" baseline="-25000">
                <a:solidFill>
                  <a:srgbClr val="C00000"/>
                </a:solidFill>
              </a:rPr>
              <a:t> )</a:t>
            </a:r>
            <a:r>
              <a:rPr lang="sk-SK" altLang="en-US" sz="3200" b="1" baseline="-25000">
                <a:solidFill>
                  <a:srgbClr val="C00000"/>
                </a:solidFill>
              </a:rPr>
              <a:t>;</a:t>
            </a:r>
            <a:endParaRPr lang="sk-SK" altLang="en-US" sz="3200">
              <a:solidFill>
                <a:srgbClr val="C00000"/>
              </a:solidFill>
            </a:endParaRPr>
          </a:p>
        </p:txBody>
      </p:sp>
    </p:spTree>
    <p:extLst>
      <p:ext uri="{BB962C8B-B14F-4D97-AF65-F5344CB8AC3E}">
        <p14:creationId xmlns:p14="http://schemas.microsoft.com/office/powerpoint/2010/main" val="347501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5"/>
            <a:ext cx="7899400" cy="600075"/>
          </a:xfrm>
        </p:spPr>
        <p:txBody>
          <a:bodyPr>
            <a:normAutofit fontScale="90000"/>
          </a:bodyPr>
          <a:lstStyle/>
          <a:p>
            <a:pPr algn="ctr">
              <a:defRPr/>
            </a:pPr>
            <a:r>
              <a:rPr lang="sk-SK"/>
              <a:t>Porovnanie typov </a:t>
            </a:r>
            <a:r>
              <a:rPr lang="sk-SK" err="1"/>
              <a:t>spojen</a:t>
            </a:r>
            <a:r>
              <a:rPr lang="en-US" err="1"/>
              <a:t>ia</a:t>
            </a:r>
            <a:r>
              <a:rPr lang="en-US"/>
              <a:t> </a:t>
            </a:r>
          </a:p>
        </p:txBody>
      </p:sp>
      <p:sp>
        <p:nvSpPr>
          <p:cNvPr id="58371" name="Zástupný objekt pre pätu 2"/>
          <p:cNvSpPr>
            <a:spLocks noGrp="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de-DE" altLang="en-US" sz="1400" b="1"/>
          </a:p>
        </p:txBody>
      </p:sp>
      <p:sp>
        <p:nvSpPr>
          <p:cNvPr id="58372" name="Obdĺžnik 3"/>
          <p:cNvSpPr>
            <a:spLocks noChangeArrowheads="1"/>
          </p:cNvSpPr>
          <p:nvPr/>
        </p:nvSpPr>
        <p:spPr bwMode="auto">
          <a:xfrm>
            <a:off x="390525" y="1309688"/>
            <a:ext cx="8721725"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sz="3200" b="1" baseline="-25000"/>
          </a:p>
          <a:p>
            <a:r>
              <a:rPr lang="en-US" altLang="en-US" sz="3200" b="1" baseline="-25000"/>
              <a:t>SELECT</a:t>
            </a:r>
            <a:r>
              <a:rPr lang="sk-SK" altLang="en-US" sz="3200" b="1" baseline="-25000"/>
              <a:t> </a:t>
            </a:r>
            <a:r>
              <a:rPr lang="en-US" altLang="en-US" sz="3200" b="1" baseline="-25000">
                <a:solidFill>
                  <a:srgbClr val="C00000"/>
                </a:solidFill>
              </a:rPr>
              <a:t>rod_cislo</a:t>
            </a:r>
            <a:r>
              <a:rPr lang="en-US" altLang="en-US" sz="3200" b="1" baseline="-25000"/>
              <a:t> , st.os_cislo, ou.meno, ou.</a:t>
            </a:r>
            <a:r>
              <a:rPr lang="sk-SK" altLang="en-US" sz="3200" b="1" baseline="-25000"/>
              <a:t>priezvisko </a:t>
            </a:r>
            <a:endParaRPr lang="en-US" altLang="en-US" sz="3200"/>
          </a:p>
          <a:p>
            <a:r>
              <a:rPr lang="en-US" altLang="en-US" sz="3200" b="1" baseline="-25000"/>
              <a:t>FROM</a:t>
            </a:r>
            <a:r>
              <a:rPr lang="sk-SK" altLang="en-US" sz="3200" b="1" baseline="-25000"/>
              <a:t> </a:t>
            </a:r>
            <a:r>
              <a:rPr lang="en-US" altLang="en-US" sz="3200" b="1" baseline="-25000"/>
              <a:t>os_udaje ou JOIN student st USING ( rod_cislo )</a:t>
            </a:r>
            <a:r>
              <a:rPr lang="sk-SK" altLang="en-US" sz="3200" b="1" baseline="-25000"/>
              <a:t>;</a:t>
            </a:r>
          </a:p>
          <a:p>
            <a:endParaRPr lang="en-US" altLang="en-US" sz="3200"/>
          </a:p>
          <a:p>
            <a:r>
              <a:rPr lang="en-US" altLang="en-US" sz="3200" b="1" baseline="-25000"/>
              <a:t>SELECT</a:t>
            </a:r>
            <a:r>
              <a:rPr lang="sk-SK" altLang="en-US" sz="3200" b="1" baseline="-25000"/>
              <a:t> </a:t>
            </a:r>
            <a:r>
              <a:rPr lang="sk-SK" altLang="en-US" sz="3200" b="1" baseline="-25000">
                <a:solidFill>
                  <a:srgbClr val="C00000"/>
                </a:solidFill>
              </a:rPr>
              <a:t>ou.</a:t>
            </a:r>
            <a:r>
              <a:rPr lang="en-US" altLang="en-US" sz="3200" b="1" baseline="-25000">
                <a:solidFill>
                  <a:srgbClr val="C00000"/>
                </a:solidFill>
              </a:rPr>
              <a:t>rod_cislo </a:t>
            </a:r>
            <a:r>
              <a:rPr lang="en-US" altLang="en-US" sz="3200" b="1" baseline="-25000"/>
              <a:t>, st.os_cislo, ou.meno, ou.</a:t>
            </a:r>
            <a:r>
              <a:rPr lang="sk-SK" altLang="en-US" sz="3200" b="1" baseline="-25000"/>
              <a:t>priezvisko </a:t>
            </a:r>
            <a:endParaRPr lang="en-US" altLang="en-US" sz="3200"/>
          </a:p>
          <a:p>
            <a:r>
              <a:rPr lang="en-US" altLang="en-US" sz="3200" b="1" baseline="-25000"/>
              <a:t>FROM</a:t>
            </a:r>
            <a:r>
              <a:rPr lang="sk-SK" altLang="en-US" sz="3200" b="1" baseline="-25000"/>
              <a:t>    </a:t>
            </a:r>
            <a:r>
              <a:rPr lang="en-US" altLang="en-US" sz="3200" b="1" baseline="-25000">
                <a:solidFill>
                  <a:srgbClr val="C00000"/>
                </a:solidFill>
              </a:rPr>
              <a:t>os_udaje ou JOIN student st </a:t>
            </a:r>
            <a:endParaRPr lang="sk-SK" altLang="en-US" sz="3200" b="1" baseline="-25000">
              <a:solidFill>
                <a:srgbClr val="C00000"/>
              </a:solidFill>
            </a:endParaRPr>
          </a:p>
          <a:p>
            <a:r>
              <a:rPr lang="sk-SK" altLang="en-US" sz="3200" b="1" baseline="-25000"/>
              <a:t>	   </a:t>
            </a:r>
            <a:r>
              <a:rPr lang="sk-SK" altLang="en-US" sz="3200" b="1" baseline="-25000">
                <a:solidFill>
                  <a:srgbClr val="C00000"/>
                </a:solidFill>
              </a:rPr>
              <a:t>ON</a:t>
            </a:r>
            <a:r>
              <a:rPr lang="en-US" altLang="en-US" sz="3200" b="1" baseline="-25000">
                <a:solidFill>
                  <a:srgbClr val="C00000"/>
                </a:solidFill>
              </a:rPr>
              <a:t>( </a:t>
            </a:r>
            <a:r>
              <a:rPr lang="sk-SK" altLang="en-US" sz="3200" b="1" baseline="-25000">
                <a:solidFill>
                  <a:srgbClr val="C00000"/>
                </a:solidFill>
              </a:rPr>
              <a:t>ou.</a:t>
            </a:r>
            <a:r>
              <a:rPr lang="en-US" altLang="en-US" sz="3200" b="1" baseline="-25000">
                <a:solidFill>
                  <a:srgbClr val="C00000"/>
                </a:solidFill>
              </a:rPr>
              <a:t>rod_cislo </a:t>
            </a:r>
            <a:r>
              <a:rPr lang="sk-SK" altLang="en-US" sz="3200" b="1" baseline="-25000">
                <a:solidFill>
                  <a:srgbClr val="C00000"/>
                </a:solidFill>
              </a:rPr>
              <a:t>= st.rod_cislo</a:t>
            </a:r>
            <a:r>
              <a:rPr lang="en-US" altLang="en-US" sz="3200" b="1" baseline="-25000">
                <a:solidFill>
                  <a:srgbClr val="C00000"/>
                </a:solidFill>
              </a:rPr>
              <a:t>)</a:t>
            </a:r>
            <a:r>
              <a:rPr lang="sk-SK" altLang="en-US" sz="3200" b="1" baseline="-25000">
                <a:solidFill>
                  <a:srgbClr val="C00000"/>
                </a:solidFill>
              </a:rPr>
              <a:t>;</a:t>
            </a:r>
            <a:endParaRPr lang="en-US" altLang="en-US" sz="3200">
              <a:solidFill>
                <a:srgbClr val="C00000"/>
              </a:solidFill>
            </a:endParaRPr>
          </a:p>
          <a:p>
            <a:endParaRPr lang="en-US" altLang="en-US">
              <a:solidFill>
                <a:srgbClr val="C00000"/>
              </a:solidFill>
            </a:endParaRPr>
          </a:p>
          <a:p>
            <a:endParaRPr lang="en-US" altLang="en-US"/>
          </a:p>
          <a:p>
            <a:r>
              <a:rPr lang="sk-SK" altLang="en-US" sz="3200" b="1" baseline="-25000">
                <a:solidFill>
                  <a:srgbClr val="C00000"/>
                </a:solidFill>
              </a:rPr>
              <a:t>	</a:t>
            </a:r>
            <a:endParaRPr lang="sk-SK" altLang="en-US" sz="3200">
              <a:solidFill>
                <a:srgbClr val="C00000"/>
              </a:solidFill>
            </a:endParaRPr>
          </a:p>
        </p:txBody>
      </p:sp>
    </p:spTree>
    <p:extLst>
      <p:ext uri="{BB962C8B-B14F-4D97-AF65-F5344CB8AC3E}">
        <p14:creationId xmlns:p14="http://schemas.microsoft.com/office/powerpoint/2010/main" val="218588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5"/>
            <a:ext cx="7899400" cy="600075"/>
          </a:xfrm>
        </p:spPr>
        <p:txBody>
          <a:bodyPr>
            <a:normAutofit fontScale="90000"/>
          </a:bodyPr>
          <a:lstStyle/>
          <a:p>
            <a:pPr algn="ctr">
              <a:defRPr/>
            </a:pPr>
            <a:r>
              <a:rPr lang="sk-SK"/>
              <a:t>Porovnanie typov </a:t>
            </a:r>
            <a:r>
              <a:rPr lang="sk-SK" err="1"/>
              <a:t>spojen</a:t>
            </a:r>
            <a:r>
              <a:rPr lang="en-US" err="1"/>
              <a:t>ia</a:t>
            </a:r>
            <a:r>
              <a:rPr lang="en-US"/>
              <a:t> </a:t>
            </a:r>
          </a:p>
        </p:txBody>
      </p:sp>
      <p:sp>
        <p:nvSpPr>
          <p:cNvPr id="59395" name="Zástupný objekt pre pätu 2"/>
          <p:cNvSpPr>
            <a:spLocks noGrp="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de-DE" altLang="en-US" sz="1400" b="1"/>
          </a:p>
        </p:txBody>
      </p:sp>
      <p:sp>
        <p:nvSpPr>
          <p:cNvPr id="59396" name="Obdĺžnik 3"/>
          <p:cNvSpPr>
            <a:spLocks noChangeArrowheads="1"/>
          </p:cNvSpPr>
          <p:nvPr/>
        </p:nvSpPr>
        <p:spPr bwMode="auto">
          <a:xfrm>
            <a:off x="390525" y="1309688"/>
            <a:ext cx="8721725" cy="515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en-US" altLang="en-US" sz="3200" b="1" baseline="-25000"/>
          </a:p>
          <a:p>
            <a:r>
              <a:rPr lang="pt-BR" altLang="en-US" sz="3200" b="1" baseline="-25000"/>
              <a:t>SELECT rod_cislo , st.os_cislo, ou.meno, ou.</a:t>
            </a:r>
            <a:r>
              <a:rPr lang="sk-SK" altLang="en-US" sz="3200" b="1" baseline="-25000"/>
              <a:t>priezvisko</a:t>
            </a:r>
            <a:r>
              <a:rPr lang="en-US" altLang="en-US" sz="3200" b="1" baseline="-25000"/>
              <a:t>, </a:t>
            </a:r>
            <a:r>
              <a:rPr lang="sk-SK" altLang="en-US" sz="3200" b="1" baseline="-25000"/>
              <a:t>sto</a:t>
            </a:r>
            <a:r>
              <a:rPr lang="en-US" altLang="en-US" sz="3200" b="1" baseline="-25000"/>
              <a:t>.popis_odboru, </a:t>
            </a:r>
            <a:r>
              <a:rPr lang="sk-SK" altLang="en-US" sz="3200" b="1" baseline="-25000"/>
              <a:t>sto</a:t>
            </a:r>
            <a:r>
              <a:rPr lang="en-US" altLang="en-US" sz="3200" b="1" baseline="-25000"/>
              <a:t>.popis_zamerania </a:t>
            </a:r>
            <a:endParaRPr lang="sk-SK" altLang="en-US" sz="3200" b="1" baseline="-25000"/>
          </a:p>
          <a:p>
            <a:r>
              <a:rPr lang="en-US" altLang="en-US" sz="3200" b="1" baseline="-25000"/>
              <a:t>FROM os_udaje ou JOIN student st </a:t>
            </a:r>
            <a:r>
              <a:rPr lang="en-US" altLang="en-US" sz="3200" b="1" baseline="-25000">
                <a:solidFill>
                  <a:srgbClr val="C00000"/>
                </a:solidFill>
              </a:rPr>
              <a:t>USING</a:t>
            </a:r>
            <a:r>
              <a:rPr lang="en-US" altLang="en-US" sz="3200" b="1" baseline="-25000"/>
              <a:t> ( rod_cislo )</a:t>
            </a:r>
          </a:p>
          <a:p>
            <a:r>
              <a:rPr lang="en-US" altLang="en-US" sz="3200" b="1" baseline="-25000"/>
              <a:t>JOIN st_odbory sto </a:t>
            </a:r>
            <a:r>
              <a:rPr lang="en-US" altLang="en-US" sz="3200" b="1" baseline="-25000">
                <a:solidFill>
                  <a:srgbClr val="C00000"/>
                </a:solidFill>
              </a:rPr>
              <a:t>USING</a:t>
            </a:r>
            <a:r>
              <a:rPr lang="en-US" altLang="en-US" sz="3200" b="1" baseline="-25000"/>
              <a:t> ( st_odbor, st_zameranie )</a:t>
            </a:r>
            <a:r>
              <a:rPr lang="sk-SK" altLang="en-US" sz="3200" b="1" baseline="-25000"/>
              <a:t>;</a:t>
            </a:r>
          </a:p>
          <a:p>
            <a:endParaRPr lang="en-US" altLang="en-US"/>
          </a:p>
          <a:p>
            <a:r>
              <a:rPr lang="pt-BR" altLang="en-US" sz="3200" b="1" baseline="-25000"/>
              <a:t>SELECT </a:t>
            </a:r>
            <a:r>
              <a:rPr lang="sk-SK" altLang="en-US" sz="3200" b="1" baseline="-25000"/>
              <a:t>ou.</a:t>
            </a:r>
            <a:r>
              <a:rPr lang="pt-BR" altLang="en-US" sz="3200" b="1" baseline="-25000"/>
              <a:t>rod_cislo , st.os_cislo, ou.meno, ou.</a:t>
            </a:r>
            <a:r>
              <a:rPr lang="sk-SK" altLang="en-US" sz="3200" b="1" baseline="-25000"/>
              <a:t>priezvisko</a:t>
            </a:r>
            <a:r>
              <a:rPr lang="en-US" altLang="en-US" sz="3200" b="1" baseline="-25000"/>
              <a:t>, </a:t>
            </a:r>
            <a:r>
              <a:rPr lang="sk-SK" altLang="en-US" sz="3200" b="1" baseline="-25000"/>
              <a:t>	      	   sto</a:t>
            </a:r>
            <a:r>
              <a:rPr lang="en-US" altLang="en-US" sz="3200" b="1" baseline="-25000"/>
              <a:t>.popis_odboru, </a:t>
            </a:r>
            <a:r>
              <a:rPr lang="sk-SK" altLang="en-US" sz="3200" b="1" baseline="-25000"/>
              <a:t>sto</a:t>
            </a:r>
            <a:r>
              <a:rPr lang="en-US" altLang="en-US" sz="3200" b="1" baseline="-25000"/>
              <a:t>.popis_zamerania </a:t>
            </a:r>
            <a:endParaRPr lang="sk-SK" altLang="en-US" sz="3200" b="1" baseline="-25000"/>
          </a:p>
          <a:p>
            <a:r>
              <a:rPr lang="en-US" altLang="en-US" sz="3200" b="1" baseline="-25000"/>
              <a:t>FROM </a:t>
            </a:r>
            <a:r>
              <a:rPr lang="sk-SK" altLang="en-US" sz="3200" b="1" baseline="-25000"/>
              <a:t>   </a:t>
            </a:r>
            <a:r>
              <a:rPr lang="en-US" altLang="en-US" sz="3200" b="1" baseline="-25000"/>
              <a:t>os_udaje ou JOIN student st </a:t>
            </a:r>
            <a:endParaRPr lang="sk-SK" altLang="en-US" sz="3200" b="1" baseline="-25000"/>
          </a:p>
          <a:p>
            <a:r>
              <a:rPr lang="sk-SK" altLang="en-US" sz="3200" b="1" baseline="-25000"/>
              <a:t>	         </a:t>
            </a:r>
            <a:r>
              <a:rPr lang="sk-SK" altLang="en-US" sz="3200" b="1" baseline="-25000">
                <a:solidFill>
                  <a:srgbClr val="C00000"/>
                </a:solidFill>
              </a:rPr>
              <a:t>ON (ou.</a:t>
            </a:r>
            <a:r>
              <a:rPr lang="en-US" altLang="en-US" sz="3200" b="1" baseline="-25000">
                <a:solidFill>
                  <a:srgbClr val="C00000"/>
                </a:solidFill>
              </a:rPr>
              <a:t>rod_cislo </a:t>
            </a:r>
            <a:r>
              <a:rPr lang="sk-SK" altLang="en-US" sz="3200" b="1" baseline="-25000">
                <a:solidFill>
                  <a:srgbClr val="C00000"/>
                </a:solidFill>
              </a:rPr>
              <a:t>= st.rod_cislo</a:t>
            </a:r>
            <a:r>
              <a:rPr lang="en-US" altLang="en-US" sz="3200" b="1" baseline="-25000">
                <a:solidFill>
                  <a:srgbClr val="C00000"/>
                </a:solidFill>
              </a:rPr>
              <a:t>)</a:t>
            </a:r>
            <a:endParaRPr lang="en-US" altLang="en-US" sz="3200">
              <a:solidFill>
                <a:srgbClr val="C00000"/>
              </a:solidFill>
            </a:endParaRPr>
          </a:p>
          <a:p>
            <a:r>
              <a:rPr lang="sk-SK" altLang="en-US" sz="3200" b="1" baseline="-25000"/>
              <a:t>            </a:t>
            </a:r>
            <a:r>
              <a:rPr lang="en-US" altLang="en-US" sz="3200" b="1" baseline="-25000"/>
              <a:t>JOIN </a:t>
            </a:r>
            <a:r>
              <a:rPr lang="sk-SK" altLang="en-US" sz="3200" b="1" baseline="-25000"/>
              <a:t>     </a:t>
            </a:r>
            <a:r>
              <a:rPr lang="en-US" altLang="en-US" sz="3200" b="1" baseline="-25000"/>
              <a:t>st_odbory sto </a:t>
            </a:r>
            <a:endParaRPr lang="sk-SK" altLang="en-US" sz="3200" b="1" baseline="-25000"/>
          </a:p>
          <a:p>
            <a:r>
              <a:rPr lang="sk-SK" altLang="en-US" sz="3200" b="1" baseline="-25000"/>
              <a:t>	         </a:t>
            </a:r>
            <a:r>
              <a:rPr lang="sk-SK" altLang="en-US" sz="3200" b="1" baseline="-25000">
                <a:solidFill>
                  <a:srgbClr val="C00000"/>
                </a:solidFill>
              </a:rPr>
              <a:t>ON</a:t>
            </a:r>
            <a:r>
              <a:rPr lang="en-US" altLang="en-US" sz="3200" b="1" baseline="-25000">
                <a:solidFill>
                  <a:srgbClr val="C00000"/>
                </a:solidFill>
              </a:rPr>
              <a:t> ( </a:t>
            </a:r>
            <a:r>
              <a:rPr lang="sk-SK" altLang="en-US" sz="3200" b="1" baseline="-25000">
                <a:solidFill>
                  <a:srgbClr val="C00000"/>
                </a:solidFill>
              </a:rPr>
              <a:t>st.</a:t>
            </a:r>
            <a:r>
              <a:rPr lang="en-US" altLang="en-US" sz="3200" b="1" baseline="-25000">
                <a:solidFill>
                  <a:srgbClr val="C00000"/>
                </a:solidFill>
              </a:rPr>
              <a:t>st_odbo</a:t>
            </a:r>
            <a:r>
              <a:rPr lang="sk-SK" altLang="en-US" sz="3200" b="1" baseline="-25000">
                <a:solidFill>
                  <a:srgbClr val="C00000"/>
                </a:solidFill>
              </a:rPr>
              <a:t>r=sto.st_odbor</a:t>
            </a:r>
            <a:r>
              <a:rPr lang="sk-SK" altLang="en-US" sz="3200" b="1">
                <a:solidFill>
                  <a:srgbClr val="C00000"/>
                </a:solidFill>
              </a:rPr>
              <a:t> </a:t>
            </a:r>
            <a:r>
              <a:rPr lang="sk-SK" altLang="en-US" sz="3200" b="1" baseline="-25000">
                <a:solidFill>
                  <a:srgbClr val="C00000"/>
                </a:solidFill>
              </a:rPr>
              <a:t>AND</a:t>
            </a:r>
          </a:p>
          <a:p>
            <a:r>
              <a:rPr lang="sk-SK" altLang="en-US" sz="3200" b="1" baseline="-25000">
                <a:solidFill>
                  <a:srgbClr val="C00000"/>
                </a:solidFill>
              </a:rPr>
              <a:t>	         st.</a:t>
            </a:r>
            <a:r>
              <a:rPr lang="en-US" altLang="en-US" sz="3200" b="1" baseline="-25000">
                <a:solidFill>
                  <a:srgbClr val="C00000"/>
                </a:solidFill>
              </a:rPr>
              <a:t>st_zameranie</a:t>
            </a:r>
            <a:r>
              <a:rPr lang="sk-SK" altLang="en-US" sz="3200" b="1" baseline="-25000">
                <a:solidFill>
                  <a:srgbClr val="C00000"/>
                </a:solidFill>
              </a:rPr>
              <a:t>= sto.</a:t>
            </a:r>
            <a:r>
              <a:rPr lang="en-US" altLang="en-US" sz="3200" b="1" baseline="-25000">
                <a:solidFill>
                  <a:srgbClr val="C00000"/>
                </a:solidFill>
              </a:rPr>
              <a:t> st_zameranie )</a:t>
            </a:r>
            <a:r>
              <a:rPr lang="sk-SK" altLang="en-US" sz="3200" b="1" baseline="-25000">
                <a:solidFill>
                  <a:srgbClr val="C00000"/>
                </a:solidFill>
              </a:rPr>
              <a:t>;</a:t>
            </a:r>
          </a:p>
          <a:p>
            <a:endParaRPr lang="sk-SK" altLang="en-US" sz="3200">
              <a:solidFill>
                <a:srgbClr val="C00000"/>
              </a:solidFill>
            </a:endParaRPr>
          </a:p>
        </p:txBody>
      </p:sp>
    </p:spTree>
    <p:extLst>
      <p:ext uri="{BB962C8B-B14F-4D97-AF65-F5344CB8AC3E}">
        <p14:creationId xmlns:p14="http://schemas.microsoft.com/office/powerpoint/2010/main" val="4153497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5"/>
            <a:ext cx="7899400" cy="1116013"/>
          </a:xfrm>
        </p:spPr>
        <p:txBody>
          <a:bodyPr>
            <a:normAutofit/>
          </a:bodyPr>
          <a:lstStyle/>
          <a:p>
            <a:pPr algn="ctr">
              <a:defRPr/>
            </a:pPr>
            <a:r>
              <a:rPr lang="en-US"/>
              <a:t>Be</a:t>
            </a:r>
            <a:r>
              <a:rPr lang="sk-SK"/>
              <a:t>z ANSI spojenia</a:t>
            </a:r>
            <a:endParaRPr lang="en-US"/>
          </a:p>
        </p:txBody>
      </p:sp>
      <p:sp>
        <p:nvSpPr>
          <p:cNvPr id="57347" name="Zástupný objekt pre pätu 2"/>
          <p:cNvSpPr>
            <a:spLocks noGrp="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de-DE" altLang="en-US" sz="1400" b="1"/>
          </a:p>
        </p:txBody>
      </p:sp>
      <p:sp>
        <p:nvSpPr>
          <p:cNvPr id="57348" name="Obdĺžnik 3"/>
          <p:cNvSpPr>
            <a:spLocks noChangeArrowheads="1"/>
          </p:cNvSpPr>
          <p:nvPr/>
        </p:nvSpPr>
        <p:spPr bwMode="auto">
          <a:xfrm>
            <a:off x="390525" y="1309688"/>
            <a:ext cx="8721725" cy="4319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3200" b="1" baseline="-25000"/>
              <a:t>SELECT</a:t>
            </a:r>
            <a:r>
              <a:rPr lang="sk-SK" altLang="en-US" sz="3200" b="1" baseline="-25000"/>
              <a:t> </a:t>
            </a:r>
            <a:r>
              <a:rPr lang="sk-SK" altLang="en-US" sz="3200" b="1" baseline="-25000" err="1">
                <a:solidFill>
                  <a:srgbClr val="C00000"/>
                </a:solidFill>
              </a:rPr>
              <a:t>ou</a:t>
            </a:r>
            <a:r>
              <a:rPr lang="sk-SK" altLang="en-US" sz="3200" b="1" baseline="-25000">
                <a:solidFill>
                  <a:srgbClr val="C00000"/>
                </a:solidFill>
              </a:rPr>
              <a:t>.</a:t>
            </a:r>
            <a:r>
              <a:rPr lang="en-US" altLang="en-US" sz="3200" b="1" baseline="-25000" err="1">
                <a:solidFill>
                  <a:srgbClr val="C00000"/>
                </a:solidFill>
              </a:rPr>
              <a:t>rod_cislo</a:t>
            </a:r>
            <a:r>
              <a:rPr lang="en-US" altLang="en-US" sz="3200" b="1" baseline="-25000">
                <a:solidFill>
                  <a:srgbClr val="C00000"/>
                </a:solidFill>
              </a:rPr>
              <a:t> </a:t>
            </a:r>
            <a:r>
              <a:rPr lang="en-US" altLang="en-US" sz="3200" b="1" baseline="-25000"/>
              <a:t>, </a:t>
            </a:r>
            <a:r>
              <a:rPr lang="en-US" altLang="en-US" sz="3200" b="1" baseline="-25000" err="1"/>
              <a:t>st.os_cislo</a:t>
            </a:r>
            <a:r>
              <a:rPr lang="en-US" altLang="en-US" sz="3200" b="1" baseline="-25000"/>
              <a:t>, </a:t>
            </a:r>
            <a:r>
              <a:rPr lang="en-US" altLang="en-US" sz="3200" b="1" baseline="-25000" err="1"/>
              <a:t>ou.meno</a:t>
            </a:r>
            <a:r>
              <a:rPr lang="en-US" altLang="en-US" sz="3200" b="1" baseline="-25000"/>
              <a:t>, </a:t>
            </a:r>
            <a:r>
              <a:rPr lang="en-US" altLang="en-US" sz="3200" b="1" baseline="-25000" err="1"/>
              <a:t>ou</a:t>
            </a:r>
            <a:r>
              <a:rPr lang="en-US" altLang="en-US" sz="3200" b="1" baseline="-25000"/>
              <a:t>.</a:t>
            </a:r>
            <a:r>
              <a:rPr lang="sk-SK" altLang="en-US" sz="3200" b="1" baseline="-25000"/>
              <a:t>priezvisko </a:t>
            </a:r>
            <a:endParaRPr lang="en-US" altLang="en-US" sz="3200"/>
          </a:p>
          <a:p>
            <a:r>
              <a:rPr lang="en-US" altLang="en-US" sz="3200" b="1" baseline="-25000"/>
              <a:t>FROM</a:t>
            </a:r>
            <a:r>
              <a:rPr lang="sk-SK" altLang="en-US" sz="3200" b="1" baseline="-25000"/>
              <a:t>    </a:t>
            </a:r>
            <a:r>
              <a:rPr lang="en-US" altLang="en-US" sz="3200" b="1" baseline="-25000" err="1">
                <a:solidFill>
                  <a:srgbClr val="C00000"/>
                </a:solidFill>
              </a:rPr>
              <a:t>os_udaje</a:t>
            </a:r>
            <a:r>
              <a:rPr lang="en-US" altLang="en-US" sz="3200" b="1" baseline="-25000">
                <a:solidFill>
                  <a:srgbClr val="C00000"/>
                </a:solidFill>
              </a:rPr>
              <a:t> </a:t>
            </a:r>
            <a:r>
              <a:rPr lang="en-US" altLang="en-US" sz="3200" b="1" baseline="-25000" err="1">
                <a:solidFill>
                  <a:srgbClr val="C00000"/>
                </a:solidFill>
              </a:rPr>
              <a:t>ou</a:t>
            </a:r>
            <a:r>
              <a:rPr lang="sk-SK" altLang="en-US" sz="3200" b="1" baseline="-25000">
                <a:solidFill>
                  <a:srgbClr val="C00000"/>
                </a:solidFill>
              </a:rPr>
              <a:t>, </a:t>
            </a:r>
            <a:r>
              <a:rPr lang="en-US" altLang="en-US" sz="3200" b="1" baseline="-25000">
                <a:solidFill>
                  <a:srgbClr val="C00000"/>
                </a:solidFill>
              </a:rPr>
              <a:t>student </a:t>
            </a:r>
            <a:r>
              <a:rPr lang="en-US" altLang="en-US" sz="3200" b="1" baseline="-25000" err="1">
                <a:solidFill>
                  <a:srgbClr val="C00000"/>
                </a:solidFill>
              </a:rPr>
              <a:t>st</a:t>
            </a:r>
            <a:r>
              <a:rPr lang="en-US" altLang="en-US" sz="3200" b="1" baseline="-25000">
                <a:solidFill>
                  <a:srgbClr val="C00000"/>
                </a:solidFill>
              </a:rPr>
              <a:t> </a:t>
            </a:r>
            <a:endParaRPr lang="sk-SK" altLang="en-US" sz="3200" b="1" baseline="-25000">
              <a:solidFill>
                <a:srgbClr val="C00000"/>
              </a:solidFill>
            </a:endParaRPr>
          </a:p>
          <a:p>
            <a:r>
              <a:rPr lang="sk-SK" altLang="en-US" sz="3200" b="1" baseline="-25000"/>
              <a:t>	   </a:t>
            </a:r>
            <a:r>
              <a:rPr lang="sk-SK" altLang="en-US" sz="3200" b="1" baseline="-25000">
                <a:solidFill>
                  <a:srgbClr val="C00000"/>
                </a:solidFill>
              </a:rPr>
              <a:t>WHERE </a:t>
            </a:r>
            <a:r>
              <a:rPr lang="en-US" altLang="en-US" sz="3200" b="1" baseline="-25000">
                <a:solidFill>
                  <a:srgbClr val="C00000"/>
                </a:solidFill>
              </a:rPr>
              <a:t> </a:t>
            </a:r>
            <a:r>
              <a:rPr lang="sk-SK" altLang="en-US" sz="3200" b="1" baseline="-25000" err="1">
                <a:solidFill>
                  <a:srgbClr val="C00000"/>
                </a:solidFill>
              </a:rPr>
              <a:t>ou</a:t>
            </a:r>
            <a:r>
              <a:rPr lang="sk-SK" altLang="en-US" sz="3200" b="1" baseline="-25000">
                <a:solidFill>
                  <a:srgbClr val="C00000"/>
                </a:solidFill>
              </a:rPr>
              <a:t>.</a:t>
            </a:r>
            <a:r>
              <a:rPr lang="en-US" altLang="en-US" sz="3200" b="1" baseline="-25000" err="1">
                <a:solidFill>
                  <a:srgbClr val="C00000"/>
                </a:solidFill>
              </a:rPr>
              <a:t>rod_cislo</a:t>
            </a:r>
            <a:r>
              <a:rPr lang="en-US" altLang="en-US" sz="3200" b="1" baseline="-25000">
                <a:solidFill>
                  <a:srgbClr val="C00000"/>
                </a:solidFill>
              </a:rPr>
              <a:t> </a:t>
            </a:r>
            <a:r>
              <a:rPr lang="sk-SK" altLang="en-US" sz="3200" b="1" baseline="-25000">
                <a:solidFill>
                  <a:srgbClr val="C00000"/>
                </a:solidFill>
              </a:rPr>
              <a:t>= </a:t>
            </a:r>
            <a:r>
              <a:rPr lang="sk-SK" altLang="en-US" sz="3200" b="1" baseline="-25000" err="1">
                <a:solidFill>
                  <a:srgbClr val="C00000"/>
                </a:solidFill>
              </a:rPr>
              <a:t>st.rod_cislo</a:t>
            </a:r>
            <a:r>
              <a:rPr lang="sk-SK" altLang="en-US" sz="3200" b="1" baseline="-25000">
                <a:solidFill>
                  <a:srgbClr val="C00000"/>
                </a:solidFill>
              </a:rPr>
              <a:t>;</a:t>
            </a:r>
            <a:endParaRPr lang="en-US" altLang="en-US" sz="3200">
              <a:solidFill>
                <a:srgbClr val="C00000"/>
              </a:solidFill>
            </a:endParaRPr>
          </a:p>
          <a:p>
            <a:endParaRPr lang="en-US" altLang="en-US">
              <a:solidFill>
                <a:srgbClr val="C00000"/>
              </a:solidFill>
            </a:endParaRPr>
          </a:p>
          <a:p>
            <a:endParaRPr lang="en-US" altLang="en-US"/>
          </a:p>
          <a:p>
            <a:r>
              <a:rPr lang="pt-BR" altLang="en-US" sz="3200" b="1" baseline="-25000"/>
              <a:t>SELECT </a:t>
            </a:r>
            <a:r>
              <a:rPr lang="sk-SK" altLang="en-US" sz="3200" b="1" baseline="-25000" err="1"/>
              <a:t>ou</a:t>
            </a:r>
            <a:r>
              <a:rPr lang="sk-SK" altLang="en-US" sz="3200" b="1" baseline="-25000"/>
              <a:t>.</a:t>
            </a:r>
            <a:r>
              <a:rPr lang="pt-BR" altLang="en-US" sz="3200" b="1" baseline="-25000"/>
              <a:t>rod_cislo , st.os_cislo, ou.meno, ou.</a:t>
            </a:r>
            <a:r>
              <a:rPr lang="sk-SK" altLang="en-US" sz="3200" b="1" baseline="-25000"/>
              <a:t>priezvisko</a:t>
            </a:r>
            <a:r>
              <a:rPr lang="en-US" altLang="en-US" sz="3200" b="1" baseline="-25000"/>
              <a:t>, </a:t>
            </a:r>
            <a:r>
              <a:rPr lang="sk-SK" altLang="en-US" sz="3200" b="1" baseline="-25000"/>
              <a:t>	      	   sto</a:t>
            </a:r>
            <a:r>
              <a:rPr lang="en-US" altLang="en-US" sz="3200" b="1" baseline="-25000"/>
              <a:t>.</a:t>
            </a:r>
            <a:r>
              <a:rPr lang="en-US" altLang="en-US" sz="3200" b="1" baseline="-25000" err="1"/>
              <a:t>popis_odboru</a:t>
            </a:r>
            <a:r>
              <a:rPr lang="en-US" altLang="en-US" sz="3200" b="1" baseline="-25000"/>
              <a:t>, </a:t>
            </a:r>
            <a:r>
              <a:rPr lang="sk-SK" altLang="en-US" sz="3200" b="1" baseline="-25000"/>
              <a:t>sto</a:t>
            </a:r>
            <a:r>
              <a:rPr lang="en-US" altLang="en-US" sz="3200" b="1" baseline="-25000"/>
              <a:t>.</a:t>
            </a:r>
            <a:r>
              <a:rPr lang="en-US" altLang="en-US" sz="3200" b="1" baseline="-25000" err="1"/>
              <a:t>popis_zamerania</a:t>
            </a:r>
            <a:r>
              <a:rPr lang="en-US" altLang="en-US" sz="3200" b="1" baseline="-25000"/>
              <a:t> </a:t>
            </a:r>
            <a:endParaRPr lang="sk-SK" altLang="en-US" sz="3200" b="1" baseline="-25000"/>
          </a:p>
          <a:p>
            <a:r>
              <a:rPr lang="en-US" altLang="en-US" sz="3200" b="1" baseline="-25000"/>
              <a:t>FROM </a:t>
            </a:r>
            <a:r>
              <a:rPr lang="sk-SK" altLang="en-US" sz="3200" b="1" baseline="-25000"/>
              <a:t>   </a:t>
            </a:r>
            <a:r>
              <a:rPr lang="en-US" altLang="en-US" sz="3200" b="1" baseline="-25000" err="1"/>
              <a:t>os_udaje</a:t>
            </a:r>
            <a:r>
              <a:rPr lang="en-US" altLang="en-US" sz="3200" b="1" baseline="-25000"/>
              <a:t> </a:t>
            </a:r>
            <a:r>
              <a:rPr lang="en-US" altLang="en-US" sz="3200" b="1" baseline="-25000" err="1"/>
              <a:t>ou</a:t>
            </a:r>
            <a:r>
              <a:rPr lang="en-US" altLang="en-US" sz="3200" b="1" baseline="-25000"/>
              <a:t> </a:t>
            </a:r>
            <a:r>
              <a:rPr lang="sk-SK" altLang="en-US" sz="3200" b="1" baseline="-25000"/>
              <a:t>, </a:t>
            </a:r>
            <a:r>
              <a:rPr lang="en-US" altLang="en-US" sz="3200" b="1" baseline="-25000"/>
              <a:t>student </a:t>
            </a:r>
            <a:r>
              <a:rPr lang="en-US" altLang="en-US" sz="3200" b="1" baseline="-25000" err="1"/>
              <a:t>st</a:t>
            </a:r>
            <a:r>
              <a:rPr lang="en-US" altLang="en-US" sz="3200" b="1" baseline="-25000"/>
              <a:t> </a:t>
            </a:r>
            <a:r>
              <a:rPr lang="sk-SK" altLang="en-US" sz="3200" b="1" baseline="-25000"/>
              <a:t>,</a:t>
            </a:r>
            <a:r>
              <a:rPr lang="en-US" altLang="en-US" sz="3200" b="1" baseline="-25000"/>
              <a:t> </a:t>
            </a:r>
            <a:r>
              <a:rPr lang="en-US" altLang="en-US" sz="3200" b="1" baseline="-25000" err="1"/>
              <a:t>st_odbory</a:t>
            </a:r>
            <a:r>
              <a:rPr lang="en-US" altLang="en-US" sz="3200" b="1" baseline="-25000"/>
              <a:t> </a:t>
            </a:r>
            <a:r>
              <a:rPr lang="en-US" altLang="en-US" sz="3200" b="1" baseline="-25000" err="1"/>
              <a:t>sto</a:t>
            </a:r>
            <a:r>
              <a:rPr lang="en-US" altLang="en-US" sz="3200" b="1" baseline="-25000"/>
              <a:t> </a:t>
            </a:r>
            <a:endParaRPr lang="sk-SK" altLang="en-US" sz="3200" b="1" baseline="-25000"/>
          </a:p>
          <a:p>
            <a:r>
              <a:rPr lang="sk-SK" altLang="en-US" sz="3200" b="1" baseline="-25000"/>
              <a:t>  WHERE </a:t>
            </a:r>
            <a:r>
              <a:rPr lang="sk-SK" altLang="en-US" sz="3200" b="1" baseline="-25000" err="1"/>
              <a:t>ou</a:t>
            </a:r>
            <a:r>
              <a:rPr lang="sk-SK" altLang="en-US" sz="3200" b="1" baseline="-25000"/>
              <a:t>.</a:t>
            </a:r>
            <a:r>
              <a:rPr lang="en-US" altLang="en-US" sz="3200" b="1" baseline="-25000" err="1"/>
              <a:t>rod_cislo</a:t>
            </a:r>
            <a:r>
              <a:rPr lang="en-US" altLang="en-US" sz="3200" b="1" baseline="-25000"/>
              <a:t> </a:t>
            </a:r>
            <a:r>
              <a:rPr lang="sk-SK" altLang="en-US" sz="3200" b="1" baseline="-25000"/>
              <a:t>= </a:t>
            </a:r>
            <a:r>
              <a:rPr lang="sk-SK" altLang="en-US" sz="3200" b="1" baseline="-25000" err="1"/>
              <a:t>st.rod_cislo</a:t>
            </a:r>
            <a:r>
              <a:rPr lang="sk-SK" altLang="en-US" sz="3200" b="1" baseline="-25000"/>
              <a:t> AND</a:t>
            </a:r>
          </a:p>
          <a:p>
            <a:r>
              <a:rPr lang="sk-SK" altLang="en-US" sz="3200" b="1" baseline="-25000"/>
              <a:t>                </a:t>
            </a:r>
            <a:r>
              <a:rPr lang="sk-SK" altLang="en-US" sz="3200" b="1" baseline="-25000">
                <a:solidFill>
                  <a:srgbClr val="C00000"/>
                </a:solidFill>
              </a:rPr>
              <a:t>st.</a:t>
            </a:r>
            <a:r>
              <a:rPr lang="en-US" altLang="en-US" sz="3200" b="1" baseline="-25000" err="1">
                <a:solidFill>
                  <a:srgbClr val="C00000"/>
                </a:solidFill>
              </a:rPr>
              <a:t>st_odbo</a:t>
            </a:r>
            <a:r>
              <a:rPr lang="sk-SK" altLang="en-US" sz="3200" b="1" baseline="-25000">
                <a:solidFill>
                  <a:srgbClr val="C00000"/>
                </a:solidFill>
              </a:rPr>
              <a:t>r=</a:t>
            </a:r>
            <a:r>
              <a:rPr lang="sk-SK" altLang="en-US" sz="3200" b="1" baseline="-25000" err="1">
                <a:solidFill>
                  <a:srgbClr val="C00000"/>
                </a:solidFill>
              </a:rPr>
              <a:t>sto.st_odbor</a:t>
            </a:r>
            <a:r>
              <a:rPr lang="sk-SK" altLang="en-US" sz="3200" b="1">
                <a:solidFill>
                  <a:srgbClr val="C00000"/>
                </a:solidFill>
              </a:rPr>
              <a:t> </a:t>
            </a:r>
            <a:r>
              <a:rPr lang="sk-SK" altLang="en-US" sz="3200" b="1" baseline="-25000">
                <a:solidFill>
                  <a:srgbClr val="C00000"/>
                </a:solidFill>
                <a:highlight>
                  <a:srgbClr val="FFFF00"/>
                </a:highlight>
              </a:rPr>
              <a:t>AND</a:t>
            </a:r>
          </a:p>
          <a:p>
            <a:r>
              <a:rPr lang="sk-SK" altLang="en-US" sz="3200" b="1" baseline="-25000">
                <a:solidFill>
                  <a:srgbClr val="C00000"/>
                </a:solidFill>
              </a:rPr>
              <a:t>	   st.</a:t>
            </a:r>
            <a:r>
              <a:rPr lang="en-US" altLang="en-US" sz="3200" b="1" baseline="-25000" err="1">
                <a:solidFill>
                  <a:srgbClr val="C00000"/>
                </a:solidFill>
              </a:rPr>
              <a:t>st_zameranie</a:t>
            </a:r>
            <a:r>
              <a:rPr lang="sk-SK" altLang="en-US" sz="3200" b="1" baseline="-25000">
                <a:solidFill>
                  <a:srgbClr val="C00000"/>
                </a:solidFill>
              </a:rPr>
              <a:t>= sto.</a:t>
            </a:r>
            <a:r>
              <a:rPr lang="en-US" altLang="en-US" sz="3200" b="1" baseline="-25000">
                <a:solidFill>
                  <a:srgbClr val="C00000"/>
                </a:solidFill>
              </a:rPr>
              <a:t> </a:t>
            </a:r>
            <a:r>
              <a:rPr lang="en-US" altLang="en-US" sz="3200" b="1" baseline="-25000" err="1">
                <a:solidFill>
                  <a:srgbClr val="C00000"/>
                </a:solidFill>
              </a:rPr>
              <a:t>st_zameranie</a:t>
            </a:r>
            <a:r>
              <a:rPr lang="en-US" altLang="en-US" sz="3200" b="1" baseline="-25000">
                <a:solidFill>
                  <a:srgbClr val="C00000"/>
                </a:solidFill>
              </a:rPr>
              <a:t> </a:t>
            </a:r>
            <a:r>
              <a:rPr lang="sk-SK" altLang="en-US" sz="3200" b="1" baseline="-25000">
                <a:solidFill>
                  <a:srgbClr val="C00000"/>
                </a:solidFill>
              </a:rPr>
              <a:t>;</a:t>
            </a:r>
            <a:endParaRPr lang="sk-SK" altLang="en-US" sz="3200">
              <a:solidFill>
                <a:srgbClr val="C00000"/>
              </a:solidFill>
            </a:endParaRPr>
          </a:p>
        </p:txBody>
      </p:sp>
    </p:spTree>
    <p:extLst>
      <p:ext uri="{BB962C8B-B14F-4D97-AF65-F5344CB8AC3E}">
        <p14:creationId xmlns:p14="http://schemas.microsoft.com/office/powerpoint/2010/main" val="2919064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4"/>
          <p:cNvSpPr>
            <a:spLocks noGrp="1" noChangeArrowheads="1"/>
          </p:cNvSpPr>
          <p:nvPr>
            <p:ph type="title"/>
          </p:nvPr>
        </p:nvSpPr>
        <p:spPr>
          <a:xfrm>
            <a:off x="685800" y="0"/>
            <a:ext cx="7772400" cy="1143000"/>
          </a:xfrm>
        </p:spPr>
        <p:txBody>
          <a:bodyPr/>
          <a:lstStyle/>
          <a:p>
            <a:pPr>
              <a:defRPr/>
            </a:pPr>
            <a:r>
              <a:rPr lang="sk-SK" sz="3200" i="1"/>
              <a:t>	Projekcia a </a:t>
            </a:r>
            <a:r>
              <a:rPr lang="sk-SK" sz="3200" i="1" err="1"/>
              <a:t>kartézsky</a:t>
            </a:r>
            <a:r>
              <a:rPr lang="sk-SK" sz="3200" i="1"/>
              <a:t> súčin</a:t>
            </a:r>
            <a:endParaRPr lang="en-US" sz="3200" i="1"/>
          </a:p>
        </p:txBody>
      </p:sp>
      <p:sp>
        <p:nvSpPr>
          <p:cNvPr id="60420" name="Rectangle 5"/>
          <p:cNvSpPr>
            <a:spLocks noChangeArrowheads="1"/>
          </p:cNvSpPr>
          <p:nvPr/>
        </p:nvSpPr>
        <p:spPr bwMode="auto">
          <a:xfrm>
            <a:off x="0" y="1125538"/>
            <a:ext cx="8150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449263">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r>
              <a:rPr lang="sk-SK" altLang="en-US" b="1"/>
              <a:t>SELECT meno, vysledok </a:t>
            </a:r>
            <a:r>
              <a:rPr lang="sk-SK" altLang="en-US" b="1">
                <a:solidFill>
                  <a:schemeClr val="tx2"/>
                </a:solidFill>
              </a:rPr>
              <a:t>FROM st, zp</a:t>
            </a:r>
          </a:p>
        </p:txBody>
      </p:sp>
      <p:graphicFrame>
        <p:nvGraphicFramePr>
          <p:cNvPr id="24470" name="Group 918"/>
          <p:cNvGraphicFramePr>
            <a:graphicFrameLocks noGrp="1"/>
          </p:cNvGraphicFramePr>
          <p:nvPr>
            <p:ph type="tbl" idx="1"/>
            <p:extLst>
              <p:ext uri="{D42A27DB-BD31-4B8C-83A1-F6EECF244321}">
                <p14:modId xmlns:p14="http://schemas.microsoft.com/office/powerpoint/2010/main" val="441934304"/>
              </p:ext>
            </p:extLst>
          </p:nvPr>
        </p:nvGraphicFramePr>
        <p:xfrm>
          <a:off x="342900" y="1525588"/>
          <a:ext cx="8458200" cy="5202999"/>
        </p:xfrm>
        <a:graphic>
          <a:graphicData uri="http://schemas.openxmlformats.org/drawingml/2006/table">
            <a:tbl>
              <a:tblPr/>
              <a:tblGrid>
                <a:gridCol w="685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gridCol w="475456">
                  <a:extLst>
                    <a:ext uri="{9D8B030D-6E8A-4147-A177-3AD203B41FA5}">
                      <a16:colId xmlns:a16="http://schemas.microsoft.com/office/drawing/2014/main" val="20007"/>
                    </a:ext>
                  </a:extLst>
                </a:gridCol>
                <a:gridCol w="846448">
                  <a:extLst>
                    <a:ext uri="{9D8B030D-6E8A-4147-A177-3AD203B41FA5}">
                      <a16:colId xmlns:a16="http://schemas.microsoft.com/office/drawing/2014/main" val="20008"/>
                    </a:ext>
                  </a:extLst>
                </a:gridCol>
                <a:gridCol w="1116496">
                  <a:extLst>
                    <a:ext uri="{9D8B030D-6E8A-4147-A177-3AD203B41FA5}">
                      <a16:colId xmlns:a16="http://schemas.microsoft.com/office/drawing/2014/main" val="20009"/>
                    </a:ext>
                  </a:extLst>
                </a:gridCol>
              </a:tblGrid>
              <a:tr h="40143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ST</a:t>
                      </a:r>
                    </a:p>
                  </a:txBody>
                  <a:tcPr marT="45696" marB="45696"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ZP</a:t>
                      </a:r>
                    </a:p>
                  </a:txBody>
                  <a:tcPr marT="45696" marB="45696"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2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OC</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Meno</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Rocnik</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OC</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CP</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Vysledok</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Meno</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err="1">
                          <a:ln>
                            <a:noFill/>
                          </a:ln>
                          <a:solidFill>
                            <a:schemeClr val="tx1"/>
                          </a:solidFill>
                          <a:effectLst/>
                          <a:latin typeface="Times New Roman" pitchFamily="18" charset="0"/>
                        </a:rPr>
                        <a:t>Vysledok</a:t>
                      </a: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2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1</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Erika</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2</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1</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A602</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A</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Erika</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A</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2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2</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Pavol</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3</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1</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P101</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B</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Erika</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B</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2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2</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P102</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E</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Erika</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E</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2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2</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P201</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F</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Erika</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F</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2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2</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BN03</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E</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Erika</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E</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2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Pavol</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A</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2013">
                <a:tc gridSpan="3">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C00000"/>
                          </a:solidFill>
                          <a:effectLst/>
                          <a:latin typeface="Times New Roman" pitchFamily="18" charset="0"/>
                        </a:rPr>
                        <a:t>Card(</a:t>
                      </a:r>
                      <a:r>
                        <a:rPr kumimoji="0" lang="en-US" sz="1800" b="0" i="0" u="none" strike="noStrike" cap="none" normalizeH="0" baseline="0" err="1">
                          <a:ln>
                            <a:noFill/>
                          </a:ln>
                          <a:solidFill>
                            <a:srgbClr val="C00000"/>
                          </a:solidFill>
                          <a:effectLst/>
                          <a:latin typeface="Times New Roman" pitchFamily="18" charset="0"/>
                        </a:rPr>
                        <a:t>st</a:t>
                      </a:r>
                      <a:r>
                        <a:rPr kumimoji="0" lang="en-US" sz="1800" b="0" i="0" u="none" strike="noStrike" cap="none" normalizeH="0" baseline="0">
                          <a:ln>
                            <a:noFill/>
                          </a:ln>
                          <a:solidFill>
                            <a:srgbClr val="C00000"/>
                          </a:solidFill>
                          <a:effectLst/>
                          <a:latin typeface="Times New Roman" pitchFamily="18" charset="0"/>
                        </a:rPr>
                        <a:t>)=2; Card(</a:t>
                      </a:r>
                      <a:r>
                        <a:rPr kumimoji="0" lang="en-US" sz="1800" b="0" i="0" u="none" strike="noStrike" cap="none" normalizeH="0" baseline="0" err="1">
                          <a:ln>
                            <a:noFill/>
                          </a:ln>
                          <a:solidFill>
                            <a:srgbClr val="C00000"/>
                          </a:solidFill>
                          <a:effectLst/>
                          <a:latin typeface="Times New Roman" pitchFamily="18" charset="0"/>
                        </a:rPr>
                        <a:t>zp</a:t>
                      </a:r>
                      <a:r>
                        <a:rPr kumimoji="0" lang="en-US" sz="1800" b="0" i="0" u="none" strike="noStrike" cap="none" normalizeH="0" baseline="0">
                          <a:ln>
                            <a:noFill/>
                          </a:ln>
                          <a:solidFill>
                            <a:srgbClr val="C00000"/>
                          </a:solidFill>
                          <a:effectLst/>
                          <a:latin typeface="Times New Roman" pitchFamily="18" charset="0"/>
                        </a:rPr>
                        <a:t>) = 5; </a:t>
                      </a:r>
                      <a:endParaRPr kumimoji="0" lang="sk-SK" sz="1800" b="0" i="0" u="none" strike="noStrike" cap="none" normalizeH="0" baseline="0">
                        <a:ln>
                          <a:noFill/>
                        </a:ln>
                        <a:solidFill>
                          <a:srgbClr val="C00000"/>
                        </a:solidFill>
                        <a:effectLst/>
                        <a:latin typeface="Times New Roman" pitchFamily="18" charset="0"/>
                      </a:endParaRPr>
                    </a:p>
                  </a:txBody>
                  <a:tcPr marT="45696" marB="45696" horzOverflow="overflow">
                    <a:lnL cap="flat">
                      <a:noFill/>
                    </a:lnL>
                    <a:lnR>
                      <a:noFill/>
                    </a:lnR>
                    <a:lnT>
                      <a:noFill/>
                    </a:lnT>
                    <a:lnB>
                      <a:noFill/>
                    </a:lnB>
                    <a:lnTlToBr>
                      <a:noFill/>
                    </a:lnTlToBr>
                    <a:lnBlToTr>
                      <a:noFill/>
                    </a:lnBlToTr>
                    <a:noFill/>
                  </a:tcPr>
                </a:tc>
                <a:tc hMerge="1">
                  <a:txBody>
                    <a:bodyPr/>
                    <a:lstStyle/>
                    <a:p>
                      <a:endParaRPr lang="sk-SK"/>
                    </a:p>
                  </a:txBody>
                  <a:tcPr/>
                </a:tc>
                <a:tc hMerge="1">
                  <a:txBody>
                    <a:bodyPr/>
                    <a:lstStyle/>
                    <a:p>
                      <a:endParaRPr lang="sk-SK"/>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rgbClr val="C00000"/>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gridSpan="3">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C00000"/>
                          </a:solidFill>
                          <a:effectLst/>
                          <a:latin typeface="Times New Roman" pitchFamily="18" charset="0"/>
                        </a:rPr>
                        <a:t>Card(out) = 10</a:t>
                      </a:r>
                      <a:endParaRPr kumimoji="0" lang="sk-SK" sz="1800" b="0" i="0" u="none" strike="noStrike" cap="none" normalizeH="0" baseline="0">
                        <a:ln>
                          <a:noFill/>
                        </a:ln>
                        <a:solidFill>
                          <a:srgbClr val="C00000"/>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hMerge="1">
                  <a:txBody>
                    <a:bodyPr/>
                    <a:lstStyle/>
                    <a:p>
                      <a:endParaRPr lang="sk-SK"/>
                    </a:p>
                  </a:txBody>
                  <a:tcPr/>
                </a:tc>
                <a:tc hMerge="1">
                  <a:txBody>
                    <a:bodyPr/>
                    <a:lstStyle/>
                    <a:p>
                      <a:endParaRPr lang="sk-SK"/>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Pavol</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B</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668554">
                <a:tc gridSpan="3">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2"/>
                          </a:solidFill>
                          <a:effectLst/>
                          <a:latin typeface="Times New Roman" pitchFamily="18" charset="0"/>
                        </a:rPr>
                        <a:t>Card(</a:t>
                      </a:r>
                      <a:r>
                        <a:rPr kumimoji="0" lang="en-US" sz="1800" b="0" i="0" u="none" strike="noStrike" cap="none" normalizeH="0" baseline="0" err="1">
                          <a:ln>
                            <a:noFill/>
                          </a:ln>
                          <a:solidFill>
                            <a:schemeClr val="tx2"/>
                          </a:solidFill>
                          <a:effectLst/>
                          <a:latin typeface="Times New Roman" pitchFamily="18" charset="0"/>
                        </a:rPr>
                        <a:t>st</a:t>
                      </a:r>
                      <a:r>
                        <a:rPr kumimoji="0" lang="en-US" sz="1800" b="0" i="0" u="none" strike="noStrike" cap="none" normalizeH="0" baseline="0">
                          <a:ln>
                            <a:noFill/>
                          </a:ln>
                          <a:solidFill>
                            <a:schemeClr val="tx2"/>
                          </a:solidFill>
                          <a:effectLst/>
                          <a:latin typeface="Times New Roman" pitchFamily="18" charset="0"/>
                        </a:rPr>
                        <a:t>) = </a:t>
                      </a:r>
                      <a:r>
                        <a:rPr kumimoji="0" lang="sk-SK" sz="1800" b="0" i="0" u="none" strike="noStrike" cap="none" normalizeH="0" baseline="0">
                          <a:ln>
                            <a:noFill/>
                          </a:ln>
                          <a:solidFill>
                            <a:schemeClr val="tx2"/>
                          </a:solidFill>
                          <a:effectLst/>
                          <a:latin typeface="Times New Roman" pitchFamily="18" charset="0"/>
                        </a:rPr>
                        <a:t>6</a:t>
                      </a:r>
                      <a:r>
                        <a:rPr kumimoji="0" lang="en-US" sz="1800" b="0" i="0" u="none" strike="noStrike" cap="none" normalizeH="0" baseline="0">
                          <a:ln>
                            <a:noFill/>
                          </a:ln>
                          <a:solidFill>
                            <a:schemeClr val="tx2"/>
                          </a:solidFill>
                          <a:effectLst/>
                          <a:latin typeface="Times New Roman" pitchFamily="18" charset="0"/>
                        </a:rPr>
                        <a:t> 000; </a:t>
                      </a:r>
                      <a:r>
                        <a:rPr kumimoji="0" lang="sk-SK" sz="1800" b="0" i="0" u="none" strike="noStrike" cap="none" normalizeH="0" baseline="0">
                          <a:ln>
                            <a:noFill/>
                          </a:ln>
                          <a:solidFill>
                            <a:schemeClr val="tx2"/>
                          </a:solidFill>
                          <a:effectLst/>
                          <a:latin typeface="Times New Roman" pitchFamily="18" charset="0"/>
                        </a:rPr>
                        <a:t>C</a:t>
                      </a:r>
                      <a:r>
                        <a:rPr kumimoji="0" lang="en-US" sz="1800" b="0" i="0" u="none" strike="noStrike" cap="none" normalizeH="0" baseline="0" err="1">
                          <a:ln>
                            <a:noFill/>
                          </a:ln>
                          <a:solidFill>
                            <a:schemeClr val="tx2"/>
                          </a:solidFill>
                          <a:effectLst/>
                          <a:latin typeface="Times New Roman" pitchFamily="18" charset="0"/>
                        </a:rPr>
                        <a:t>ard</a:t>
                      </a:r>
                      <a:r>
                        <a:rPr kumimoji="0" lang="en-US" sz="1800" b="0" i="0" u="none" strike="noStrike" cap="none" normalizeH="0" baseline="0">
                          <a:ln>
                            <a:noFill/>
                          </a:ln>
                          <a:solidFill>
                            <a:schemeClr val="tx2"/>
                          </a:solidFill>
                          <a:effectLst/>
                          <a:latin typeface="Times New Roman" pitchFamily="18" charset="0"/>
                        </a:rPr>
                        <a:t>(</a:t>
                      </a:r>
                      <a:r>
                        <a:rPr kumimoji="0" lang="en-US" sz="1800" b="0" i="0" u="none" strike="noStrike" cap="none" normalizeH="0" baseline="0" err="1">
                          <a:ln>
                            <a:noFill/>
                          </a:ln>
                          <a:solidFill>
                            <a:schemeClr val="tx2"/>
                          </a:solidFill>
                          <a:effectLst/>
                          <a:latin typeface="Times New Roman" pitchFamily="18" charset="0"/>
                        </a:rPr>
                        <a:t>zp</a:t>
                      </a:r>
                      <a:r>
                        <a:rPr kumimoji="0" lang="en-US" sz="1800" b="0" i="0" u="none" strike="noStrike" cap="none" normalizeH="0" baseline="0">
                          <a:ln>
                            <a:noFill/>
                          </a:ln>
                          <a:solidFill>
                            <a:schemeClr val="tx2"/>
                          </a:solidFill>
                          <a:effectLst/>
                          <a:latin typeface="Times New Roman" pitchFamily="18" charset="0"/>
                        </a:rPr>
                        <a:t>)= </a:t>
                      </a:r>
                      <a:r>
                        <a:rPr kumimoji="0" lang="sk-SK" sz="1800" b="0" i="0" u="none" strike="noStrike" cap="none" normalizeH="0" baseline="0">
                          <a:ln>
                            <a:noFill/>
                          </a:ln>
                          <a:solidFill>
                            <a:schemeClr val="tx2"/>
                          </a:solidFill>
                          <a:effectLst/>
                          <a:latin typeface="Times New Roman" pitchFamily="18" charset="0"/>
                        </a:rPr>
                        <a:t>15</a:t>
                      </a:r>
                      <a:r>
                        <a:rPr kumimoji="0" lang="en-US" sz="1800" b="0" i="0" u="none" strike="noStrike" cap="none" normalizeH="0" baseline="0">
                          <a:ln>
                            <a:noFill/>
                          </a:ln>
                          <a:solidFill>
                            <a:schemeClr val="tx2"/>
                          </a:solidFill>
                          <a:effectLst/>
                          <a:latin typeface="Times New Roman" pitchFamily="18" charset="0"/>
                        </a:rPr>
                        <a:t>0 000</a:t>
                      </a:r>
                      <a:endParaRPr kumimoji="0" lang="sk-SK" sz="1800" b="0" i="0" u="none" strike="noStrike" cap="none" normalizeH="0" baseline="0">
                        <a:ln>
                          <a:noFill/>
                        </a:ln>
                        <a:solidFill>
                          <a:schemeClr val="tx2"/>
                        </a:solidFill>
                        <a:effectLst/>
                        <a:latin typeface="Times New Roman" pitchFamily="18" charset="0"/>
                      </a:endParaRPr>
                    </a:p>
                  </a:txBody>
                  <a:tcPr marT="45696" marB="45696" horzOverflow="overflow">
                    <a:lnL cap="flat">
                      <a:noFill/>
                    </a:lnL>
                    <a:lnR>
                      <a:noFill/>
                    </a:lnR>
                    <a:lnT>
                      <a:noFill/>
                    </a:lnT>
                    <a:lnB>
                      <a:noFill/>
                    </a:lnB>
                    <a:lnTlToBr>
                      <a:noFill/>
                    </a:lnTlToBr>
                    <a:lnBlToTr>
                      <a:noFill/>
                    </a:lnBlToTr>
                    <a:noFill/>
                  </a:tcPr>
                </a:tc>
                <a:tc hMerge="1">
                  <a:txBody>
                    <a:bodyPr/>
                    <a:lstStyle/>
                    <a:p>
                      <a:endParaRPr lang="sk-SK"/>
                    </a:p>
                  </a:txBody>
                  <a:tcPr/>
                </a:tc>
                <a:tc hMerge="1">
                  <a:txBody>
                    <a:bodyPr/>
                    <a:lstStyle/>
                    <a:p>
                      <a:endParaRPr lang="sk-SK"/>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2"/>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kern="1200" cap="none" normalizeH="0" baseline="0">
                          <a:ln>
                            <a:noFill/>
                          </a:ln>
                          <a:solidFill>
                            <a:schemeClr val="tx1"/>
                          </a:solidFill>
                          <a:effectLst/>
                          <a:latin typeface="Times New Roman" pitchFamily="18" charset="0"/>
                          <a:ea typeface="+mn-ea"/>
                          <a:cs typeface="+mn-cs"/>
                        </a:rPr>
                        <a:t>Pavol</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kern="1200" cap="none" normalizeH="0" baseline="0">
                          <a:ln>
                            <a:noFill/>
                          </a:ln>
                          <a:solidFill>
                            <a:schemeClr val="tx1"/>
                          </a:solidFill>
                          <a:effectLst/>
                          <a:latin typeface="Times New Roman" pitchFamily="18" charset="0"/>
                          <a:ea typeface="+mn-ea"/>
                          <a:cs typeface="+mn-cs"/>
                        </a:rPr>
                        <a:t>E</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0">
                <a:tc gridSpan="3">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cap="none" normalizeH="0" baseline="0">
                          <a:ln>
                            <a:noFill/>
                          </a:ln>
                          <a:solidFill>
                            <a:schemeClr val="tx2"/>
                          </a:solidFill>
                          <a:effectLst/>
                          <a:latin typeface="Times New Roman" pitchFamily="18" charset="0"/>
                        </a:rPr>
                        <a:t>Card(out) = 900.000.000</a:t>
                      </a:r>
                      <a:endParaRPr kumimoji="0" lang="sk-SK" sz="1800" b="0" i="0" u="none" strike="noStrike" cap="none" normalizeH="0" baseline="0">
                        <a:ln>
                          <a:noFill/>
                        </a:ln>
                        <a:solidFill>
                          <a:schemeClr val="tx2"/>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2"/>
                        </a:solidFill>
                        <a:effectLst/>
                        <a:latin typeface="Times New Roman" pitchFamily="18" charset="0"/>
                      </a:endParaRPr>
                    </a:p>
                  </a:txBody>
                  <a:tcPr marT="45696" marB="45696" horzOverflow="overflow">
                    <a:lnL cap="flat">
                      <a:noFill/>
                    </a:lnL>
                    <a:lnR>
                      <a:noFill/>
                    </a:lnR>
                    <a:lnT>
                      <a:noFill/>
                    </a:lnT>
                    <a:lnB>
                      <a:noFill/>
                    </a:lnB>
                    <a:lnTlToBr>
                      <a:noFill/>
                    </a:lnTlToBr>
                    <a:lnBlToTr>
                      <a:noFill/>
                    </a:lnBlToTr>
                    <a:noFill/>
                  </a:tcPr>
                </a:tc>
                <a:tc hMerge="1">
                  <a:txBody>
                    <a:bodyPr/>
                    <a:lstStyle/>
                    <a:p>
                      <a:endParaRPr lang="sk-SK"/>
                    </a:p>
                  </a:txBody>
                  <a:tcPr/>
                </a:tc>
                <a:tc hMerge="1">
                  <a:txBody>
                    <a:bodyPr/>
                    <a:lstStyle/>
                    <a:p>
                      <a:endParaRPr lang="sk-SK"/>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2"/>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gridSpan="3">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a:noFill/>
                    </a:lnB>
                    <a:lnTlToBr>
                      <a:noFill/>
                    </a:lnTlToBr>
                    <a:lnBlToTr>
                      <a:noFill/>
                    </a:lnBlToTr>
                    <a:noFill/>
                  </a:tcPr>
                </a:tc>
                <a:tc hMerge="1">
                  <a:txBody>
                    <a:bodyPr/>
                    <a:lstStyle/>
                    <a:p>
                      <a:endParaRPr lang="sk-SK"/>
                    </a:p>
                  </a:txBody>
                  <a:tcPr/>
                </a:tc>
                <a:tc hMerge="1">
                  <a:txBody>
                    <a:bodyPr/>
                    <a:lstStyle/>
                    <a:p>
                      <a:endParaRPr lang="sk-SK"/>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Pavol</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F</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82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k-SK" sz="1800" b="0" i="0" u="none" strike="noStrike" cap="none" normalizeH="0" baseline="0">
                        <a:ln>
                          <a:noFill/>
                        </a:ln>
                        <a:solidFill>
                          <a:schemeClr val="tx1"/>
                        </a:solidFill>
                        <a:effectLst/>
                        <a:latin typeface="Times New Roman" pitchFamily="18" charset="0"/>
                      </a:endParaRPr>
                    </a:p>
                  </a:txBody>
                  <a:tcPr marT="45696" marB="45696" horzOverflow="overflow">
                    <a:lnL>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Pavol</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sk-SK" sz="1800" b="0" i="0" u="none" strike="noStrike" cap="none" normalizeH="0" baseline="0">
                          <a:ln>
                            <a:noFill/>
                          </a:ln>
                          <a:solidFill>
                            <a:schemeClr val="tx1"/>
                          </a:solidFill>
                          <a:effectLst/>
                          <a:latin typeface="Times New Roman" pitchFamily="18" charset="0"/>
                        </a:rPr>
                        <a:t>E</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67669474"/>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467" name="Object 2"/>
          <p:cNvGraphicFramePr>
            <a:graphicFrameLocks noGrp="1" noChangeAspect="1"/>
          </p:cNvGraphicFramePr>
          <p:nvPr>
            <p:ph type="body" sz="half" idx="1"/>
          </p:nvPr>
        </p:nvGraphicFramePr>
        <p:xfrm>
          <a:off x="1676400" y="3429000"/>
          <a:ext cx="5791200" cy="2743200"/>
        </p:xfrm>
        <a:graphic>
          <a:graphicData uri="http://schemas.openxmlformats.org/presentationml/2006/ole">
            <mc:AlternateContent xmlns:mc="http://schemas.openxmlformats.org/markup-compatibility/2006">
              <mc:Choice xmlns:v="urn:schemas-microsoft-com:vml" Requires="v">
                <p:oleObj name="Rastrový obrázek" r:id="rId3" imgW="5477640" imgH="2429214" progId="Obraz programu Malování">
                  <p:embed/>
                </p:oleObj>
              </mc:Choice>
              <mc:Fallback>
                <p:oleObj name="Rastrový obrázek" r:id="rId3" imgW="5477640" imgH="2429214" progId="Obraz programu Malování">
                  <p:embed/>
                  <p:pic>
                    <p:nvPicPr>
                      <p:cNvPr id="6246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3429000"/>
                        <a:ext cx="5791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68" name="Text Box 5"/>
          <p:cNvSpPr txBox="1">
            <a:spLocks noChangeArrowheads="1"/>
          </p:cNvSpPr>
          <p:nvPr/>
        </p:nvSpPr>
        <p:spPr bwMode="auto">
          <a:xfrm>
            <a:off x="762000" y="1219200"/>
            <a:ext cx="35496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SELECT </a:t>
            </a:r>
            <a:r>
              <a:rPr lang="en-US" altLang="en-US">
                <a:solidFill>
                  <a:srgbClr val="A50021"/>
                </a:solidFill>
              </a:rPr>
              <a:t>meno, priezvisko</a:t>
            </a:r>
          </a:p>
          <a:p>
            <a:r>
              <a:rPr lang="en-US" altLang="en-US"/>
              <a:t>FROM os_udaje </a:t>
            </a:r>
            <a:endParaRPr lang="sk-SK" altLang="en-US"/>
          </a:p>
        </p:txBody>
      </p:sp>
      <p:sp>
        <p:nvSpPr>
          <p:cNvPr id="62469" name="Rectangle 7"/>
          <p:cNvSpPr>
            <a:spLocks noChangeArrowheads="1"/>
          </p:cNvSpPr>
          <p:nvPr/>
        </p:nvSpPr>
        <p:spPr bwMode="auto">
          <a:xfrm>
            <a:off x="2009775" y="4281488"/>
            <a:ext cx="838200" cy="152400"/>
          </a:xfrm>
          <a:prstGeom prst="rect">
            <a:avLst/>
          </a:prstGeom>
          <a:noFill/>
          <a:ln w="9525">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p:txBody>
      </p:sp>
      <p:sp>
        <p:nvSpPr>
          <p:cNvPr id="62470" name="Rectangle 8"/>
          <p:cNvSpPr>
            <a:spLocks noChangeArrowheads="1"/>
          </p:cNvSpPr>
          <p:nvPr/>
        </p:nvSpPr>
        <p:spPr bwMode="auto">
          <a:xfrm>
            <a:off x="2009775" y="4433888"/>
            <a:ext cx="838200" cy="152400"/>
          </a:xfrm>
          <a:prstGeom prst="rect">
            <a:avLst/>
          </a:prstGeom>
          <a:noFill/>
          <a:ln w="9525">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p:txBody>
      </p:sp>
      <p:sp>
        <p:nvSpPr>
          <p:cNvPr id="62471" name="Text Box 9"/>
          <p:cNvSpPr txBox="1">
            <a:spLocks noChangeArrowheads="1"/>
          </p:cNvSpPr>
          <p:nvPr/>
        </p:nvSpPr>
        <p:spPr bwMode="auto">
          <a:xfrm>
            <a:off x="4025900" y="1219200"/>
            <a:ext cx="2857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 </a:t>
            </a:r>
            <a:r>
              <a:rPr lang="en-US" altLang="en-US">
                <a:solidFill>
                  <a:srgbClr val="0000FF"/>
                </a:solidFill>
              </a:rPr>
              <a:t>cis_predm, vysledok</a:t>
            </a:r>
            <a:endParaRPr lang="sk-SK" altLang="en-US">
              <a:solidFill>
                <a:srgbClr val="0000FF"/>
              </a:solidFill>
            </a:endParaRPr>
          </a:p>
        </p:txBody>
      </p:sp>
      <p:sp>
        <p:nvSpPr>
          <p:cNvPr id="1034" name="Rectangle 10"/>
          <p:cNvSpPr>
            <a:spLocks noChangeArrowheads="1"/>
          </p:cNvSpPr>
          <p:nvPr/>
        </p:nvSpPr>
        <p:spPr bwMode="auto">
          <a:xfrm>
            <a:off x="5884863" y="4343400"/>
            <a:ext cx="957262" cy="21431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p:txBody>
      </p:sp>
      <p:sp>
        <p:nvSpPr>
          <p:cNvPr id="1035" name="Rectangle 11"/>
          <p:cNvSpPr>
            <a:spLocks noChangeArrowheads="1"/>
          </p:cNvSpPr>
          <p:nvPr/>
        </p:nvSpPr>
        <p:spPr bwMode="auto">
          <a:xfrm>
            <a:off x="5883275" y="4767263"/>
            <a:ext cx="957263" cy="214312"/>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p:txBody>
      </p:sp>
      <p:sp>
        <p:nvSpPr>
          <p:cNvPr id="62474" name="Text Box 12"/>
          <p:cNvSpPr txBox="1">
            <a:spLocks noChangeArrowheads="1"/>
          </p:cNvSpPr>
          <p:nvPr/>
        </p:nvSpPr>
        <p:spPr bwMode="auto">
          <a:xfrm>
            <a:off x="762000" y="1981200"/>
            <a:ext cx="7162800" cy="707886"/>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WHERE </a:t>
            </a:r>
            <a:r>
              <a:rPr lang="en-US" altLang="en-US" err="1"/>
              <a:t>os_udaje.rod_cislo</a:t>
            </a:r>
            <a:r>
              <a:rPr lang="en-US" altLang="en-US"/>
              <a:t> = </a:t>
            </a:r>
            <a:r>
              <a:rPr lang="en-US" altLang="en-US" err="1"/>
              <a:t>student.rod_cislo</a:t>
            </a:r>
            <a:endParaRPr lang="en-US" altLang="en-US"/>
          </a:p>
          <a:p>
            <a:r>
              <a:rPr lang="en-US" altLang="en-US"/>
              <a:t>        and </a:t>
            </a:r>
            <a:r>
              <a:rPr lang="en-US" altLang="en-US" err="1"/>
              <a:t>student.os_cislo</a:t>
            </a:r>
            <a:r>
              <a:rPr lang="en-US" altLang="en-US"/>
              <a:t> = </a:t>
            </a:r>
            <a:r>
              <a:rPr lang="en-US" altLang="en-US" err="1"/>
              <a:t>zap_predmety.os_cislo</a:t>
            </a:r>
            <a:r>
              <a:rPr lang="en-US" altLang="en-US"/>
              <a:t>;</a:t>
            </a:r>
            <a:endParaRPr lang="sk-SK" altLang="en-US"/>
          </a:p>
        </p:txBody>
      </p:sp>
      <p:sp>
        <p:nvSpPr>
          <p:cNvPr id="1039" name="Rectangle 15"/>
          <p:cNvSpPr>
            <a:spLocks noChangeArrowheads="1"/>
          </p:cNvSpPr>
          <p:nvPr/>
        </p:nvSpPr>
        <p:spPr bwMode="auto">
          <a:xfrm>
            <a:off x="1981200" y="4010025"/>
            <a:ext cx="838200" cy="1524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p:txBody>
      </p:sp>
      <p:sp>
        <p:nvSpPr>
          <p:cNvPr id="1040" name="Rectangle 16"/>
          <p:cNvSpPr>
            <a:spLocks noChangeArrowheads="1"/>
          </p:cNvSpPr>
          <p:nvPr/>
        </p:nvSpPr>
        <p:spPr bwMode="auto">
          <a:xfrm>
            <a:off x="3662363" y="4281488"/>
            <a:ext cx="838200" cy="1524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p:txBody>
      </p:sp>
      <p:sp>
        <p:nvSpPr>
          <p:cNvPr id="1041" name="Rectangle 17"/>
          <p:cNvSpPr>
            <a:spLocks noChangeArrowheads="1"/>
          </p:cNvSpPr>
          <p:nvPr/>
        </p:nvSpPr>
        <p:spPr bwMode="auto">
          <a:xfrm>
            <a:off x="3629025" y="3700463"/>
            <a:ext cx="838200" cy="1524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p:txBody>
      </p:sp>
      <p:sp>
        <p:nvSpPr>
          <p:cNvPr id="1042" name="Rectangle 18"/>
          <p:cNvSpPr>
            <a:spLocks noChangeArrowheads="1"/>
          </p:cNvSpPr>
          <p:nvPr/>
        </p:nvSpPr>
        <p:spPr bwMode="auto">
          <a:xfrm>
            <a:off x="5867400" y="4038600"/>
            <a:ext cx="838200" cy="1524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sk-SK" altLang="en-US"/>
          </a:p>
        </p:txBody>
      </p:sp>
      <p:sp>
        <p:nvSpPr>
          <p:cNvPr id="1043" name="Freeform 19"/>
          <p:cNvSpPr>
            <a:spLocks/>
          </p:cNvSpPr>
          <p:nvPr/>
        </p:nvSpPr>
        <p:spPr bwMode="auto">
          <a:xfrm>
            <a:off x="2787650" y="3989388"/>
            <a:ext cx="884238" cy="312737"/>
          </a:xfrm>
          <a:custGeom>
            <a:avLst/>
            <a:gdLst>
              <a:gd name="T0" fmla="*/ 0 w 557"/>
              <a:gd name="T1" fmla="*/ 2147483646 h 197"/>
              <a:gd name="T2" fmla="*/ 2147483646 w 557"/>
              <a:gd name="T3" fmla="*/ 2147483646 h 197"/>
              <a:gd name="T4" fmla="*/ 2147483646 w 557"/>
              <a:gd name="T5" fmla="*/ 2147483646 h 197"/>
              <a:gd name="T6" fmla="*/ 0 60000 65536"/>
              <a:gd name="T7" fmla="*/ 0 60000 65536"/>
              <a:gd name="T8" fmla="*/ 0 60000 65536"/>
              <a:gd name="T9" fmla="*/ 0 w 557"/>
              <a:gd name="T10" fmla="*/ 0 h 197"/>
              <a:gd name="T11" fmla="*/ 557 w 557"/>
              <a:gd name="T12" fmla="*/ 197 h 197"/>
            </a:gdLst>
            <a:ahLst/>
            <a:cxnLst>
              <a:cxn ang="T6">
                <a:pos x="T0" y="T1"/>
              </a:cxn>
              <a:cxn ang="T7">
                <a:pos x="T2" y="T3"/>
              </a:cxn>
              <a:cxn ang="T8">
                <a:pos x="T4" y="T5"/>
              </a:cxn>
            </a:cxnLst>
            <a:rect l="T9" t="T10" r="T11" b="T12"/>
            <a:pathLst>
              <a:path w="557" h="197">
                <a:moveTo>
                  <a:pt x="0" y="37"/>
                </a:moveTo>
                <a:cubicBezTo>
                  <a:pt x="46" y="35"/>
                  <a:pt x="191" y="0"/>
                  <a:pt x="284" y="27"/>
                </a:cubicBezTo>
                <a:cubicBezTo>
                  <a:pt x="377" y="54"/>
                  <a:pt x="500" y="162"/>
                  <a:pt x="557" y="197"/>
                </a:cubicBezTo>
              </a:path>
            </a:pathLst>
          </a:custGeom>
          <a:noFill/>
          <a:ln w="28575"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4" name="Freeform 20"/>
          <p:cNvSpPr>
            <a:spLocks/>
          </p:cNvSpPr>
          <p:nvPr/>
        </p:nvSpPr>
        <p:spPr bwMode="auto">
          <a:xfrm>
            <a:off x="4419600" y="3784600"/>
            <a:ext cx="1471613" cy="307975"/>
          </a:xfrm>
          <a:custGeom>
            <a:avLst/>
            <a:gdLst>
              <a:gd name="T0" fmla="*/ 0 w 927"/>
              <a:gd name="T1" fmla="*/ 0 h 194"/>
              <a:gd name="T2" fmla="*/ 2147483646 w 927"/>
              <a:gd name="T3" fmla="*/ 2147483646 h 194"/>
              <a:gd name="T4" fmla="*/ 2147483646 w 927"/>
              <a:gd name="T5" fmla="*/ 2147483646 h 194"/>
              <a:gd name="T6" fmla="*/ 0 60000 65536"/>
              <a:gd name="T7" fmla="*/ 0 60000 65536"/>
              <a:gd name="T8" fmla="*/ 0 60000 65536"/>
              <a:gd name="T9" fmla="*/ 0 w 927"/>
              <a:gd name="T10" fmla="*/ 0 h 194"/>
              <a:gd name="T11" fmla="*/ 927 w 927"/>
              <a:gd name="T12" fmla="*/ 194 h 194"/>
            </a:gdLst>
            <a:ahLst/>
            <a:cxnLst>
              <a:cxn ang="T6">
                <a:pos x="T0" y="T1"/>
              </a:cxn>
              <a:cxn ang="T7">
                <a:pos x="T2" y="T3"/>
              </a:cxn>
              <a:cxn ang="T8">
                <a:pos x="T4" y="T5"/>
              </a:cxn>
            </a:cxnLst>
            <a:rect l="T9" t="T10" r="T11" b="T12"/>
            <a:pathLst>
              <a:path w="927" h="194">
                <a:moveTo>
                  <a:pt x="0" y="0"/>
                </a:moveTo>
                <a:cubicBezTo>
                  <a:pt x="90" y="5"/>
                  <a:pt x="386" y="1"/>
                  <a:pt x="540" y="33"/>
                </a:cubicBezTo>
                <a:cubicBezTo>
                  <a:pt x="694" y="65"/>
                  <a:pt x="847" y="161"/>
                  <a:pt x="927" y="194"/>
                </a:cubicBezTo>
              </a:path>
            </a:pathLst>
          </a:custGeom>
          <a:noFill/>
          <a:ln w="28575"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481" name="Text Box 22"/>
          <p:cNvSpPr txBox="1">
            <a:spLocks noChangeArrowheads="1"/>
          </p:cNvSpPr>
          <p:nvPr/>
        </p:nvSpPr>
        <p:spPr bwMode="auto">
          <a:xfrm>
            <a:off x="2819400" y="1584325"/>
            <a:ext cx="2060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 </a:t>
            </a:r>
            <a:r>
              <a:rPr lang="en-US" altLang="en-US">
                <a:solidFill>
                  <a:srgbClr val="0000FF"/>
                </a:solidFill>
              </a:rPr>
              <a:t>zap_predmety</a:t>
            </a:r>
            <a:endParaRPr lang="sk-SK" altLang="en-US">
              <a:solidFill>
                <a:srgbClr val="0000FF"/>
              </a:solidFill>
            </a:endParaRPr>
          </a:p>
        </p:txBody>
      </p:sp>
      <p:sp>
        <p:nvSpPr>
          <p:cNvPr id="62482" name="Text Box 23"/>
          <p:cNvSpPr txBox="1">
            <a:spLocks noChangeArrowheads="1"/>
          </p:cNvSpPr>
          <p:nvPr/>
        </p:nvSpPr>
        <p:spPr bwMode="auto">
          <a:xfrm>
            <a:off x="4724400" y="1584325"/>
            <a:ext cx="1216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solidFill>
                  <a:srgbClr val="FF0000"/>
                </a:solidFill>
              </a:rPr>
              <a:t>, student</a:t>
            </a:r>
            <a:endParaRPr lang="sk-SK" altLang="en-US">
              <a:solidFill>
                <a:srgbClr val="FF0000"/>
              </a:solidFill>
            </a:endParaRPr>
          </a:p>
        </p:txBody>
      </p:sp>
      <p:sp>
        <p:nvSpPr>
          <p:cNvPr id="62483" name="Text Box 24"/>
          <p:cNvSpPr txBox="1">
            <a:spLocks noChangeArrowheads="1"/>
          </p:cNvSpPr>
          <p:nvPr/>
        </p:nvSpPr>
        <p:spPr bwMode="auto">
          <a:xfrm>
            <a:off x="609600" y="2286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sk-SK" altLang="en-US" b="1" i="1"/>
              <a:t>Vypíšte zoznam študentov spolu s výsledkami z predmetov</a:t>
            </a:r>
          </a:p>
        </p:txBody>
      </p:sp>
    </p:spTree>
    <p:extLst>
      <p:ext uri="{BB962C8B-B14F-4D97-AF65-F5344CB8AC3E}">
        <p14:creationId xmlns:p14="http://schemas.microsoft.com/office/powerpoint/2010/main" val="792287425"/>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34"/>
                                        </p:tgtEl>
                                        <p:attrNameLst>
                                          <p:attrName>style.visibility</p:attrName>
                                        </p:attrNameLst>
                                      </p:cBhvr>
                                      <p:to>
                                        <p:strVal val="visible"/>
                                      </p:to>
                                    </p:set>
                                    <p:anim calcmode="lin" valueType="num">
                                      <p:cBhvr additive="base">
                                        <p:cTn id="7" dur="500" fill="hold"/>
                                        <p:tgtEl>
                                          <p:spTgt spid="1034"/>
                                        </p:tgtEl>
                                        <p:attrNameLst>
                                          <p:attrName>ppt_x</p:attrName>
                                        </p:attrNameLst>
                                      </p:cBhvr>
                                      <p:tavLst>
                                        <p:tav tm="0">
                                          <p:val>
                                            <p:strVal val="0-#ppt_w/2"/>
                                          </p:val>
                                        </p:tav>
                                        <p:tav tm="100000">
                                          <p:val>
                                            <p:strVal val="#ppt_x"/>
                                          </p:val>
                                        </p:tav>
                                      </p:tavLst>
                                    </p:anim>
                                    <p:anim calcmode="lin" valueType="num">
                                      <p:cBhvr additive="base">
                                        <p:cTn id="8" dur="500" fill="hold"/>
                                        <p:tgtEl>
                                          <p:spTgt spid="103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35"/>
                                        </p:tgtEl>
                                        <p:attrNameLst>
                                          <p:attrName>style.visibility</p:attrName>
                                        </p:attrNameLst>
                                      </p:cBhvr>
                                      <p:to>
                                        <p:strVal val="visible"/>
                                      </p:to>
                                    </p:set>
                                    <p:anim calcmode="lin" valueType="num">
                                      <p:cBhvr additive="base">
                                        <p:cTn id="12" dur="500" fill="hold"/>
                                        <p:tgtEl>
                                          <p:spTgt spid="1035"/>
                                        </p:tgtEl>
                                        <p:attrNameLst>
                                          <p:attrName>ppt_x</p:attrName>
                                        </p:attrNameLst>
                                      </p:cBhvr>
                                      <p:tavLst>
                                        <p:tav tm="0">
                                          <p:val>
                                            <p:strVal val="0-#ppt_w/2"/>
                                          </p:val>
                                        </p:tav>
                                        <p:tav tm="100000">
                                          <p:val>
                                            <p:strVal val="#ppt_x"/>
                                          </p:val>
                                        </p:tav>
                                      </p:tavLst>
                                    </p:anim>
                                    <p:anim calcmode="lin" valueType="num">
                                      <p:cBhvr additive="base">
                                        <p:cTn id="13" dur="500" fill="hold"/>
                                        <p:tgtEl>
                                          <p:spTgt spid="103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39"/>
                                        </p:tgtEl>
                                        <p:attrNameLst>
                                          <p:attrName>style.visibility</p:attrName>
                                        </p:attrNameLst>
                                      </p:cBhvr>
                                      <p:to>
                                        <p:strVal val="visible"/>
                                      </p:to>
                                    </p:set>
                                    <p:anim calcmode="lin" valueType="num">
                                      <p:cBhvr additive="base">
                                        <p:cTn id="18" dur="500" fill="hold"/>
                                        <p:tgtEl>
                                          <p:spTgt spid="1039"/>
                                        </p:tgtEl>
                                        <p:attrNameLst>
                                          <p:attrName>ppt_x</p:attrName>
                                        </p:attrNameLst>
                                      </p:cBhvr>
                                      <p:tavLst>
                                        <p:tav tm="0">
                                          <p:val>
                                            <p:strVal val="0-#ppt_w/2"/>
                                          </p:val>
                                        </p:tav>
                                        <p:tav tm="100000">
                                          <p:val>
                                            <p:strVal val="#ppt_x"/>
                                          </p:val>
                                        </p:tav>
                                      </p:tavLst>
                                    </p:anim>
                                    <p:anim calcmode="lin" valueType="num">
                                      <p:cBhvr additive="base">
                                        <p:cTn id="19" dur="500" fill="hold"/>
                                        <p:tgtEl>
                                          <p:spTgt spid="1039"/>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2" presetClass="entr" presetSubtype="8" fill="hold" nodeType="afterEffect">
                                  <p:stCondLst>
                                    <p:cond delay="0"/>
                                  </p:stCondLst>
                                  <p:childTnLst>
                                    <p:set>
                                      <p:cBhvr>
                                        <p:cTn id="22" dur="1" fill="hold">
                                          <p:stCondLst>
                                            <p:cond delay="0"/>
                                          </p:stCondLst>
                                        </p:cTn>
                                        <p:tgtEl>
                                          <p:spTgt spid="1043"/>
                                        </p:tgtEl>
                                        <p:attrNameLst>
                                          <p:attrName>style.visibility</p:attrName>
                                        </p:attrNameLst>
                                      </p:cBhvr>
                                      <p:to>
                                        <p:strVal val="visible"/>
                                      </p:to>
                                    </p:set>
                                    <p:anim calcmode="lin" valueType="num">
                                      <p:cBhvr additive="base">
                                        <p:cTn id="23" dur="500" fill="hold"/>
                                        <p:tgtEl>
                                          <p:spTgt spid="1043"/>
                                        </p:tgtEl>
                                        <p:attrNameLst>
                                          <p:attrName>ppt_x</p:attrName>
                                        </p:attrNameLst>
                                      </p:cBhvr>
                                      <p:tavLst>
                                        <p:tav tm="0">
                                          <p:val>
                                            <p:strVal val="0-#ppt_w/2"/>
                                          </p:val>
                                        </p:tav>
                                        <p:tav tm="100000">
                                          <p:val>
                                            <p:strVal val="#ppt_x"/>
                                          </p:val>
                                        </p:tav>
                                      </p:tavLst>
                                    </p:anim>
                                    <p:anim calcmode="lin" valueType="num">
                                      <p:cBhvr additive="base">
                                        <p:cTn id="24" dur="500" fill="hold"/>
                                        <p:tgtEl>
                                          <p:spTgt spid="1043"/>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1000"/>
                            </p:stCondLst>
                            <p:childTnLst>
                              <p:par>
                                <p:cTn id="26" presetID="2" presetClass="entr" presetSubtype="8" fill="hold" grpId="0" nodeType="afterEffect">
                                  <p:stCondLst>
                                    <p:cond delay="0"/>
                                  </p:stCondLst>
                                  <p:childTnLst>
                                    <p:set>
                                      <p:cBhvr>
                                        <p:cTn id="27" dur="1" fill="hold">
                                          <p:stCondLst>
                                            <p:cond delay="0"/>
                                          </p:stCondLst>
                                        </p:cTn>
                                        <p:tgtEl>
                                          <p:spTgt spid="1040"/>
                                        </p:tgtEl>
                                        <p:attrNameLst>
                                          <p:attrName>style.visibility</p:attrName>
                                        </p:attrNameLst>
                                      </p:cBhvr>
                                      <p:to>
                                        <p:strVal val="visible"/>
                                      </p:to>
                                    </p:set>
                                    <p:anim calcmode="lin" valueType="num">
                                      <p:cBhvr additive="base">
                                        <p:cTn id="28" dur="500" fill="hold"/>
                                        <p:tgtEl>
                                          <p:spTgt spid="1040"/>
                                        </p:tgtEl>
                                        <p:attrNameLst>
                                          <p:attrName>ppt_x</p:attrName>
                                        </p:attrNameLst>
                                      </p:cBhvr>
                                      <p:tavLst>
                                        <p:tav tm="0">
                                          <p:val>
                                            <p:strVal val="0-#ppt_w/2"/>
                                          </p:val>
                                        </p:tav>
                                        <p:tav tm="100000">
                                          <p:val>
                                            <p:strVal val="#ppt_x"/>
                                          </p:val>
                                        </p:tav>
                                      </p:tavLst>
                                    </p:anim>
                                    <p:anim calcmode="lin" valueType="num">
                                      <p:cBhvr additive="base">
                                        <p:cTn id="29" dur="500" fill="hold"/>
                                        <p:tgtEl>
                                          <p:spTgt spid="1040"/>
                                        </p:tgtEl>
                                        <p:attrNameLst>
                                          <p:attrName>ppt_y</p:attrName>
                                        </p:attrNameLst>
                                      </p:cBhvr>
                                      <p:tavLst>
                                        <p:tav tm="0">
                                          <p:val>
                                            <p:strVal val="#ppt_y"/>
                                          </p:val>
                                        </p:tav>
                                        <p:tav tm="100000">
                                          <p:val>
                                            <p:strVal val="#ppt_y"/>
                                          </p:val>
                                        </p:tav>
                                      </p:tavLst>
                                    </p:anim>
                                  </p:childTnLst>
                                </p:cTn>
                              </p:par>
                            </p:childTnLst>
                          </p:cTn>
                        </p:par>
                        <p:par>
                          <p:cTn id="30" fill="hold" nodeType="afterGroup">
                            <p:stCondLst>
                              <p:cond delay="1500"/>
                            </p:stCondLst>
                            <p:childTnLst>
                              <p:par>
                                <p:cTn id="31" presetID="2" presetClass="entr" presetSubtype="8" fill="hold" grpId="0" nodeType="afterEffect">
                                  <p:stCondLst>
                                    <p:cond delay="0"/>
                                  </p:stCondLst>
                                  <p:childTnLst>
                                    <p:set>
                                      <p:cBhvr>
                                        <p:cTn id="32" dur="1" fill="hold">
                                          <p:stCondLst>
                                            <p:cond delay="0"/>
                                          </p:stCondLst>
                                        </p:cTn>
                                        <p:tgtEl>
                                          <p:spTgt spid="1041"/>
                                        </p:tgtEl>
                                        <p:attrNameLst>
                                          <p:attrName>style.visibility</p:attrName>
                                        </p:attrNameLst>
                                      </p:cBhvr>
                                      <p:to>
                                        <p:strVal val="visible"/>
                                      </p:to>
                                    </p:set>
                                    <p:anim calcmode="lin" valueType="num">
                                      <p:cBhvr additive="base">
                                        <p:cTn id="33" dur="500" fill="hold"/>
                                        <p:tgtEl>
                                          <p:spTgt spid="1041"/>
                                        </p:tgtEl>
                                        <p:attrNameLst>
                                          <p:attrName>ppt_x</p:attrName>
                                        </p:attrNameLst>
                                      </p:cBhvr>
                                      <p:tavLst>
                                        <p:tav tm="0">
                                          <p:val>
                                            <p:strVal val="0-#ppt_w/2"/>
                                          </p:val>
                                        </p:tav>
                                        <p:tav tm="100000">
                                          <p:val>
                                            <p:strVal val="#ppt_x"/>
                                          </p:val>
                                        </p:tav>
                                      </p:tavLst>
                                    </p:anim>
                                    <p:anim calcmode="lin" valueType="num">
                                      <p:cBhvr additive="base">
                                        <p:cTn id="34" dur="500" fill="hold"/>
                                        <p:tgtEl>
                                          <p:spTgt spid="1041"/>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2000"/>
                            </p:stCondLst>
                            <p:childTnLst>
                              <p:par>
                                <p:cTn id="36" presetID="2" presetClass="entr" presetSubtype="8" fill="hold" nodeType="afterEffect">
                                  <p:stCondLst>
                                    <p:cond delay="0"/>
                                  </p:stCondLst>
                                  <p:childTnLst>
                                    <p:set>
                                      <p:cBhvr>
                                        <p:cTn id="37" dur="1" fill="hold">
                                          <p:stCondLst>
                                            <p:cond delay="0"/>
                                          </p:stCondLst>
                                        </p:cTn>
                                        <p:tgtEl>
                                          <p:spTgt spid="1044"/>
                                        </p:tgtEl>
                                        <p:attrNameLst>
                                          <p:attrName>style.visibility</p:attrName>
                                        </p:attrNameLst>
                                      </p:cBhvr>
                                      <p:to>
                                        <p:strVal val="visible"/>
                                      </p:to>
                                    </p:set>
                                    <p:anim calcmode="lin" valueType="num">
                                      <p:cBhvr additive="base">
                                        <p:cTn id="38" dur="500" fill="hold"/>
                                        <p:tgtEl>
                                          <p:spTgt spid="1044"/>
                                        </p:tgtEl>
                                        <p:attrNameLst>
                                          <p:attrName>ppt_x</p:attrName>
                                        </p:attrNameLst>
                                      </p:cBhvr>
                                      <p:tavLst>
                                        <p:tav tm="0">
                                          <p:val>
                                            <p:strVal val="0-#ppt_w/2"/>
                                          </p:val>
                                        </p:tav>
                                        <p:tav tm="100000">
                                          <p:val>
                                            <p:strVal val="#ppt_x"/>
                                          </p:val>
                                        </p:tav>
                                      </p:tavLst>
                                    </p:anim>
                                    <p:anim calcmode="lin" valueType="num">
                                      <p:cBhvr additive="base">
                                        <p:cTn id="39" dur="500" fill="hold"/>
                                        <p:tgtEl>
                                          <p:spTgt spid="1044"/>
                                        </p:tgtEl>
                                        <p:attrNameLst>
                                          <p:attrName>ppt_y</p:attrName>
                                        </p:attrNameLst>
                                      </p:cBhvr>
                                      <p:tavLst>
                                        <p:tav tm="0">
                                          <p:val>
                                            <p:strVal val="#ppt_y"/>
                                          </p:val>
                                        </p:tav>
                                        <p:tav tm="100000">
                                          <p:val>
                                            <p:strVal val="#ppt_y"/>
                                          </p:val>
                                        </p:tav>
                                      </p:tavLst>
                                    </p:anim>
                                  </p:childTnLst>
                                </p:cTn>
                              </p:par>
                            </p:childTnLst>
                          </p:cTn>
                        </p:par>
                        <p:par>
                          <p:cTn id="40" fill="hold" nodeType="afterGroup">
                            <p:stCondLst>
                              <p:cond delay="2500"/>
                            </p:stCondLst>
                            <p:childTnLst>
                              <p:par>
                                <p:cTn id="41" presetID="2" presetClass="entr" presetSubtype="8" fill="hold" grpId="0" nodeType="afterEffect">
                                  <p:stCondLst>
                                    <p:cond delay="0"/>
                                  </p:stCondLst>
                                  <p:childTnLst>
                                    <p:set>
                                      <p:cBhvr>
                                        <p:cTn id="42" dur="1" fill="hold">
                                          <p:stCondLst>
                                            <p:cond delay="0"/>
                                          </p:stCondLst>
                                        </p:cTn>
                                        <p:tgtEl>
                                          <p:spTgt spid="1042"/>
                                        </p:tgtEl>
                                        <p:attrNameLst>
                                          <p:attrName>style.visibility</p:attrName>
                                        </p:attrNameLst>
                                      </p:cBhvr>
                                      <p:to>
                                        <p:strVal val="visible"/>
                                      </p:to>
                                    </p:set>
                                    <p:anim calcmode="lin" valueType="num">
                                      <p:cBhvr additive="base">
                                        <p:cTn id="43" dur="500" fill="hold"/>
                                        <p:tgtEl>
                                          <p:spTgt spid="1042"/>
                                        </p:tgtEl>
                                        <p:attrNameLst>
                                          <p:attrName>ppt_x</p:attrName>
                                        </p:attrNameLst>
                                      </p:cBhvr>
                                      <p:tavLst>
                                        <p:tav tm="0">
                                          <p:val>
                                            <p:strVal val="0-#ppt_w/2"/>
                                          </p:val>
                                        </p:tav>
                                        <p:tav tm="100000">
                                          <p:val>
                                            <p:strVal val="#ppt_x"/>
                                          </p:val>
                                        </p:tav>
                                      </p:tavLst>
                                    </p:anim>
                                    <p:anim calcmode="lin" valueType="num">
                                      <p:cBhvr additive="base">
                                        <p:cTn id="44" dur="500" fill="hold"/>
                                        <p:tgtEl>
                                          <p:spTgt spid="10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 grpId="0" animBg="1"/>
      <p:bldP spid="1035" grpId="0" animBg="1"/>
      <p:bldP spid="1039" grpId="0" animBg="1"/>
      <p:bldP spid="1040" grpId="0" animBg="1"/>
      <p:bldP spid="1041" grpId="0" animBg="1"/>
      <p:bldP spid="104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ext Box 3"/>
          <p:cNvSpPr txBox="1">
            <a:spLocks noChangeArrowheads="1"/>
          </p:cNvSpPr>
          <p:nvPr/>
        </p:nvSpPr>
        <p:spPr bwMode="auto">
          <a:xfrm>
            <a:off x="685800" y="762000"/>
            <a:ext cx="71628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SELECT </a:t>
            </a:r>
            <a:r>
              <a:rPr lang="en-US" altLang="en-US" err="1"/>
              <a:t>meno</a:t>
            </a:r>
            <a:r>
              <a:rPr lang="en-US" altLang="en-US"/>
              <a:t>, </a:t>
            </a:r>
            <a:r>
              <a:rPr lang="en-US" altLang="en-US" err="1"/>
              <a:t>priezvisko</a:t>
            </a:r>
            <a:r>
              <a:rPr lang="sk-SK" altLang="en-US"/>
              <a:t>, </a:t>
            </a:r>
            <a:r>
              <a:rPr lang="sk-SK" altLang="en-US" err="1"/>
              <a:t>cis</a:t>
            </a:r>
            <a:r>
              <a:rPr lang="en-US" altLang="en-US"/>
              <a:t>_</a:t>
            </a:r>
            <a:r>
              <a:rPr lang="en-US" altLang="en-US" err="1"/>
              <a:t>predm</a:t>
            </a:r>
            <a:r>
              <a:rPr lang="en-US" altLang="en-US"/>
              <a:t>, </a:t>
            </a:r>
            <a:r>
              <a:rPr lang="en-US" altLang="en-US" err="1"/>
              <a:t>vysledok</a:t>
            </a:r>
            <a:endParaRPr lang="en-US" altLang="en-US"/>
          </a:p>
          <a:p>
            <a:r>
              <a:rPr lang="en-US" altLang="en-US"/>
              <a:t>FROM </a:t>
            </a:r>
            <a:r>
              <a:rPr lang="en-US" altLang="en-US" err="1">
                <a:solidFill>
                  <a:srgbClr val="0000FF"/>
                </a:solidFill>
              </a:rPr>
              <a:t>os_udaje</a:t>
            </a:r>
            <a:r>
              <a:rPr lang="en-US" altLang="en-US">
                <a:solidFill>
                  <a:srgbClr val="0000FF"/>
                </a:solidFill>
              </a:rPr>
              <a:t> </a:t>
            </a:r>
            <a:r>
              <a:rPr lang="sk-SK" altLang="en-US" err="1">
                <a:solidFill>
                  <a:srgbClr val="0000FF"/>
                </a:solidFill>
              </a:rPr>
              <a:t>ou</a:t>
            </a:r>
            <a:r>
              <a:rPr lang="sk-SK" altLang="en-US">
                <a:solidFill>
                  <a:srgbClr val="0000FF"/>
                </a:solidFill>
              </a:rPr>
              <a:t>, </a:t>
            </a:r>
            <a:r>
              <a:rPr lang="en-US" altLang="en-US">
                <a:solidFill>
                  <a:srgbClr val="0000FF"/>
                </a:solidFill>
              </a:rPr>
              <a:t> student </a:t>
            </a:r>
            <a:r>
              <a:rPr lang="sk-SK" altLang="en-US" err="1">
                <a:solidFill>
                  <a:srgbClr val="0000FF"/>
                </a:solidFill>
              </a:rPr>
              <a:t>st</a:t>
            </a:r>
            <a:r>
              <a:rPr lang="sk-SK" altLang="en-US">
                <a:solidFill>
                  <a:srgbClr val="0000FF"/>
                </a:solidFill>
              </a:rPr>
              <a:t>, </a:t>
            </a:r>
            <a:r>
              <a:rPr lang="en-US" altLang="en-US" err="1">
                <a:solidFill>
                  <a:srgbClr val="0000FF"/>
                </a:solidFill>
              </a:rPr>
              <a:t>zap_predmety</a:t>
            </a:r>
            <a:r>
              <a:rPr lang="sk-SK" altLang="en-US">
                <a:solidFill>
                  <a:srgbClr val="0000FF"/>
                </a:solidFill>
              </a:rPr>
              <a:t> </a:t>
            </a:r>
            <a:r>
              <a:rPr lang="sk-SK" altLang="en-US" err="1">
                <a:solidFill>
                  <a:srgbClr val="0000FF"/>
                </a:solidFill>
              </a:rPr>
              <a:t>zp</a:t>
            </a:r>
            <a:endParaRPr lang="sk-SK" altLang="en-US">
              <a:solidFill>
                <a:srgbClr val="0000FF"/>
              </a:solidFill>
            </a:endParaRPr>
          </a:p>
          <a:p>
            <a:r>
              <a:rPr lang="sk-SK" altLang="en-US">
                <a:solidFill>
                  <a:srgbClr val="0000FF"/>
                </a:solidFill>
              </a:rPr>
              <a:t>WHERE </a:t>
            </a:r>
            <a:r>
              <a:rPr lang="sk-SK" altLang="en-US" err="1">
                <a:solidFill>
                  <a:srgbClr val="0000FF"/>
                </a:solidFill>
              </a:rPr>
              <a:t>ou.rod</a:t>
            </a:r>
            <a:r>
              <a:rPr lang="en-US" altLang="en-US">
                <a:solidFill>
                  <a:srgbClr val="0000FF"/>
                </a:solidFill>
              </a:rPr>
              <a:t>_</a:t>
            </a:r>
            <a:r>
              <a:rPr lang="en-US" altLang="en-US" err="1">
                <a:solidFill>
                  <a:srgbClr val="0000FF"/>
                </a:solidFill>
              </a:rPr>
              <a:t>cislo</a:t>
            </a:r>
            <a:r>
              <a:rPr lang="en-US" altLang="en-US">
                <a:solidFill>
                  <a:srgbClr val="0000FF"/>
                </a:solidFill>
              </a:rPr>
              <a:t> = </a:t>
            </a:r>
            <a:r>
              <a:rPr lang="en-US" altLang="en-US" err="1">
                <a:solidFill>
                  <a:srgbClr val="0000FF"/>
                </a:solidFill>
              </a:rPr>
              <a:t>st.rod_cislo</a:t>
            </a:r>
            <a:endParaRPr lang="en-US" altLang="en-US">
              <a:solidFill>
                <a:srgbClr val="0000FF"/>
              </a:solidFill>
            </a:endParaRPr>
          </a:p>
          <a:p>
            <a:r>
              <a:rPr lang="en-US" altLang="en-US">
                <a:solidFill>
                  <a:srgbClr val="0000FF"/>
                </a:solidFill>
              </a:rPr>
              <a:t>       AND </a:t>
            </a:r>
            <a:r>
              <a:rPr lang="en-US" altLang="en-US" err="1">
                <a:solidFill>
                  <a:srgbClr val="0000FF"/>
                </a:solidFill>
              </a:rPr>
              <a:t>st.os_cislo</a:t>
            </a:r>
            <a:r>
              <a:rPr lang="en-US" altLang="en-US">
                <a:solidFill>
                  <a:srgbClr val="0000FF"/>
                </a:solidFill>
              </a:rPr>
              <a:t> = </a:t>
            </a:r>
            <a:r>
              <a:rPr lang="en-US" altLang="en-US" err="1">
                <a:solidFill>
                  <a:srgbClr val="0000FF"/>
                </a:solidFill>
              </a:rPr>
              <a:t>zp.os_cislo</a:t>
            </a:r>
            <a:r>
              <a:rPr lang="en-US" altLang="en-US">
                <a:solidFill>
                  <a:srgbClr val="0000FF"/>
                </a:solidFill>
              </a:rPr>
              <a:t>;</a:t>
            </a:r>
            <a:endParaRPr lang="sk-SK" altLang="en-US">
              <a:solidFill>
                <a:srgbClr val="0000FF"/>
              </a:solidFill>
            </a:endParaRPr>
          </a:p>
        </p:txBody>
      </p:sp>
      <p:sp>
        <p:nvSpPr>
          <p:cNvPr id="64516" name="Text Box 18"/>
          <p:cNvSpPr txBox="1">
            <a:spLocks noChangeArrowheads="1"/>
          </p:cNvSpPr>
          <p:nvPr/>
        </p:nvSpPr>
        <p:spPr bwMode="auto">
          <a:xfrm>
            <a:off x="609600" y="2286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sk-SK" altLang="en-US" b="1" i="1"/>
              <a:t>Vypíšte zoznam študentov spolu s výsledkami z predmetov</a:t>
            </a:r>
          </a:p>
        </p:txBody>
      </p:sp>
      <p:grpSp>
        <p:nvGrpSpPr>
          <p:cNvPr id="2" name="Group 25"/>
          <p:cNvGrpSpPr>
            <a:grpSpLocks/>
          </p:cNvGrpSpPr>
          <p:nvPr/>
        </p:nvGrpSpPr>
        <p:grpSpPr bwMode="auto">
          <a:xfrm>
            <a:off x="838200" y="3962400"/>
            <a:ext cx="7772400" cy="2209800"/>
            <a:chOff x="528" y="2496"/>
            <a:chExt cx="4896" cy="1392"/>
          </a:xfrm>
        </p:grpSpPr>
        <p:sp>
          <p:nvSpPr>
            <p:cNvPr id="64523" name="Text Box 19"/>
            <p:cNvSpPr txBox="1">
              <a:spLocks noChangeArrowheads="1"/>
            </p:cNvSpPr>
            <p:nvPr/>
          </p:nvSpPr>
          <p:spPr bwMode="auto">
            <a:xfrm>
              <a:off x="528" y="2496"/>
              <a:ext cx="4512"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SELECT </a:t>
              </a:r>
              <a:r>
                <a:rPr lang="en-US" altLang="en-US" err="1"/>
                <a:t>meno</a:t>
              </a:r>
              <a:r>
                <a:rPr lang="en-US" altLang="en-US"/>
                <a:t>, </a:t>
              </a:r>
              <a:r>
                <a:rPr lang="en-US" altLang="en-US" err="1"/>
                <a:t>priezvisko</a:t>
              </a:r>
              <a:r>
                <a:rPr lang="sk-SK" altLang="en-US"/>
                <a:t>, </a:t>
              </a:r>
              <a:r>
                <a:rPr lang="sk-SK" altLang="en-US" err="1"/>
                <a:t>cis</a:t>
              </a:r>
              <a:r>
                <a:rPr lang="en-US" altLang="en-US"/>
                <a:t>_</a:t>
              </a:r>
              <a:r>
                <a:rPr lang="en-US" altLang="en-US" err="1"/>
                <a:t>predm</a:t>
              </a:r>
              <a:r>
                <a:rPr lang="en-US" altLang="en-US"/>
                <a:t>, </a:t>
              </a:r>
              <a:r>
                <a:rPr lang="en-US" altLang="en-US" err="1"/>
                <a:t>vysledok</a:t>
              </a:r>
              <a:endParaRPr lang="en-US" altLang="en-US"/>
            </a:p>
            <a:p>
              <a:r>
                <a:rPr lang="en-US" altLang="en-US"/>
                <a:t>FROM </a:t>
              </a:r>
              <a:r>
                <a:rPr lang="en-US" altLang="en-US" err="1">
                  <a:solidFill>
                    <a:srgbClr val="0000FF"/>
                  </a:solidFill>
                </a:rPr>
                <a:t>os_udaje</a:t>
              </a:r>
              <a:r>
                <a:rPr lang="en-US" altLang="en-US">
                  <a:solidFill>
                    <a:srgbClr val="0000FF"/>
                  </a:solidFill>
                </a:rPr>
                <a:t> </a:t>
              </a:r>
              <a:r>
                <a:rPr lang="en-US" altLang="en-US" err="1">
                  <a:solidFill>
                    <a:srgbClr val="0000FF"/>
                  </a:solidFill>
                </a:rPr>
                <a:t>ou</a:t>
              </a:r>
              <a:r>
                <a:rPr lang="en-US" altLang="en-US">
                  <a:solidFill>
                    <a:srgbClr val="0000FF"/>
                  </a:solidFill>
                </a:rPr>
                <a:t> JOIN student  </a:t>
              </a:r>
              <a:r>
                <a:rPr lang="en-US" altLang="en-US" err="1">
                  <a:solidFill>
                    <a:srgbClr val="0000FF"/>
                  </a:solidFill>
                </a:rPr>
                <a:t>st</a:t>
              </a:r>
              <a:endParaRPr lang="en-US" altLang="en-US">
                <a:solidFill>
                  <a:srgbClr val="0000FF"/>
                </a:solidFill>
              </a:endParaRPr>
            </a:p>
            <a:p>
              <a:r>
                <a:rPr lang="en-US" altLang="en-US">
                  <a:solidFill>
                    <a:srgbClr val="0000FF"/>
                  </a:solidFill>
                </a:rPr>
                <a:t>            	ON (</a:t>
              </a:r>
              <a:r>
                <a:rPr lang="en-US" altLang="en-US" err="1">
                  <a:solidFill>
                    <a:srgbClr val="0000FF"/>
                  </a:solidFill>
                </a:rPr>
                <a:t>ou.rod_cislo</a:t>
              </a:r>
              <a:r>
                <a:rPr lang="en-US" altLang="en-US">
                  <a:solidFill>
                    <a:srgbClr val="0000FF"/>
                  </a:solidFill>
                </a:rPr>
                <a:t> = </a:t>
              </a:r>
              <a:r>
                <a:rPr lang="en-US" altLang="en-US" err="1">
                  <a:solidFill>
                    <a:srgbClr val="0000FF"/>
                  </a:solidFill>
                </a:rPr>
                <a:t>st.rod_cislo</a:t>
              </a:r>
              <a:r>
                <a:rPr lang="en-US" altLang="en-US">
                  <a:solidFill>
                    <a:srgbClr val="0000FF"/>
                  </a:solidFill>
                </a:rPr>
                <a:t>)</a:t>
              </a:r>
            </a:p>
            <a:p>
              <a:r>
                <a:rPr lang="en-US" altLang="en-US">
                  <a:solidFill>
                    <a:srgbClr val="0000FF"/>
                  </a:solidFill>
                </a:rPr>
                <a:t>            JOIN </a:t>
              </a:r>
              <a:r>
                <a:rPr lang="en-US" altLang="en-US" err="1">
                  <a:solidFill>
                    <a:srgbClr val="0000FF"/>
                  </a:solidFill>
                </a:rPr>
                <a:t>zap_predmety</a:t>
              </a:r>
              <a:r>
                <a:rPr lang="en-US" altLang="en-US">
                  <a:solidFill>
                    <a:srgbClr val="0000FF"/>
                  </a:solidFill>
                </a:rPr>
                <a:t> </a:t>
              </a:r>
              <a:r>
                <a:rPr lang="en-US" altLang="en-US" err="1">
                  <a:solidFill>
                    <a:srgbClr val="0000FF"/>
                  </a:solidFill>
                </a:rPr>
                <a:t>zp</a:t>
              </a:r>
              <a:endParaRPr lang="en-US" altLang="en-US">
                <a:solidFill>
                  <a:srgbClr val="0000FF"/>
                </a:solidFill>
              </a:endParaRPr>
            </a:p>
            <a:p>
              <a:r>
                <a:rPr lang="en-US" altLang="en-US">
                  <a:solidFill>
                    <a:srgbClr val="0000FF"/>
                  </a:solidFill>
                </a:rPr>
                <a:t>                       ON (</a:t>
              </a:r>
              <a:r>
                <a:rPr lang="en-US" altLang="en-US" err="1">
                  <a:solidFill>
                    <a:srgbClr val="0000FF"/>
                  </a:solidFill>
                </a:rPr>
                <a:t>st.os_cislo</a:t>
              </a:r>
              <a:r>
                <a:rPr lang="en-US" altLang="en-US">
                  <a:solidFill>
                    <a:srgbClr val="0000FF"/>
                  </a:solidFill>
                </a:rPr>
                <a:t> = </a:t>
              </a:r>
              <a:r>
                <a:rPr lang="en-US" altLang="en-US" err="1">
                  <a:solidFill>
                    <a:srgbClr val="0000FF"/>
                  </a:solidFill>
                </a:rPr>
                <a:t>zp.os_cislo</a:t>
              </a:r>
              <a:r>
                <a:rPr lang="en-US" altLang="en-US">
                  <a:solidFill>
                    <a:srgbClr val="0000FF"/>
                  </a:solidFill>
                </a:rPr>
                <a:t>);</a:t>
              </a:r>
              <a:endParaRPr lang="sk-SK" altLang="en-US">
                <a:solidFill>
                  <a:srgbClr val="0000FF"/>
                </a:solidFill>
              </a:endParaRPr>
            </a:p>
          </p:txBody>
        </p:sp>
        <p:sp>
          <p:nvSpPr>
            <p:cNvPr id="64524" name="Text Box 22"/>
            <p:cNvSpPr txBox="1">
              <a:spLocks noChangeArrowheads="1"/>
            </p:cNvSpPr>
            <p:nvPr/>
          </p:nvSpPr>
          <p:spPr bwMode="auto">
            <a:xfrm>
              <a:off x="768" y="3600"/>
              <a:ext cx="46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a:t>… </a:t>
              </a:r>
              <a:r>
                <a:rPr lang="sk-SK" altLang="en-US" i="1"/>
                <a:t>platné vždy</a:t>
              </a:r>
            </a:p>
          </p:txBody>
        </p:sp>
      </p:grpSp>
      <p:grpSp>
        <p:nvGrpSpPr>
          <p:cNvPr id="3" name="Group 24"/>
          <p:cNvGrpSpPr>
            <a:grpSpLocks/>
          </p:cNvGrpSpPr>
          <p:nvPr/>
        </p:nvGrpSpPr>
        <p:grpSpPr bwMode="auto">
          <a:xfrm>
            <a:off x="685800" y="2362200"/>
            <a:ext cx="7848600" cy="1600200"/>
            <a:chOff x="432" y="1488"/>
            <a:chExt cx="4944" cy="1008"/>
          </a:xfrm>
        </p:grpSpPr>
        <p:sp>
          <p:nvSpPr>
            <p:cNvPr id="64521" name="Text Box 21"/>
            <p:cNvSpPr txBox="1">
              <a:spLocks noChangeArrowheads="1"/>
            </p:cNvSpPr>
            <p:nvPr/>
          </p:nvSpPr>
          <p:spPr bwMode="auto">
            <a:xfrm>
              <a:off x="720" y="2208"/>
              <a:ext cx="46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i="1"/>
                <a:t>… pokia</a:t>
              </a:r>
              <a:r>
                <a:rPr lang="sk-SK" altLang="en-US" i="1"/>
                <a:t>ľ sa volajú rovnako v oboch tabuľkách</a:t>
              </a:r>
            </a:p>
          </p:txBody>
        </p:sp>
        <p:sp>
          <p:nvSpPr>
            <p:cNvPr id="64522" name="Text Box 23"/>
            <p:cNvSpPr txBox="1">
              <a:spLocks noChangeArrowheads="1"/>
            </p:cNvSpPr>
            <p:nvPr/>
          </p:nvSpPr>
          <p:spPr bwMode="auto">
            <a:xfrm>
              <a:off x="432" y="1488"/>
              <a:ext cx="4512"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SELECT </a:t>
              </a:r>
              <a:r>
                <a:rPr lang="en-US" altLang="en-US" err="1"/>
                <a:t>meno</a:t>
              </a:r>
              <a:r>
                <a:rPr lang="en-US" altLang="en-US"/>
                <a:t>, </a:t>
              </a:r>
              <a:r>
                <a:rPr lang="en-US" altLang="en-US" err="1"/>
                <a:t>priezvisko</a:t>
              </a:r>
              <a:r>
                <a:rPr lang="sk-SK" altLang="en-US"/>
                <a:t>, </a:t>
              </a:r>
              <a:r>
                <a:rPr lang="sk-SK" altLang="en-US" err="1"/>
                <a:t>cis</a:t>
              </a:r>
              <a:r>
                <a:rPr lang="en-US" altLang="en-US"/>
                <a:t>_</a:t>
              </a:r>
              <a:r>
                <a:rPr lang="en-US" altLang="en-US" err="1"/>
                <a:t>predm</a:t>
              </a:r>
              <a:r>
                <a:rPr lang="en-US" altLang="en-US"/>
                <a:t>, </a:t>
              </a:r>
              <a:r>
                <a:rPr lang="en-US" altLang="en-US" err="1"/>
                <a:t>vysledok</a:t>
              </a:r>
              <a:endParaRPr lang="en-US" altLang="en-US"/>
            </a:p>
            <a:p>
              <a:r>
                <a:rPr lang="en-US" altLang="en-US"/>
                <a:t>FROM </a:t>
              </a:r>
              <a:r>
                <a:rPr lang="en-US" altLang="en-US" err="1">
                  <a:solidFill>
                    <a:srgbClr val="0000FF"/>
                  </a:solidFill>
                </a:rPr>
                <a:t>os_udaje</a:t>
              </a:r>
              <a:r>
                <a:rPr lang="en-US" altLang="en-US">
                  <a:solidFill>
                    <a:srgbClr val="0000FF"/>
                  </a:solidFill>
                </a:rPr>
                <a:t> JOIN student USING (</a:t>
              </a:r>
              <a:r>
                <a:rPr lang="en-US" altLang="en-US" err="1">
                  <a:solidFill>
                    <a:srgbClr val="0000FF"/>
                  </a:solidFill>
                </a:rPr>
                <a:t>rod_cislo</a:t>
              </a:r>
              <a:r>
                <a:rPr lang="en-US" altLang="en-US">
                  <a:solidFill>
                    <a:srgbClr val="0000FF"/>
                  </a:solidFill>
                </a:rPr>
                <a:t>)</a:t>
              </a:r>
            </a:p>
            <a:p>
              <a:r>
                <a:rPr lang="en-US" altLang="en-US">
                  <a:solidFill>
                    <a:srgbClr val="0000FF"/>
                  </a:solidFill>
                </a:rPr>
                <a:t>            JOIN </a:t>
              </a:r>
              <a:r>
                <a:rPr lang="en-US" altLang="en-US" err="1">
                  <a:solidFill>
                    <a:srgbClr val="0000FF"/>
                  </a:solidFill>
                </a:rPr>
                <a:t>zap_predmety</a:t>
              </a:r>
              <a:r>
                <a:rPr lang="en-US" altLang="en-US">
                  <a:solidFill>
                    <a:srgbClr val="0000FF"/>
                  </a:solidFill>
                </a:rPr>
                <a:t> USING (</a:t>
              </a:r>
              <a:r>
                <a:rPr lang="en-US" altLang="en-US" err="1">
                  <a:solidFill>
                    <a:srgbClr val="0000FF"/>
                  </a:solidFill>
                </a:rPr>
                <a:t>os_cislo</a:t>
              </a:r>
              <a:r>
                <a:rPr lang="en-US" altLang="en-US">
                  <a:solidFill>
                    <a:srgbClr val="0000FF"/>
                  </a:solidFill>
                </a:rPr>
                <a:t>);</a:t>
              </a:r>
              <a:endParaRPr lang="sk-SK" altLang="en-US">
                <a:solidFill>
                  <a:srgbClr val="0000FF"/>
                </a:solidFill>
              </a:endParaRPr>
            </a:p>
          </p:txBody>
        </p:sp>
      </p:grpSp>
      <p:sp>
        <p:nvSpPr>
          <p:cNvPr id="64519" name="Line 26"/>
          <p:cNvSpPr>
            <a:spLocks noChangeShapeType="1"/>
          </p:cNvSpPr>
          <p:nvPr/>
        </p:nvSpPr>
        <p:spPr bwMode="auto">
          <a:xfrm>
            <a:off x="381000" y="2286000"/>
            <a:ext cx="815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0" name="Line 27"/>
          <p:cNvSpPr>
            <a:spLocks noChangeShapeType="1"/>
          </p:cNvSpPr>
          <p:nvPr/>
        </p:nvSpPr>
        <p:spPr bwMode="auto">
          <a:xfrm>
            <a:off x="381000" y="3962400"/>
            <a:ext cx="815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158406444"/>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695325" y="496888"/>
            <a:ext cx="7772400" cy="527050"/>
          </a:xfrm>
        </p:spPr>
        <p:txBody>
          <a:bodyPr>
            <a:normAutofit fontScale="90000"/>
          </a:bodyPr>
          <a:lstStyle/>
          <a:p>
            <a:pPr algn="ctr">
              <a:defRPr/>
            </a:pPr>
            <a:r>
              <a:rPr lang="sk-SK"/>
              <a:t>TRIEDENIE výstupu</a:t>
            </a:r>
            <a:endParaRPr lang="en-US"/>
          </a:p>
        </p:txBody>
      </p:sp>
      <p:sp>
        <p:nvSpPr>
          <p:cNvPr id="66563" name="Obdĺžnik 5"/>
          <p:cNvSpPr>
            <a:spLocks noChangeArrowheads="1"/>
          </p:cNvSpPr>
          <p:nvPr/>
        </p:nvSpPr>
        <p:spPr bwMode="auto">
          <a:xfrm>
            <a:off x="606425" y="1104900"/>
            <a:ext cx="8199438" cy="3784600"/>
          </a:xfrm>
          <a:prstGeom prst="rect">
            <a:avLst/>
          </a:prstGeom>
          <a:solidFill>
            <a:srgbClr val="FFFF00">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b="1"/>
              <a:t>SELECT [DISTINCT] {* | [ stlpec_vyraz [ [AS] alias_stlpca]][,.. FROM meno_tabulky [alias_tabulky] [,...] [JOIN ....]</a:t>
            </a:r>
          </a:p>
          <a:p>
            <a:endParaRPr lang="en-US" altLang="en-US" b="1"/>
          </a:p>
          <a:p>
            <a:r>
              <a:rPr lang="en-US" altLang="en-US" b="1"/>
              <a:t>[ WHERE podmienky ]</a:t>
            </a:r>
          </a:p>
          <a:p>
            <a:endParaRPr lang="en-US" altLang="en-US" b="1"/>
          </a:p>
          <a:p>
            <a:r>
              <a:rPr lang="en-US" altLang="en-US" b="1"/>
              <a:t>[ GROUP BY zoznam_stlpcov ]</a:t>
            </a:r>
          </a:p>
          <a:p>
            <a:endParaRPr lang="en-US" altLang="en-US" b="1"/>
          </a:p>
          <a:p>
            <a:r>
              <a:rPr lang="en-US" altLang="en-US" b="1"/>
              <a:t>[ HAVING podmienky ]</a:t>
            </a:r>
          </a:p>
          <a:p>
            <a:endParaRPr lang="en-US" altLang="en-US" b="1"/>
          </a:p>
          <a:p>
            <a:r>
              <a:rPr lang="en-US" altLang="en-US" b="1">
                <a:solidFill>
                  <a:srgbClr val="C00000"/>
                </a:solidFill>
              </a:rPr>
              <a:t>[ ORDER BY meno_stlpca [ ASC | DESC ][,...] ]</a:t>
            </a:r>
          </a:p>
          <a:p>
            <a:endParaRPr lang="en-US" altLang="en-US"/>
          </a:p>
          <a:p>
            <a:r>
              <a:rPr lang="en-US" altLang="en-US"/>
              <a:t>... triedenie </a:t>
            </a:r>
          </a:p>
        </p:txBody>
      </p:sp>
    </p:spTree>
    <p:extLst>
      <p:ext uri="{BB962C8B-B14F-4D97-AF65-F5344CB8AC3E}">
        <p14:creationId xmlns:p14="http://schemas.microsoft.com/office/powerpoint/2010/main" val="1700615165"/>
      </p:ext>
    </p:extLst>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685800" y="228600"/>
            <a:ext cx="7772400" cy="954088"/>
          </a:xfrm>
        </p:spPr>
        <p:txBody>
          <a:bodyPr/>
          <a:lstStyle/>
          <a:p>
            <a:pPr algn="ctr">
              <a:defRPr/>
            </a:pPr>
            <a:r>
              <a:rPr lang="sk-SK"/>
              <a:t>TRIEDENIE výstupu</a:t>
            </a:r>
            <a:endParaRPr lang="en-US"/>
          </a:p>
        </p:txBody>
      </p:sp>
      <p:sp>
        <p:nvSpPr>
          <p:cNvPr id="67588" name="Obdĺžnik 5"/>
          <p:cNvSpPr>
            <a:spLocks noChangeArrowheads="1"/>
          </p:cNvSpPr>
          <p:nvPr/>
        </p:nvSpPr>
        <p:spPr bwMode="auto">
          <a:xfrm>
            <a:off x="368300" y="1182688"/>
            <a:ext cx="8486775" cy="4360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3200" baseline="-25000">
                <a:solidFill>
                  <a:srgbClr val="000000"/>
                </a:solidFill>
                <a:latin typeface="Courier New" panose="02070309020205020404" pitchFamily="49" charset="0"/>
              </a:rPr>
              <a:t>SELECT </a:t>
            </a:r>
            <a:r>
              <a:rPr lang="sk-SK" altLang="en-US" sz="3200" baseline="-25000">
                <a:solidFill>
                  <a:srgbClr val="000000"/>
                </a:solidFill>
                <a:latin typeface="Courier New" panose="02070309020205020404" pitchFamily="49" charset="0"/>
              </a:rPr>
              <a:t>meno, priezvisko, </a:t>
            </a:r>
            <a:r>
              <a:rPr lang="en-US" altLang="en-US" sz="3200" baseline="-25000" err="1">
                <a:solidFill>
                  <a:srgbClr val="000000"/>
                </a:solidFill>
                <a:latin typeface="Courier New" panose="02070309020205020404" pitchFamily="49" charset="0"/>
              </a:rPr>
              <a:t>rocnik</a:t>
            </a:r>
            <a:endParaRPr lang="en-US" altLang="en-US" sz="3200">
              <a:solidFill>
                <a:srgbClr val="000000"/>
              </a:solidFill>
              <a:latin typeface="Times New Roman" panose="02020603050405020304" pitchFamily="18" charset="0"/>
            </a:endParaRPr>
          </a:p>
          <a:p>
            <a:r>
              <a:rPr lang="en-US" altLang="en-US" sz="3200" baseline="-25000">
                <a:solidFill>
                  <a:srgbClr val="000000"/>
                </a:solidFill>
                <a:latin typeface="Courier New" panose="02070309020205020404" pitchFamily="49" charset="0"/>
              </a:rPr>
              <a:t>FROM </a:t>
            </a:r>
            <a:r>
              <a:rPr lang="en-US" altLang="en-US" sz="3200" baseline="-25000" err="1">
                <a:solidFill>
                  <a:srgbClr val="000000"/>
                </a:solidFill>
                <a:latin typeface="Courier New" panose="02070309020205020404" pitchFamily="49" charset="0"/>
              </a:rPr>
              <a:t>os_udaje</a:t>
            </a:r>
            <a:r>
              <a:rPr lang="en-US" altLang="en-US" sz="3200" baseline="-25000">
                <a:solidFill>
                  <a:srgbClr val="000000"/>
                </a:solidFill>
                <a:latin typeface="Courier New" panose="02070309020205020404" pitchFamily="49" charset="0"/>
              </a:rPr>
              <a:t> </a:t>
            </a:r>
            <a:r>
              <a:rPr lang="en-US" altLang="en-US" sz="3200" baseline="-25000" err="1">
                <a:solidFill>
                  <a:srgbClr val="000000"/>
                </a:solidFill>
                <a:latin typeface="Courier New" panose="02070309020205020404" pitchFamily="49" charset="0"/>
              </a:rPr>
              <a:t>ou</a:t>
            </a:r>
            <a:r>
              <a:rPr lang="en-US" altLang="en-US" sz="3200" baseline="-25000">
                <a:solidFill>
                  <a:srgbClr val="000000"/>
                </a:solidFill>
                <a:latin typeface="Courier New" panose="02070309020205020404" pitchFamily="49" charset="0"/>
              </a:rPr>
              <a:t> JOIN student </a:t>
            </a:r>
            <a:r>
              <a:rPr lang="en-US" altLang="en-US" sz="3200" baseline="-25000" err="1">
                <a:solidFill>
                  <a:srgbClr val="000000"/>
                </a:solidFill>
                <a:latin typeface="Courier New" panose="02070309020205020404" pitchFamily="49" charset="0"/>
              </a:rPr>
              <a:t>st</a:t>
            </a:r>
            <a:r>
              <a:rPr lang="en-US" altLang="en-US" sz="3200" baseline="-25000">
                <a:solidFill>
                  <a:srgbClr val="000000"/>
                </a:solidFill>
                <a:latin typeface="Courier New" panose="02070309020205020404" pitchFamily="49" charset="0"/>
              </a:rPr>
              <a:t> USING (</a:t>
            </a:r>
            <a:r>
              <a:rPr lang="en-US" altLang="en-US" sz="3200" baseline="-25000" err="1">
                <a:solidFill>
                  <a:srgbClr val="000000"/>
                </a:solidFill>
                <a:latin typeface="Courier New" panose="02070309020205020404" pitchFamily="49" charset="0"/>
              </a:rPr>
              <a:t>rod_cislo</a:t>
            </a:r>
            <a:r>
              <a:rPr lang="en-US" altLang="en-US" sz="3200" baseline="-25000">
                <a:solidFill>
                  <a:srgbClr val="000000"/>
                </a:solidFill>
                <a:latin typeface="Courier New" panose="02070309020205020404" pitchFamily="49" charset="0"/>
              </a:rPr>
              <a:t>) </a:t>
            </a:r>
            <a:r>
              <a:rPr lang="en-US" altLang="en-US" sz="3200" baseline="-25000">
                <a:solidFill>
                  <a:srgbClr val="0000FD"/>
                </a:solidFill>
                <a:latin typeface="Courier New" panose="02070309020205020404" pitchFamily="49" charset="0"/>
              </a:rPr>
              <a:t> </a:t>
            </a:r>
          </a:p>
          <a:p>
            <a:endParaRPr lang="en-US" altLang="en-US" sz="3200" b="1" baseline="-25000">
              <a:solidFill>
                <a:srgbClr val="0000FD"/>
              </a:solidFill>
              <a:latin typeface="Courier New" panose="02070309020205020404" pitchFamily="49" charset="0"/>
            </a:endParaRPr>
          </a:p>
          <a:p>
            <a:r>
              <a:rPr lang="en-US" altLang="en-US" sz="3200" b="1" baseline="-25000">
                <a:solidFill>
                  <a:srgbClr val="FF0000"/>
                </a:solidFill>
                <a:latin typeface="Courier New" panose="02070309020205020404" pitchFamily="49" charset="0"/>
              </a:rPr>
              <a:t>ORDER BY </a:t>
            </a:r>
            <a:r>
              <a:rPr lang="sk-SK" altLang="en-US" sz="3200" b="1" baseline="-25000">
                <a:solidFill>
                  <a:srgbClr val="FF0000"/>
                </a:solidFill>
                <a:latin typeface="Courier New" panose="02070309020205020404" pitchFamily="49" charset="0"/>
              </a:rPr>
              <a:t>priezvisko, meno </a:t>
            </a:r>
          </a:p>
          <a:p>
            <a:endParaRPr lang="en-US" altLang="en-US" sz="3200" b="1" baseline="-25000">
              <a:solidFill>
                <a:srgbClr val="FF0000"/>
              </a:solidFill>
              <a:latin typeface="Courier New" panose="02070309020205020404" pitchFamily="49" charset="0"/>
            </a:endParaRPr>
          </a:p>
          <a:p>
            <a:r>
              <a:rPr lang="sk-SK" altLang="en-US" sz="3200" b="1" baseline="-25000">
                <a:solidFill>
                  <a:srgbClr val="FF0000"/>
                </a:solidFill>
                <a:latin typeface="Courier New" panose="02070309020205020404" pitchFamily="49" charset="0"/>
              </a:rPr>
              <a:t>O</a:t>
            </a:r>
            <a:r>
              <a:rPr lang="en-US" altLang="en-US" sz="3200" b="1" baseline="-25000">
                <a:solidFill>
                  <a:srgbClr val="FF0000"/>
                </a:solidFill>
                <a:latin typeface="Courier New" panose="02070309020205020404" pitchFamily="49" charset="0"/>
              </a:rPr>
              <a:t>RDER BY </a:t>
            </a:r>
            <a:r>
              <a:rPr lang="sk-SK" altLang="en-US" sz="3200" b="1" baseline="-25000">
                <a:solidFill>
                  <a:srgbClr val="FF0000"/>
                </a:solidFill>
                <a:latin typeface="Courier New" panose="02070309020205020404" pitchFamily="49" charset="0"/>
              </a:rPr>
              <a:t>priezvisko </a:t>
            </a:r>
            <a:r>
              <a:rPr lang="en-US" altLang="en-US" sz="3200" b="1" baseline="-25000">
                <a:solidFill>
                  <a:srgbClr val="FF0000"/>
                </a:solidFill>
                <a:latin typeface="Courier New" panose="02070309020205020404" pitchFamily="49" charset="0"/>
              </a:rPr>
              <a:t>ASC, </a:t>
            </a:r>
            <a:r>
              <a:rPr lang="sk-SK" altLang="en-US" sz="3200" b="1" baseline="-25000">
                <a:solidFill>
                  <a:srgbClr val="FF0000"/>
                </a:solidFill>
                <a:latin typeface="Courier New" panose="02070309020205020404" pitchFamily="49" charset="0"/>
              </a:rPr>
              <a:t>meno </a:t>
            </a:r>
            <a:r>
              <a:rPr lang="en-US" altLang="en-US" sz="3200" b="1" baseline="-25000">
                <a:solidFill>
                  <a:srgbClr val="FF0000"/>
                </a:solidFill>
                <a:latin typeface="Courier New" panose="02070309020205020404" pitchFamily="49" charset="0"/>
              </a:rPr>
              <a:t>ASC </a:t>
            </a:r>
            <a:endParaRPr lang="sk-SK" altLang="en-US" sz="3200" b="1" baseline="-25000">
              <a:solidFill>
                <a:srgbClr val="FF0000"/>
              </a:solidFill>
              <a:latin typeface="Courier New" panose="02070309020205020404" pitchFamily="49" charset="0"/>
            </a:endParaRPr>
          </a:p>
          <a:p>
            <a:endParaRPr lang="en-US" altLang="en-US" sz="3200" b="1" baseline="-25000">
              <a:solidFill>
                <a:srgbClr val="FF0000"/>
              </a:solidFill>
              <a:latin typeface="Courier New" panose="02070309020205020404" pitchFamily="49" charset="0"/>
            </a:endParaRPr>
          </a:p>
          <a:p>
            <a:r>
              <a:rPr lang="en-US" altLang="en-US" sz="3200" b="1" baseline="-25000">
                <a:solidFill>
                  <a:srgbClr val="FF0000"/>
                </a:solidFill>
                <a:latin typeface="Courier New" panose="02070309020205020404" pitchFamily="49" charset="0"/>
              </a:rPr>
              <a:t>ORDER BY </a:t>
            </a:r>
            <a:r>
              <a:rPr lang="en-US" altLang="en-US" sz="3200" b="1" baseline="-25000" err="1">
                <a:solidFill>
                  <a:srgbClr val="FF0000"/>
                </a:solidFill>
                <a:latin typeface="Courier New" panose="02070309020205020404" pitchFamily="49" charset="0"/>
              </a:rPr>
              <a:t>rocnik</a:t>
            </a:r>
            <a:r>
              <a:rPr lang="en-US" altLang="en-US" sz="3200" b="1" baseline="-25000">
                <a:solidFill>
                  <a:srgbClr val="FF0000"/>
                </a:solidFill>
                <a:latin typeface="Courier New" panose="02070309020205020404" pitchFamily="49" charset="0"/>
              </a:rPr>
              <a:t> DESC, </a:t>
            </a:r>
            <a:r>
              <a:rPr lang="sk-SK" altLang="en-US" sz="3200" b="1" baseline="-25000">
                <a:solidFill>
                  <a:srgbClr val="FF0000"/>
                </a:solidFill>
                <a:latin typeface="Courier New" panose="02070309020205020404" pitchFamily="49" charset="0"/>
              </a:rPr>
              <a:t>priezvisko, meno</a:t>
            </a:r>
            <a:endParaRPr lang="en-US" altLang="en-US" sz="3200" b="1" baseline="-25000">
              <a:solidFill>
                <a:srgbClr val="FF0000"/>
              </a:solidFill>
              <a:latin typeface="Courier New" panose="02070309020205020404" pitchFamily="49" charset="0"/>
            </a:endParaRPr>
          </a:p>
          <a:p>
            <a:endParaRPr lang="en-US" altLang="en-US" sz="3200" b="1" baseline="-25000">
              <a:solidFill>
                <a:srgbClr val="FF0000"/>
              </a:solidFill>
              <a:latin typeface="Courier New" panose="02070309020205020404" pitchFamily="49" charset="0"/>
            </a:endParaRPr>
          </a:p>
          <a:p>
            <a:r>
              <a:rPr lang="en-US" altLang="en-US" sz="3200" b="1" baseline="-25000">
                <a:solidFill>
                  <a:srgbClr val="FF0000"/>
                </a:solidFill>
                <a:latin typeface="Courier New" panose="02070309020205020404" pitchFamily="49" charset="0"/>
              </a:rPr>
              <a:t>ORDER BY 2,1</a:t>
            </a:r>
          </a:p>
          <a:p>
            <a:endParaRPr lang="en-US" altLang="en-US" sz="3200" b="1" baseline="-25000">
              <a:solidFill>
                <a:srgbClr val="FF0000"/>
              </a:solidFill>
              <a:latin typeface="Courier New" panose="02070309020205020404" pitchFamily="49" charset="0"/>
            </a:endParaRPr>
          </a:p>
          <a:p>
            <a:endParaRPr lang="en-US" altLang="en-US" sz="3200" b="1">
              <a:solidFill>
                <a:srgbClr val="FF0000"/>
              </a:solidFill>
            </a:endParaRPr>
          </a:p>
        </p:txBody>
      </p:sp>
    </p:spTree>
    <p:extLst>
      <p:ext uri="{BB962C8B-B14F-4D97-AF65-F5344CB8AC3E}">
        <p14:creationId xmlns:p14="http://schemas.microsoft.com/office/powerpoint/2010/main" val="2371842310"/>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685800" y="-99392"/>
            <a:ext cx="7772400" cy="954088"/>
          </a:xfrm>
        </p:spPr>
        <p:txBody>
          <a:bodyPr/>
          <a:lstStyle/>
          <a:p>
            <a:pPr algn="ctr">
              <a:defRPr/>
            </a:pPr>
            <a:r>
              <a:rPr lang="sk-SK"/>
              <a:t>TRIEDENIE výstupu</a:t>
            </a:r>
            <a:endParaRPr lang="en-US"/>
          </a:p>
        </p:txBody>
      </p:sp>
      <p:sp>
        <p:nvSpPr>
          <p:cNvPr id="68612" name="Obdĺžnik 5"/>
          <p:cNvSpPr>
            <a:spLocks noChangeArrowheads="1"/>
          </p:cNvSpPr>
          <p:nvPr/>
        </p:nvSpPr>
        <p:spPr bwMode="auto">
          <a:xfrm>
            <a:off x="328613" y="561975"/>
            <a:ext cx="8486775"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3200" b="1" baseline="-25000">
                <a:solidFill>
                  <a:srgbClr val="000000"/>
                </a:solidFill>
                <a:latin typeface="Courier New" panose="02070309020205020404" pitchFamily="49" charset="0"/>
              </a:rPr>
              <a:t>SELECT </a:t>
            </a:r>
            <a:r>
              <a:rPr lang="sk-SK" altLang="en-US" sz="3200" b="1" baseline="-25000">
                <a:solidFill>
                  <a:srgbClr val="000000"/>
                </a:solidFill>
                <a:latin typeface="Courier New" panose="02070309020205020404" pitchFamily="49" charset="0"/>
              </a:rPr>
              <a:t>meno, priezvisko, </a:t>
            </a:r>
            <a:r>
              <a:rPr lang="en-US" altLang="en-US" sz="3200" b="1" baseline="-25000" err="1">
                <a:solidFill>
                  <a:srgbClr val="000000"/>
                </a:solidFill>
                <a:latin typeface="Courier New" panose="02070309020205020404" pitchFamily="49" charset="0"/>
              </a:rPr>
              <a:t>rocnik</a:t>
            </a:r>
            <a:endParaRPr lang="en-US" altLang="en-US" sz="3200" b="1">
              <a:solidFill>
                <a:srgbClr val="000000"/>
              </a:solidFill>
              <a:latin typeface="Times New Roman" panose="02020603050405020304" pitchFamily="18" charset="0"/>
            </a:endParaRPr>
          </a:p>
          <a:p>
            <a:r>
              <a:rPr lang="en-US" altLang="en-US" sz="3200" b="1" baseline="-25000">
                <a:solidFill>
                  <a:srgbClr val="000000"/>
                </a:solidFill>
                <a:latin typeface="Courier New" panose="02070309020205020404" pitchFamily="49" charset="0"/>
              </a:rPr>
              <a:t>FROM </a:t>
            </a:r>
            <a:r>
              <a:rPr lang="en-US" altLang="en-US" sz="3200" b="1" baseline="-25000" err="1">
                <a:solidFill>
                  <a:srgbClr val="000000"/>
                </a:solidFill>
                <a:latin typeface="Courier New" panose="02070309020205020404" pitchFamily="49" charset="0"/>
              </a:rPr>
              <a:t>os_udaje</a:t>
            </a:r>
            <a:r>
              <a:rPr lang="en-US" altLang="en-US" sz="3200" b="1" baseline="-25000">
                <a:solidFill>
                  <a:srgbClr val="000000"/>
                </a:solidFill>
                <a:latin typeface="Courier New" panose="02070309020205020404" pitchFamily="49" charset="0"/>
              </a:rPr>
              <a:t> </a:t>
            </a:r>
            <a:r>
              <a:rPr lang="en-US" altLang="en-US" sz="3200" b="1" baseline="-25000" err="1">
                <a:solidFill>
                  <a:srgbClr val="000000"/>
                </a:solidFill>
                <a:latin typeface="Courier New" panose="02070309020205020404" pitchFamily="49" charset="0"/>
              </a:rPr>
              <a:t>ou</a:t>
            </a:r>
            <a:r>
              <a:rPr lang="en-US" altLang="en-US" sz="3200" b="1" baseline="-25000">
                <a:solidFill>
                  <a:srgbClr val="000000"/>
                </a:solidFill>
                <a:latin typeface="Courier New" panose="02070309020205020404" pitchFamily="49" charset="0"/>
              </a:rPr>
              <a:t> JOIN student </a:t>
            </a:r>
            <a:r>
              <a:rPr lang="en-US" altLang="en-US" sz="3200" b="1" baseline="-25000" err="1">
                <a:solidFill>
                  <a:srgbClr val="000000"/>
                </a:solidFill>
                <a:latin typeface="Courier New" panose="02070309020205020404" pitchFamily="49" charset="0"/>
              </a:rPr>
              <a:t>st</a:t>
            </a:r>
            <a:r>
              <a:rPr lang="en-US" altLang="en-US" sz="3200" b="1" baseline="-25000">
                <a:solidFill>
                  <a:srgbClr val="000000"/>
                </a:solidFill>
                <a:latin typeface="Courier New" panose="02070309020205020404" pitchFamily="49" charset="0"/>
              </a:rPr>
              <a:t> USING (</a:t>
            </a:r>
            <a:r>
              <a:rPr lang="en-US" altLang="en-US" sz="3200" b="1" baseline="-25000" err="1">
                <a:solidFill>
                  <a:srgbClr val="000000"/>
                </a:solidFill>
                <a:latin typeface="Courier New" panose="02070309020205020404" pitchFamily="49" charset="0"/>
              </a:rPr>
              <a:t>rod_cislo</a:t>
            </a:r>
            <a:r>
              <a:rPr lang="en-US" altLang="en-US" sz="3200" b="1" baseline="-25000">
                <a:solidFill>
                  <a:srgbClr val="000000"/>
                </a:solidFill>
                <a:latin typeface="Courier New" panose="02070309020205020404" pitchFamily="49" charset="0"/>
              </a:rPr>
              <a:t>) </a:t>
            </a:r>
            <a:r>
              <a:rPr lang="en-US" altLang="en-US" sz="3200" b="1" baseline="-25000">
                <a:solidFill>
                  <a:srgbClr val="0000FD"/>
                </a:solidFill>
                <a:latin typeface="Courier New" panose="02070309020205020404" pitchFamily="49" charset="0"/>
              </a:rPr>
              <a:t> ORDER BY </a:t>
            </a:r>
            <a:r>
              <a:rPr lang="sk-SK" altLang="en-US" sz="3200" b="1" baseline="-25000">
                <a:solidFill>
                  <a:srgbClr val="0000FD"/>
                </a:solidFill>
                <a:latin typeface="Courier New" panose="02070309020205020404" pitchFamily="49" charset="0"/>
              </a:rPr>
              <a:t>priezvisko, meno</a:t>
            </a:r>
            <a:r>
              <a:rPr lang="en-US" altLang="en-US" sz="3200" b="1" baseline="-25000">
                <a:solidFill>
                  <a:srgbClr val="0000FD"/>
                </a:solidFill>
                <a:latin typeface="Courier New" panose="02070309020205020404" pitchFamily="49" charset="0"/>
              </a:rPr>
              <a:t>;</a:t>
            </a:r>
            <a:endParaRPr lang="sk-SK" altLang="en-US" sz="3200" b="1" baseline="-25000">
              <a:solidFill>
                <a:srgbClr val="0000FD"/>
              </a:solidFill>
              <a:latin typeface="Courier New" panose="02070309020205020404" pitchFamily="49" charset="0"/>
            </a:endParaRPr>
          </a:p>
        </p:txBody>
      </p:sp>
      <p:sp>
        <p:nvSpPr>
          <p:cNvPr id="68613" name="Obdĺžnik 2"/>
          <p:cNvSpPr>
            <a:spLocks noChangeArrowheads="1"/>
          </p:cNvSpPr>
          <p:nvPr/>
        </p:nvSpPr>
        <p:spPr bwMode="auto">
          <a:xfrm>
            <a:off x="4948411" y="1799769"/>
            <a:ext cx="4404947" cy="418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400"/>
              <a:t>MENO	PRIEZVISKO	R</a:t>
            </a:r>
          </a:p>
          <a:p>
            <a:r>
              <a:rPr lang="en-US" altLang="en-US" sz="1400"/>
              <a:t>Branislav	Balaz	</a:t>
            </a:r>
            <a:r>
              <a:rPr lang="sk-SK" altLang="en-US" sz="1400"/>
              <a:t>	</a:t>
            </a:r>
            <a:r>
              <a:rPr lang="en-US" altLang="en-US" sz="1400"/>
              <a:t>0</a:t>
            </a:r>
          </a:p>
          <a:p>
            <a:r>
              <a:rPr lang="en-US" altLang="en-US" sz="1400"/>
              <a:t>Branislav	Balaz	</a:t>
            </a:r>
            <a:r>
              <a:rPr lang="sk-SK" altLang="en-US" sz="1400"/>
              <a:t>	</a:t>
            </a:r>
            <a:r>
              <a:rPr lang="en-US" altLang="en-US" sz="1400"/>
              <a:t>2</a:t>
            </a:r>
          </a:p>
          <a:p>
            <a:r>
              <a:rPr lang="en-US" altLang="en-US" sz="1400"/>
              <a:t>Jozef	Brna	</a:t>
            </a:r>
            <a:r>
              <a:rPr lang="sk-SK" altLang="en-US" sz="1400"/>
              <a:t>	</a:t>
            </a:r>
            <a:r>
              <a:rPr lang="en-US" altLang="en-US" sz="1400"/>
              <a:t>0</a:t>
            </a:r>
          </a:p>
          <a:p>
            <a:r>
              <a:rPr lang="en-US" altLang="en-US" sz="1400"/>
              <a:t>Dušan	Bucany	</a:t>
            </a:r>
            <a:r>
              <a:rPr lang="sk-SK" altLang="en-US" sz="1400"/>
              <a:t>	</a:t>
            </a:r>
            <a:r>
              <a:rPr lang="en-US" altLang="en-US" sz="1400"/>
              <a:t>2</a:t>
            </a:r>
          </a:p>
          <a:p>
            <a:r>
              <a:rPr lang="en-US" altLang="en-US" sz="1400"/>
              <a:t>Jaroslav	Cipak	</a:t>
            </a:r>
            <a:r>
              <a:rPr lang="sk-SK" altLang="en-US" sz="1400"/>
              <a:t>	</a:t>
            </a:r>
            <a:r>
              <a:rPr lang="en-US" altLang="en-US" sz="1400"/>
              <a:t>2</a:t>
            </a:r>
          </a:p>
          <a:p>
            <a:r>
              <a:rPr lang="en-US" altLang="en-US" sz="1400"/>
              <a:t>Marek	Durica	</a:t>
            </a:r>
            <a:r>
              <a:rPr lang="sk-SK" altLang="en-US" sz="1400"/>
              <a:t>	</a:t>
            </a:r>
            <a:r>
              <a:rPr lang="en-US" altLang="en-US" sz="1400"/>
              <a:t>2</a:t>
            </a:r>
          </a:p>
          <a:p>
            <a:r>
              <a:rPr lang="en-US" altLang="en-US" sz="1400"/>
              <a:t>Marek	Durica	</a:t>
            </a:r>
            <a:r>
              <a:rPr lang="sk-SK" altLang="en-US" sz="1400"/>
              <a:t>	</a:t>
            </a:r>
            <a:r>
              <a:rPr lang="en-US" altLang="en-US" sz="1400"/>
              <a:t>1</a:t>
            </a:r>
          </a:p>
          <a:p>
            <a:r>
              <a:rPr lang="en-US" altLang="en-US" sz="1400"/>
              <a:t>Alojz	Gazo	</a:t>
            </a:r>
            <a:r>
              <a:rPr lang="sk-SK" altLang="en-US" sz="1400"/>
              <a:t>	</a:t>
            </a:r>
            <a:r>
              <a:rPr lang="en-US" altLang="en-US" sz="1400"/>
              <a:t>2</a:t>
            </a:r>
          </a:p>
          <a:p>
            <a:r>
              <a:rPr lang="en-US" altLang="en-US" sz="1400"/>
              <a:t>Miroslav	Gmuca	</a:t>
            </a:r>
            <a:r>
              <a:rPr lang="sk-SK" altLang="en-US" sz="1400"/>
              <a:t>	</a:t>
            </a:r>
            <a:r>
              <a:rPr lang="en-US" altLang="en-US" sz="1400"/>
              <a:t>2</a:t>
            </a:r>
          </a:p>
          <a:p>
            <a:r>
              <a:rPr lang="en-US" altLang="en-US" sz="1400"/>
              <a:t>Andrej	Janci	</a:t>
            </a:r>
            <a:r>
              <a:rPr lang="sk-SK" altLang="en-US" sz="1400"/>
              <a:t>	</a:t>
            </a:r>
            <a:r>
              <a:rPr lang="en-US" altLang="en-US" sz="1400"/>
              <a:t>1</a:t>
            </a:r>
          </a:p>
          <a:p>
            <a:r>
              <a:rPr lang="en-US" altLang="en-US" sz="1400"/>
              <a:t>Peter	Kapustný	</a:t>
            </a:r>
            <a:r>
              <a:rPr lang="sk-SK" altLang="en-US" sz="1400"/>
              <a:t>	</a:t>
            </a:r>
            <a:r>
              <a:rPr lang="en-US" altLang="en-US" sz="1400"/>
              <a:t>3</a:t>
            </a:r>
          </a:p>
          <a:p>
            <a:r>
              <a:rPr lang="en-US" altLang="en-US" sz="1400"/>
              <a:t>Martin	Kluciar	</a:t>
            </a:r>
            <a:r>
              <a:rPr lang="sk-SK" altLang="en-US" sz="1400"/>
              <a:t>	</a:t>
            </a:r>
            <a:r>
              <a:rPr lang="en-US" altLang="en-US" sz="1400"/>
              <a:t>0</a:t>
            </a:r>
          </a:p>
          <a:p>
            <a:r>
              <a:rPr lang="en-US" altLang="en-US" sz="1400"/>
              <a:t>Martin	Kluciar	</a:t>
            </a:r>
            <a:r>
              <a:rPr lang="sk-SK" altLang="en-US" sz="1400"/>
              <a:t>	</a:t>
            </a:r>
            <a:r>
              <a:rPr lang="en-US" altLang="en-US" sz="1400"/>
              <a:t>0</a:t>
            </a:r>
          </a:p>
          <a:p>
            <a:r>
              <a:rPr lang="en-US" altLang="en-US" sz="1400"/>
              <a:t>Martin	Kluciar	</a:t>
            </a:r>
            <a:r>
              <a:rPr lang="sk-SK" altLang="en-US" sz="1400"/>
              <a:t>	</a:t>
            </a:r>
            <a:r>
              <a:rPr lang="en-US" altLang="en-US" sz="1400"/>
              <a:t>1</a:t>
            </a:r>
          </a:p>
          <a:p>
            <a:r>
              <a:rPr lang="en-US" altLang="en-US" sz="1400"/>
              <a:t>Lubomir	Kom inek	</a:t>
            </a:r>
            <a:r>
              <a:rPr lang="sk-SK" altLang="en-US" sz="1400"/>
              <a:t>	</a:t>
            </a:r>
            <a:r>
              <a:rPr lang="en-US" altLang="en-US" sz="1400"/>
              <a:t>2</a:t>
            </a:r>
          </a:p>
          <a:p>
            <a:r>
              <a:rPr lang="en-US" altLang="en-US" sz="1400"/>
              <a:t>Rastislav	Kontros	</a:t>
            </a:r>
            <a:r>
              <a:rPr lang="sk-SK" altLang="en-US" sz="1400"/>
              <a:t>	</a:t>
            </a:r>
            <a:r>
              <a:rPr lang="en-US" altLang="en-US" sz="1400"/>
              <a:t>2</a:t>
            </a:r>
          </a:p>
          <a:p>
            <a:r>
              <a:rPr lang="en-US" altLang="en-US" sz="1400"/>
              <a:t>Peter	Korenciak	</a:t>
            </a:r>
            <a:r>
              <a:rPr lang="sk-SK" altLang="en-US" sz="1400"/>
              <a:t>	</a:t>
            </a:r>
            <a:r>
              <a:rPr lang="en-US" altLang="en-US" sz="1400"/>
              <a:t>0</a:t>
            </a:r>
          </a:p>
          <a:p>
            <a:r>
              <a:rPr lang="en-US" altLang="en-US" sz="1400"/>
              <a:t>Rudolf	Kovac	</a:t>
            </a:r>
            <a:r>
              <a:rPr lang="sk-SK" altLang="en-US" sz="1400"/>
              <a:t>	</a:t>
            </a:r>
            <a:r>
              <a:rPr lang="en-US" altLang="en-US" sz="1400"/>
              <a:t>1</a:t>
            </a:r>
          </a:p>
        </p:txBody>
      </p:sp>
    </p:spTree>
    <p:extLst>
      <p:ext uri="{BB962C8B-B14F-4D97-AF65-F5344CB8AC3E}">
        <p14:creationId xmlns:p14="http://schemas.microsoft.com/office/powerpoint/2010/main" val="4034787348"/>
      </p:ext>
    </p:extLst>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685800" y="-27384"/>
            <a:ext cx="7772400" cy="954088"/>
          </a:xfrm>
        </p:spPr>
        <p:txBody>
          <a:bodyPr/>
          <a:lstStyle/>
          <a:p>
            <a:pPr algn="ctr">
              <a:defRPr/>
            </a:pPr>
            <a:r>
              <a:rPr lang="sk-SK"/>
              <a:t>TRIEDENIE výstupu</a:t>
            </a:r>
            <a:endParaRPr lang="en-US"/>
          </a:p>
        </p:txBody>
      </p:sp>
      <p:sp>
        <p:nvSpPr>
          <p:cNvPr id="69636" name="Obdĺžnik 5"/>
          <p:cNvSpPr>
            <a:spLocks noChangeArrowheads="1"/>
          </p:cNvSpPr>
          <p:nvPr/>
        </p:nvSpPr>
        <p:spPr bwMode="auto">
          <a:xfrm>
            <a:off x="328613" y="675407"/>
            <a:ext cx="8486775"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3200" b="1" baseline="-25000">
                <a:solidFill>
                  <a:srgbClr val="000000"/>
                </a:solidFill>
                <a:latin typeface="Courier New" panose="02070309020205020404" pitchFamily="49" charset="0"/>
              </a:rPr>
              <a:t>SELECT </a:t>
            </a:r>
            <a:r>
              <a:rPr lang="sk-SK" altLang="en-US" sz="3200" b="1" baseline="-25000">
                <a:solidFill>
                  <a:srgbClr val="000000"/>
                </a:solidFill>
                <a:latin typeface="Courier New" panose="02070309020205020404" pitchFamily="49" charset="0"/>
              </a:rPr>
              <a:t>meno, priezvisko, </a:t>
            </a:r>
            <a:r>
              <a:rPr lang="en-US" altLang="en-US" sz="3200" b="1" baseline="-25000" err="1">
                <a:solidFill>
                  <a:srgbClr val="000000"/>
                </a:solidFill>
                <a:latin typeface="Courier New" panose="02070309020205020404" pitchFamily="49" charset="0"/>
              </a:rPr>
              <a:t>rocnik</a:t>
            </a:r>
            <a:endParaRPr lang="en-US" altLang="en-US" sz="3200" b="1">
              <a:solidFill>
                <a:srgbClr val="000000"/>
              </a:solidFill>
              <a:latin typeface="Times New Roman" panose="02020603050405020304" pitchFamily="18" charset="0"/>
            </a:endParaRPr>
          </a:p>
          <a:p>
            <a:r>
              <a:rPr lang="en-US" altLang="en-US" sz="3200" b="1" baseline="-25000">
                <a:solidFill>
                  <a:srgbClr val="000000"/>
                </a:solidFill>
                <a:latin typeface="Courier New" panose="02070309020205020404" pitchFamily="49" charset="0"/>
              </a:rPr>
              <a:t>FROM </a:t>
            </a:r>
            <a:r>
              <a:rPr lang="en-US" altLang="en-US" sz="3200" b="1" baseline="-25000" err="1">
                <a:solidFill>
                  <a:srgbClr val="000000"/>
                </a:solidFill>
                <a:latin typeface="Courier New" panose="02070309020205020404" pitchFamily="49" charset="0"/>
              </a:rPr>
              <a:t>os_udaje</a:t>
            </a:r>
            <a:r>
              <a:rPr lang="en-US" altLang="en-US" sz="3200" b="1" baseline="-25000">
                <a:solidFill>
                  <a:srgbClr val="000000"/>
                </a:solidFill>
                <a:latin typeface="Courier New" panose="02070309020205020404" pitchFamily="49" charset="0"/>
              </a:rPr>
              <a:t> </a:t>
            </a:r>
            <a:r>
              <a:rPr lang="en-US" altLang="en-US" sz="3200" b="1" baseline="-25000" err="1">
                <a:solidFill>
                  <a:srgbClr val="000000"/>
                </a:solidFill>
                <a:latin typeface="Courier New" panose="02070309020205020404" pitchFamily="49" charset="0"/>
              </a:rPr>
              <a:t>ou</a:t>
            </a:r>
            <a:r>
              <a:rPr lang="en-US" altLang="en-US" sz="3200" b="1" baseline="-25000">
                <a:solidFill>
                  <a:srgbClr val="000000"/>
                </a:solidFill>
                <a:latin typeface="Courier New" panose="02070309020205020404" pitchFamily="49" charset="0"/>
              </a:rPr>
              <a:t> JOIN student </a:t>
            </a:r>
            <a:r>
              <a:rPr lang="en-US" altLang="en-US" sz="3200" b="1" baseline="-25000" err="1">
                <a:solidFill>
                  <a:srgbClr val="000000"/>
                </a:solidFill>
                <a:latin typeface="Courier New" panose="02070309020205020404" pitchFamily="49" charset="0"/>
              </a:rPr>
              <a:t>st</a:t>
            </a:r>
            <a:r>
              <a:rPr lang="en-US" altLang="en-US" sz="3200" b="1" baseline="-25000">
                <a:solidFill>
                  <a:srgbClr val="000000"/>
                </a:solidFill>
                <a:latin typeface="Courier New" panose="02070309020205020404" pitchFamily="49" charset="0"/>
              </a:rPr>
              <a:t> USING (</a:t>
            </a:r>
            <a:r>
              <a:rPr lang="en-US" altLang="en-US" sz="3200" b="1" baseline="-25000" err="1">
                <a:solidFill>
                  <a:srgbClr val="000000"/>
                </a:solidFill>
                <a:latin typeface="Courier New" panose="02070309020205020404" pitchFamily="49" charset="0"/>
              </a:rPr>
              <a:t>rod_cislo</a:t>
            </a:r>
            <a:r>
              <a:rPr lang="en-US" altLang="en-US" sz="3200" b="1" baseline="-25000">
                <a:solidFill>
                  <a:srgbClr val="000000"/>
                </a:solidFill>
                <a:latin typeface="Courier New" panose="02070309020205020404" pitchFamily="49" charset="0"/>
              </a:rPr>
              <a:t>) </a:t>
            </a:r>
            <a:r>
              <a:rPr lang="en-US" altLang="en-US" sz="3200" b="1" baseline="-25000">
                <a:solidFill>
                  <a:srgbClr val="0000FD"/>
                </a:solidFill>
                <a:latin typeface="Courier New" panose="02070309020205020404" pitchFamily="49" charset="0"/>
              </a:rPr>
              <a:t> ORDER BY </a:t>
            </a:r>
            <a:r>
              <a:rPr lang="sk-SK" altLang="en-US" sz="3200" b="1" baseline="-25000">
                <a:solidFill>
                  <a:srgbClr val="0000FD"/>
                </a:solidFill>
                <a:latin typeface="Courier New" panose="02070309020205020404" pitchFamily="49" charset="0"/>
              </a:rPr>
              <a:t>priezvisko ASC, meno ASC</a:t>
            </a:r>
            <a:r>
              <a:rPr lang="en-US" altLang="en-US" sz="3200" b="1" baseline="-25000">
                <a:solidFill>
                  <a:srgbClr val="0000FD"/>
                </a:solidFill>
                <a:latin typeface="Courier New" panose="02070309020205020404" pitchFamily="49" charset="0"/>
              </a:rPr>
              <a:t>;</a:t>
            </a:r>
            <a:endParaRPr lang="sk-SK" altLang="en-US" sz="3200" b="1" baseline="-25000">
              <a:solidFill>
                <a:srgbClr val="0000FD"/>
              </a:solidFill>
              <a:latin typeface="Courier New" panose="02070309020205020404" pitchFamily="49" charset="0"/>
            </a:endParaRPr>
          </a:p>
        </p:txBody>
      </p:sp>
      <p:sp>
        <p:nvSpPr>
          <p:cNvPr id="69637" name="Obdĺžnik 2"/>
          <p:cNvSpPr>
            <a:spLocks noChangeArrowheads="1"/>
          </p:cNvSpPr>
          <p:nvPr/>
        </p:nvSpPr>
        <p:spPr bwMode="auto">
          <a:xfrm>
            <a:off x="1308100" y="1933575"/>
            <a:ext cx="4572000" cy="418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400"/>
              <a:t>MENO	PRIEZVISKO	R</a:t>
            </a:r>
          </a:p>
          <a:p>
            <a:r>
              <a:rPr lang="en-US" altLang="en-US" sz="1400"/>
              <a:t>Branislav	Balaz	</a:t>
            </a:r>
            <a:r>
              <a:rPr lang="sk-SK" altLang="en-US" sz="1400"/>
              <a:t>	</a:t>
            </a:r>
            <a:r>
              <a:rPr lang="en-US" altLang="en-US" sz="1400"/>
              <a:t>0</a:t>
            </a:r>
          </a:p>
          <a:p>
            <a:r>
              <a:rPr lang="en-US" altLang="en-US" sz="1400"/>
              <a:t>Branislav	Balaz	</a:t>
            </a:r>
            <a:r>
              <a:rPr lang="sk-SK" altLang="en-US" sz="1400"/>
              <a:t>	</a:t>
            </a:r>
            <a:r>
              <a:rPr lang="en-US" altLang="en-US" sz="1400"/>
              <a:t>2</a:t>
            </a:r>
          </a:p>
          <a:p>
            <a:r>
              <a:rPr lang="en-US" altLang="en-US" sz="1400"/>
              <a:t>Jozef	Brna	</a:t>
            </a:r>
            <a:r>
              <a:rPr lang="sk-SK" altLang="en-US" sz="1400"/>
              <a:t>	</a:t>
            </a:r>
            <a:r>
              <a:rPr lang="en-US" altLang="en-US" sz="1400"/>
              <a:t>0</a:t>
            </a:r>
          </a:p>
          <a:p>
            <a:r>
              <a:rPr lang="en-US" altLang="en-US" sz="1400"/>
              <a:t>Dušan	Bucany	</a:t>
            </a:r>
            <a:r>
              <a:rPr lang="sk-SK" altLang="en-US" sz="1400"/>
              <a:t>	</a:t>
            </a:r>
            <a:r>
              <a:rPr lang="en-US" altLang="en-US" sz="1400"/>
              <a:t>2</a:t>
            </a:r>
          </a:p>
          <a:p>
            <a:r>
              <a:rPr lang="en-US" altLang="en-US" sz="1400"/>
              <a:t>Jaroslav	Cipak	</a:t>
            </a:r>
            <a:r>
              <a:rPr lang="sk-SK" altLang="en-US" sz="1400"/>
              <a:t>	</a:t>
            </a:r>
            <a:r>
              <a:rPr lang="en-US" altLang="en-US" sz="1400"/>
              <a:t>2</a:t>
            </a:r>
          </a:p>
          <a:p>
            <a:r>
              <a:rPr lang="en-US" altLang="en-US" sz="1400"/>
              <a:t>Marek	Durica	</a:t>
            </a:r>
            <a:r>
              <a:rPr lang="sk-SK" altLang="en-US" sz="1400"/>
              <a:t>	</a:t>
            </a:r>
            <a:r>
              <a:rPr lang="en-US" altLang="en-US" sz="1400"/>
              <a:t>2</a:t>
            </a:r>
          </a:p>
          <a:p>
            <a:r>
              <a:rPr lang="en-US" altLang="en-US" sz="1400"/>
              <a:t>Marek	Durica	</a:t>
            </a:r>
            <a:r>
              <a:rPr lang="sk-SK" altLang="en-US" sz="1400"/>
              <a:t>	</a:t>
            </a:r>
            <a:r>
              <a:rPr lang="en-US" altLang="en-US" sz="1400"/>
              <a:t>1</a:t>
            </a:r>
          </a:p>
          <a:p>
            <a:r>
              <a:rPr lang="en-US" altLang="en-US" sz="1400"/>
              <a:t>Alojz	Gazo	</a:t>
            </a:r>
            <a:r>
              <a:rPr lang="sk-SK" altLang="en-US" sz="1400"/>
              <a:t>	</a:t>
            </a:r>
            <a:r>
              <a:rPr lang="en-US" altLang="en-US" sz="1400"/>
              <a:t>2</a:t>
            </a:r>
          </a:p>
          <a:p>
            <a:r>
              <a:rPr lang="en-US" altLang="en-US" sz="1400"/>
              <a:t>Miroslav	Gmuca	</a:t>
            </a:r>
            <a:r>
              <a:rPr lang="sk-SK" altLang="en-US" sz="1400"/>
              <a:t>	</a:t>
            </a:r>
            <a:r>
              <a:rPr lang="en-US" altLang="en-US" sz="1400"/>
              <a:t>2</a:t>
            </a:r>
          </a:p>
          <a:p>
            <a:r>
              <a:rPr lang="en-US" altLang="en-US" sz="1400"/>
              <a:t>Andrej	Janci	</a:t>
            </a:r>
            <a:r>
              <a:rPr lang="sk-SK" altLang="en-US" sz="1400"/>
              <a:t>	</a:t>
            </a:r>
            <a:r>
              <a:rPr lang="en-US" altLang="en-US" sz="1400"/>
              <a:t>1</a:t>
            </a:r>
          </a:p>
          <a:p>
            <a:r>
              <a:rPr lang="en-US" altLang="en-US" sz="1400"/>
              <a:t>Peter	Kapustný	</a:t>
            </a:r>
            <a:r>
              <a:rPr lang="sk-SK" altLang="en-US" sz="1400"/>
              <a:t>	</a:t>
            </a:r>
            <a:r>
              <a:rPr lang="en-US" altLang="en-US" sz="1400"/>
              <a:t>3</a:t>
            </a:r>
          </a:p>
          <a:p>
            <a:r>
              <a:rPr lang="en-US" altLang="en-US" sz="1400"/>
              <a:t>Martin	Kluciar	</a:t>
            </a:r>
            <a:r>
              <a:rPr lang="sk-SK" altLang="en-US" sz="1400"/>
              <a:t>	</a:t>
            </a:r>
            <a:r>
              <a:rPr lang="en-US" altLang="en-US" sz="1400"/>
              <a:t>0</a:t>
            </a:r>
          </a:p>
          <a:p>
            <a:r>
              <a:rPr lang="en-US" altLang="en-US" sz="1400"/>
              <a:t>Martin	Kluciar	</a:t>
            </a:r>
            <a:r>
              <a:rPr lang="sk-SK" altLang="en-US" sz="1400"/>
              <a:t>	</a:t>
            </a:r>
            <a:r>
              <a:rPr lang="en-US" altLang="en-US" sz="1400"/>
              <a:t>0</a:t>
            </a:r>
          </a:p>
          <a:p>
            <a:r>
              <a:rPr lang="en-US" altLang="en-US" sz="1400"/>
              <a:t>Martin	Kluciar	</a:t>
            </a:r>
            <a:r>
              <a:rPr lang="sk-SK" altLang="en-US" sz="1400"/>
              <a:t>	</a:t>
            </a:r>
            <a:r>
              <a:rPr lang="en-US" altLang="en-US" sz="1400"/>
              <a:t>1</a:t>
            </a:r>
          </a:p>
          <a:p>
            <a:r>
              <a:rPr lang="en-US" altLang="en-US" sz="1400"/>
              <a:t>Lubomir	Kom inek	</a:t>
            </a:r>
            <a:r>
              <a:rPr lang="sk-SK" altLang="en-US" sz="1400"/>
              <a:t>	</a:t>
            </a:r>
            <a:r>
              <a:rPr lang="en-US" altLang="en-US" sz="1400"/>
              <a:t>2</a:t>
            </a:r>
          </a:p>
          <a:p>
            <a:r>
              <a:rPr lang="en-US" altLang="en-US" sz="1400"/>
              <a:t>Rastislav	Kontros	</a:t>
            </a:r>
            <a:r>
              <a:rPr lang="sk-SK" altLang="en-US" sz="1400"/>
              <a:t>	</a:t>
            </a:r>
            <a:r>
              <a:rPr lang="en-US" altLang="en-US" sz="1400"/>
              <a:t>2</a:t>
            </a:r>
          </a:p>
          <a:p>
            <a:r>
              <a:rPr lang="en-US" altLang="en-US" sz="1400"/>
              <a:t>Peter	Korenciak	</a:t>
            </a:r>
            <a:r>
              <a:rPr lang="sk-SK" altLang="en-US" sz="1400"/>
              <a:t>	</a:t>
            </a:r>
            <a:r>
              <a:rPr lang="en-US" altLang="en-US" sz="1400"/>
              <a:t>0</a:t>
            </a:r>
          </a:p>
          <a:p>
            <a:r>
              <a:rPr lang="en-US" altLang="en-US" sz="1400"/>
              <a:t>Rudolf	Kovac	</a:t>
            </a:r>
            <a:r>
              <a:rPr lang="sk-SK" altLang="en-US" sz="1400"/>
              <a:t>	</a:t>
            </a:r>
            <a:r>
              <a:rPr lang="en-US" altLang="en-US" sz="1400"/>
              <a:t>1</a:t>
            </a:r>
          </a:p>
        </p:txBody>
      </p:sp>
    </p:spTree>
    <p:extLst>
      <p:ext uri="{BB962C8B-B14F-4D97-AF65-F5344CB8AC3E}">
        <p14:creationId xmlns:p14="http://schemas.microsoft.com/office/powerpoint/2010/main" val="1511702017"/>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685800" y="-27384"/>
            <a:ext cx="7772400" cy="954088"/>
          </a:xfrm>
        </p:spPr>
        <p:txBody>
          <a:bodyPr/>
          <a:lstStyle/>
          <a:p>
            <a:pPr algn="ctr">
              <a:defRPr/>
            </a:pPr>
            <a:r>
              <a:rPr lang="sk-SK"/>
              <a:t>TRIEDENIE výstupu</a:t>
            </a:r>
            <a:endParaRPr lang="en-US"/>
          </a:p>
        </p:txBody>
      </p:sp>
      <p:sp>
        <p:nvSpPr>
          <p:cNvPr id="70659" name="Obdĺžnik 5"/>
          <p:cNvSpPr>
            <a:spLocks noChangeArrowheads="1"/>
          </p:cNvSpPr>
          <p:nvPr/>
        </p:nvSpPr>
        <p:spPr bwMode="auto">
          <a:xfrm>
            <a:off x="328613" y="561975"/>
            <a:ext cx="8486775"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3200" b="1" baseline="-25000">
                <a:solidFill>
                  <a:srgbClr val="000000"/>
                </a:solidFill>
                <a:latin typeface="Courier New" panose="02070309020205020404" pitchFamily="49" charset="0"/>
              </a:rPr>
              <a:t>SELECT </a:t>
            </a:r>
            <a:r>
              <a:rPr lang="sk-SK" altLang="en-US" sz="3200" b="1" baseline="-25000">
                <a:solidFill>
                  <a:srgbClr val="000000"/>
                </a:solidFill>
                <a:latin typeface="Courier New" panose="02070309020205020404" pitchFamily="49" charset="0"/>
              </a:rPr>
              <a:t>meno, priezvisko, </a:t>
            </a:r>
            <a:r>
              <a:rPr lang="en-US" altLang="en-US" sz="3200" b="1" baseline="-25000" err="1">
                <a:solidFill>
                  <a:srgbClr val="000000"/>
                </a:solidFill>
                <a:latin typeface="Courier New" panose="02070309020205020404" pitchFamily="49" charset="0"/>
              </a:rPr>
              <a:t>rocnik</a:t>
            </a:r>
            <a:endParaRPr lang="en-US" altLang="en-US" sz="3200" b="1">
              <a:solidFill>
                <a:srgbClr val="000000"/>
              </a:solidFill>
              <a:latin typeface="Times New Roman" panose="02020603050405020304" pitchFamily="18" charset="0"/>
            </a:endParaRPr>
          </a:p>
          <a:p>
            <a:r>
              <a:rPr lang="en-US" altLang="en-US" sz="3200" b="1" baseline="-25000">
                <a:solidFill>
                  <a:srgbClr val="000000"/>
                </a:solidFill>
                <a:latin typeface="Courier New" panose="02070309020205020404" pitchFamily="49" charset="0"/>
              </a:rPr>
              <a:t>FROM </a:t>
            </a:r>
            <a:r>
              <a:rPr lang="en-US" altLang="en-US" sz="3200" b="1" baseline="-25000" err="1">
                <a:solidFill>
                  <a:srgbClr val="000000"/>
                </a:solidFill>
                <a:latin typeface="Courier New" panose="02070309020205020404" pitchFamily="49" charset="0"/>
              </a:rPr>
              <a:t>os_udaje</a:t>
            </a:r>
            <a:r>
              <a:rPr lang="en-US" altLang="en-US" sz="3200" b="1" baseline="-25000">
                <a:solidFill>
                  <a:srgbClr val="000000"/>
                </a:solidFill>
                <a:latin typeface="Courier New" panose="02070309020205020404" pitchFamily="49" charset="0"/>
              </a:rPr>
              <a:t> </a:t>
            </a:r>
            <a:r>
              <a:rPr lang="en-US" altLang="en-US" sz="3200" b="1" baseline="-25000" err="1">
                <a:solidFill>
                  <a:srgbClr val="000000"/>
                </a:solidFill>
                <a:latin typeface="Courier New" panose="02070309020205020404" pitchFamily="49" charset="0"/>
              </a:rPr>
              <a:t>ou</a:t>
            </a:r>
            <a:r>
              <a:rPr lang="en-US" altLang="en-US" sz="3200" b="1" baseline="-25000">
                <a:solidFill>
                  <a:srgbClr val="000000"/>
                </a:solidFill>
                <a:latin typeface="Courier New" panose="02070309020205020404" pitchFamily="49" charset="0"/>
              </a:rPr>
              <a:t> JOIN student </a:t>
            </a:r>
            <a:r>
              <a:rPr lang="en-US" altLang="en-US" sz="3200" b="1" baseline="-25000" err="1">
                <a:solidFill>
                  <a:srgbClr val="000000"/>
                </a:solidFill>
                <a:latin typeface="Courier New" panose="02070309020205020404" pitchFamily="49" charset="0"/>
              </a:rPr>
              <a:t>st</a:t>
            </a:r>
            <a:r>
              <a:rPr lang="en-US" altLang="en-US" sz="3200" b="1" baseline="-25000">
                <a:solidFill>
                  <a:srgbClr val="000000"/>
                </a:solidFill>
                <a:latin typeface="Courier New" panose="02070309020205020404" pitchFamily="49" charset="0"/>
              </a:rPr>
              <a:t> USING (</a:t>
            </a:r>
            <a:r>
              <a:rPr lang="en-US" altLang="en-US" sz="3200" b="1" baseline="-25000" err="1">
                <a:solidFill>
                  <a:srgbClr val="000000"/>
                </a:solidFill>
                <a:latin typeface="Courier New" panose="02070309020205020404" pitchFamily="49" charset="0"/>
              </a:rPr>
              <a:t>rod_cislo</a:t>
            </a:r>
            <a:r>
              <a:rPr lang="en-US" altLang="en-US" sz="3200" b="1" baseline="-25000">
                <a:solidFill>
                  <a:srgbClr val="000000"/>
                </a:solidFill>
                <a:latin typeface="Courier New" panose="02070309020205020404" pitchFamily="49" charset="0"/>
              </a:rPr>
              <a:t>) </a:t>
            </a:r>
            <a:r>
              <a:rPr lang="en-US" altLang="en-US" sz="3200" b="1" baseline="-25000">
                <a:solidFill>
                  <a:srgbClr val="0000FD"/>
                </a:solidFill>
                <a:latin typeface="Courier New" panose="02070309020205020404" pitchFamily="49" charset="0"/>
              </a:rPr>
              <a:t> ORDER BY </a:t>
            </a:r>
            <a:r>
              <a:rPr lang="sk-SK" altLang="en-US" sz="3200" b="1" baseline="-25000" err="1">
                <a:solidFill>
                  <a:srgbClr val="0000FD"/>
                </a:solidFill>
                <a:latin typeface="Courier New" panose="02070309020205020404" pitchFamily="49" charset="0"/>
              </a:rPr>
              <a:t>rocnik</a:t>
            </a:r>
            <a:r>
              <a:rPr lang="sk-SK" altLang="en-US" sz="3200" b="1" baseline="-25000">
                <a:solidFill>
                  <a:srgbClr val="0000FD"/>
                </a:solidFill>
                <a:latin typeface="Courier New" panose="02070309020205020404" pitchFamily="49" charset="0"/>
              </a:rPr>
              <a:t> DESC, priezvisko, meno ASC</a:t>
            </a:r>
            <a:r>
              <a:rPr lang="en-US" altLang="en-US" sz="3200" b="1" baseline="-25000">
                <a:solidFill>
                  <a:srgbClr val="0000FD"/>
                </a:solidFill>
                <a:latin typeface="Courier New" panose="02070309020205020404" pitchFamily="49" charset="0"/>
              </a:rPr>
              <a:t>;</a:t>
            </a:r>
            <a:endParaRPr lang="sk-SK" altLang="en-US" sz="3200" b="1" baseline="-25000">
              <a:solidFill>
                <a:srgbClr val="0000FD"/>
              </a:solidFill>
              <a:latin typeface="Courier New" panose="02070309020205020404" pitchFamily="49" charset="0"/>
            </a:endParaRPr>
          </a:p>
        </p:txBody>
      </p:sp>
      <p:sp>
        <p:nvSpPr>
          <p:cNvPr id="70660" name="Obdĺžnik 6"/>
          <p:cNvSpPr>
            <a:spLocks noChangeArrowheads="1"/>
          </p:cNvSpPr>
          <p:nvPr/>
        </p:nvSpPr>
        <p:spPr bwMode="auto">
          <a:xfrm>
            <a:off x="993775" y="2025650"/>
            <a:ext cx="2663825"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400"/>
              <a:t>MENO	PRIEZVISKO</a:t>
            </a:r>
          </a:p>
          <a:p>
            <a:r>
              <a:rPr lang="en-US" altLang="en-US" sz="1400"/>
              <a:t>Peter	</a:t>
            </a:r>
            <a:r>
              <a:rPr lang="en-US" altLang="en-US" sz="1400" err="1"/>
              <a:t>Kapustný</a:t>
            </a:r>
            <a:endParaRPr lang="en-US" altLang="en-US" sz="1400"/>
          </a:p>
          <a:p>
            <a:r>
              <a:rPr lang="en-US" altLang="en-US" sz="1400"/>
              <a:t>Jan	</a:t>
            </a:r>
            <a:r>
              <a:rPr lang="en-US" altLang="en-US" sz="1400" err="1"/>
              <a:t>Krnac</a:t>
            </a:r>
            <a:endParaRPr lang="en-US" altLang="en-US" sz="1400"/>
          </a:p>
          <a:p>
            <a:r>
              <a:rPr lang="en-US" altLang="en-US" sz="1400"/>
              <a:t>Peter	</a:t>
            </a:r>
            <a:r>
              <a:rPr lang="en-US" altLang="en-US" sz="1400" err="1"/>
              <a:t>Novák</a:t>
            </a:r>
            <a:endParaRPr lang="en-US" altLang="en-US" sz="1400"/>
          </a:p>
          <a:p>
            <a:r>
              <a:rPr lang="en-US" altLang="en-US" sz="1400"/>
              <a:t>Branislav	</a:t>
            </a:r>
            <a:r>
              <a:rPr lang="en-US" altLang="en-US" sz="1400" err="1"/>
              <a:t>Balaz</a:t>
            </a:r>
            <a:endParaRPr lang="en-US" altLang="en-US" sz="1400"/>
          </a:p>
          <a:p>
            <a:r>
              <a:rPr lang="en-US" altLang="en-US" sz="1400"/>
              <a:t>Dušan	</a:t>
            </a:r>
            <a:r>
              <a:rPr lang="en-US" altLang="en-US" sz="1400" err="1"/>
              <a:t>Bucany</a:t>
            </a:r>
            <a:endParaRPr lang="en-US" altLang="en-US" sz="1400"/>
          </a:p>
          <a:p>
            <a:r>
              <a:rPr lang="en-US" altLang="en-US" sz="1400"/>
              <a:t>Jaroslav	</a:t>
            </a:r>
            <a:r>
              <a:rPr lang="en-US" altLang="en-US" sz="1400" err="1"/>
              <a:t>Cipak</a:t>
            </a:r>
            <a:endParaRPr lang="en-US" altLang="en-US" sz="1400"/>
          </a:p>
          <a:p>
            <a:r>
              <a:rPr lang="en-US" altLang="en-US" sz="1400"/>
              <a:t>Marek	</a:t>
            </a:r>
            <a:r>
              <a:rPr lang="en-US" altLang="en-US" sz="1400" err="1"/>
              <a:t>Durica</a:t>
            </a:r>
            <a:endParaRPr lang="en-US" altLang="en-US" sz="1400"/>
          </a:p>
          <a:p>
            <a:r>
              <a:rPr lang="en-US" altLang="en-US" sz="1400" err="1"/>
              <a:t>Alojz</a:t>
            </a:r>
            <a:r>
              <a:rPr lang="en-US" altLang="en-US" sz="1400"/>
              <a:t>	</a:t>
            </a:r>
            <a:r>
              <a:rPr lang="en-US" altLang="en-US" sz="1400" err="1"/>
              <a:t>Gazo</a:t>
            </a:r>
            <a:endParaRPr lang="en-US" altLang="en-US" sz="1400"/>
          </a:p>
          <a:p>
            <a:r>
              <a:rPr lang="en-US" altLang="en-US" sz="1400"/>
              <a:t>Miroslav	</a:t>
            </a:r>
            <a:r>
              <a:rPr lang="en-US" altLang="en-US" sz="1400" err="1"/>
              <a:t>Gmuca</a:t>
            </a:r>
            <a:endParaRPr lang="en-US" altLang="en-US" sz="1400"/>
          </a:p>
          <a:p>
            <a:r>
              <a:rPr lang="en-US" altLang="en-US" sz="1400"/>
              <a:t>Lubomir	</a:t>
            </a:r>
            <a:r>
              <a:rPr lang="en-US" altLang="en-US" sz="1400" err="1"/>
              <a:t>Kominek</a:t>
            </a:r>
            <a:endParaRPr lang="en-US" altLang="en-US" sz="1400"/>
          </a:p>
          <a:p>
            <a:r>
              <a:rPr lang="en-US" altLang="en-US" sz="1400"/>
              <a:t>Rastislav	</a:t>
            </a:r>
            <a:r>
              <a:rPr lang="en-US" altLang="en-US" sz="1400" err="1"/>
              <a:t>Kontros</a:t>
            </a:r>
            <a:endParaRPr lang="en-US" altLang="en-US" sz="1400"/>
          </a:p>
          <a:p>
            <a:r>
              <a:rPr lang="en-US" altLang="en-US" sz="1400" err="1"/>
              <a:t>Lub</a:t>
            </a:r>
            <a:r>
              <a:rPr lang="en-US" altLang="en-US" sz="1400"/>
              <a:t> </a:t>
            </a:r>
            <a:r>
              <a:rPr lang="en-US" altLang="en-US" sz="1400" err="1"/>
              <a:t>os</a:t>
            </a:r>
            <a:r>
              <a:rPr lang="en-US" altLang="en-US" sz="1400"/>
              <a:t>	</a:t>
            </a:r>
            <a:r>
              <a:rPr lang="en-US" altLang="en-US" sz="1400" err="1"/>
              <a:t>Lehotsky</a:t>
            </a:r>
            <a:endParaRPr lang="en-US" altLang="en-US" sz="1400"/>
          </a:p>
          <a:p>
            <a:r>
              <a:rPr lang="en-US" altLang="en-US" sz="1400"/>
              <a:t>Erika	</a:t>
            </a:r>
            <a:r>
              <a:rPr lang="en-US" altLang="en-US" sz="1400" err="1"/>
              <a:t>Lipovská</a:t>
            </a:r>
            <a:endParaRPr lang="en-US" altLang="en-US" sz="1400"/>
          </a:p>
          <a:p>
            <a:r>
              <a:rPr lang="en-US" altLang="en-US" sz="1400"/>
              <a:t>Peter	</a:t>
            </a:r>
            <a:r>
              <a:rPr lang="en-US" altLang="en-US" sz="1400" err="1"/>
              <a:t>Minarik</a:t>
            </a:r>
            <a:endParaRPr lang="en-US" altLang="en-US" sz="1400"/>
          </a:p>
          <a:p>
            <a:r>
              <a:rPr lang="en-US" altLang="en-US" sz="1400"/>
              <a:t>František	</a:t>
            </a:r>
            <a:r>
              <a:rPr lang="en-US" altLang="en-US" sz="1400" err="1"/>
              <a:t>Murgas</a:t>
            </a:r>
            <a:endParaRPr lang="en-US" altLang="en-US" sz="1400"/>
          </a:p>
          <a:p>
            <a:r>
              <a:rPr lang="en-US" altLang="en-US" sz="1400" err="1"/>
              <a:t>Zdenko</a:t>
            </a:r>
            <a:r>
              <a:rPr lang="en-US" altLang="en-US" sz="1400"/>
              <a:t>	</a:t>
            </a:r>
            <a:r>
              <a:rPr lang="en-US" altLang="en-US" sz="1400" err="1"/>
              <a:t>Olzbut</a:t>
            </a:r>
            <a:endParaRPr lang="en-US" altLang="en-US" sz="1400"/>
          </a:p>
          <a:p>
            <a:r>
              <a:rPr lang="en-US" altLang="en-US" sz="1400"/>
              <a:t>Juraj	</a:t>
            </a:r>
            <a:r>
              <a:rPr lang="en-US" altLang="en-US" sz="1400" err="1"/>
              <a:t>Papun</a:t>
            </a:r>
            <a:endParaRPr lang="en-US" altLang="en-US" sz="1400"/>
          </a:p>
          <a:p>
            <a:r>
              <a:rPr lang="en-US" altLang="en-US" sz="1400" err="1"/>
              <a:t>Zoltán</a:t>
            </a:r>
            <a:r>
              <a:rPr lang="en-US" altLang="en-US" sz="1400"/>
              <a:t>	S </a:t>
            </a:r>
            <a:r>
              <a:rPr lang="en-US" altLang="en-US" sz="1400" err="1"/>
              <a:t>im</a:t>
            </a:r>
            <a:endParaRPr lang="en-US" altLang="en-US" sz="1400"/>
          </a:p>
          <a:p>
            <a:r>
              <a:rPr lang="en-US" altLang="en-US" sz="1400"/>
              <a:t>Stanislav	</a:t>
            </a:r>
            <a:r>
              <a:rPr lang="en-US" altLang="en-US" sz="1400" err="1"/>
              <a:t>Steinmuller</a:t>
            </a:r>
            <a:endParaRPr lang="en-US" altLang="en-US" sz="1400"/>
          </a:p>
          <a:p>
            <a:endParaRPr lang="en-US" altLang="en-US" sz="1400"/>
          </a:p>
          <a:p>
            <a:endParaRPr lang="en-US" altLang="en-US" sz="1400"/>
          </a:p>
        </p:txBody>
      </p:sp>
      <p:sp>
        <p:nvSpPr>
          <p:cNvPr id="70661" name="Obdĺžnik 7"/>
          <p:cNvSpPr>
            <a:spLocks noChangeArrowheads="1"/>
          </p:cNvSpPr>
          <p:nvPr/>
        </p:nvSpPr>
        <p:spPr bwMode="auto">
          <a:xfrm>
            <a:off x="3309938" y="2025650"/>
            <a:ext cx="347662" cy="440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pt-BR" altLang="en-US" sz="1400"/>
              <a:t>R</a:t>
            </a:r>
          </a:p>
          <a:p>
            <a:r>
              <a:rPr lang="pt-BR" altLang="en-US" sz="1400"/>
              <a:t>3</a:t>
            </a:r>
          </a:p>
          <a:p>
            <a:r>
              <a:rPr lang="pt-BR" altLang="en-US" sz="1400"/>
              <a:t>3</a:t>
            </a:r>
          </a:p>
          <a:p>
            <a:r>
              <a:rPr lang="pt-BR" altLang="en-US" sz="1400"/>
              <a:t>3</a:t>
            </a:r>
          </a:p>
          <a:p>
            <a:r>
              <a:rPr lang="pt-BR" altLang="en-US" sz="1400"/>
              <a:t>2</a:t>
            </a:r>
          </a:p>
          <a:p>
            <a:r>
              <a:rPr lang="pt-BR" altLang="en-US" sz="1400"/>
              <a:t>2</a:t>
            </a:r>
          </a:p>
          <a:p>
            <a:r>
              <a:rPr lang="sk-SK" altLang="en-US" sz="1400"/>
              <a:t>2</a:t>
            </a:r>
            <a:endParaRPr lang="pt-BR" altLang="en-US" sz="1400"/>
          </a:p>
          <a:p>
            <a:r>
              <a:rPr lang="pt-BR" altLang="en-US" sz="1400"/>
              <a:t>2</a:t>
            </a:r>
          </a:p>
          <a:p>
            <a:r>
              <a:rPr lang="pt-BR" altLang="en-US" sz="1400"/>
              <a:t>2</a:t>
            </a:r>
          </a:p>
          <a:p>
            <a:r>
              <a:rPr lang="pt-BR" altLang="en-US" sz="1400"/>
              <a:t>2</a:t>
            </a:r>
          </a:p>
          <a:p>
            <a:r>
              <a:rPr lang="pt-BR" altLang="en-US" sz="1400"/>
              <a:t>2</a:t>
            </a:r>
          </a:p>
          <a:p>
            <a:r>
              <a:rPr lang="pt-BR" altLang="en-US" sz="1400"/>
              <a:t>2</a:t>
            </a:r>
          </a:p>
          <a:p>
            <a:r>
              <a:rPr lang="pt-BR" altLang="en-US" sz="1400"/>
              <a:t>2</a:t>
            </a:r>
          </a:p>
          <a:p>
            <a:r>
              <a:rPr lang="pt-BR" altLang="en-US" sz="1400"/>
              <a:t>2</a:t>
            </a:r>
          </a:p>
          <a:p>
            <a:r>
              <a:rPr lang="pt-BR" altLang="en-US" sz="1400"/>
              <a:t>2</a:t>
            </a:r>
          </a:p>
          <a:p>
            <a:r>
              <a:rPr lang="pt-BR" altLang="en-US" sz="1400"/>
              <a:t>2</a:t>
            </a:r>
          </a:p>
          <a:p>
            <a:r>
              <a:rPr lang="pt-BR" altLang="en-US" sz="1400"/>
              <a:t>2</a:t>
            </a:r>
          </a:p>
          <a:p>
            <a:r>
              <a:rPr lang="pt-BR" altLang="en-US" sz="1400"/>
              <a:t>2</a:t>
            </a:r>
          </a:p>
          <a:p>
            <a:r>
              <a:rPr lang="pt-BR" altLang="en-US" sz="1400"/>
              <a:t>2</a:t>
            </a:r>
          </a:p>
          <a:p>
            <a:r>
              <a:rPr lang="pt-BR" altLang="en-US" sz="1400"/>
              <a:t>2</a:t>
            </a:r>
            <a:endParaRPr lang="en-US" altLang="en-US" sz="1400"/>
          </a:p>
        </p:txBody>
      </p:sp>
    </p:spTree>
    <p:extLst>
      <p:ext uri="{BB962C8B-B14F-4D97-AF65-F5344CB8AC3E}">
        <p14:creationId xmlns:p14="http://schemas.microsoft.com/office/powerpoint/2010/main" val="16812486"/>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238124" y="26988"/>
            <a:ext cx="7862267" cy="615950"/>
          </a:xfrm>
        </p:spPr>
        <p:txBody>
          <a:bodyPr>
            <a:normAutofit fontScale="90000"/>
          </a:bodyPr>
          <a:lstStyle/>
          <a:p>
            <a:pPr algn="ctr">
              <a:defRPr/>
            </a:pPr>
            <a:r>
              <a:rPr lang="sk-SK"/>
              <a:t>Podmienky</a:t>
            </a:r>
            <a:endParaRPr lang="en-US"/>
          </a:p>
        </p:txBody>
      </p:sp>
      <p:sp>
        <p:nvSpPr>
          <p:cNvPr id="71683" name="Obdĺžnik 5"/>
          <p:cNvSpPr>
            <a:spLocks noChangeArrowheads="1"/>
          </p:cNvSpPr>
          <p:nvPr/>
        </p:nvSpPr>
        <p:spPr bwMode="auto">
          <a:xfrm>
            <a:off x="1042988" y="642938"/>
            <a:ext cx="7216775"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buFont typeface="Arial" panose="020B0604020202020204" pitchFamily="34" charset="0"/>
              <a:buChar char="•"/>
            </a:pPr>
            <a:r>
              <a:rPr lang="en-US" altLang="en-US" err="1"/>
              <a:t>vyraz</a:t>
            </a:r>
            <a:r>
              <a:rPr lang="sk-SK" altLang="en-US"/>
              <a:t>1 </a:t>
            </a:r>
            <a:r>
              <a:rPr lang="en-US" altLang="en-US"/>
              <a:t>&gt;</a:t>
            </a:r>
            <a:r>
              <a:rPr lang="sk-SK" altLang="en-US"/>
              <a:t>    </a:t>
            </a:r>
            <a:r>
              <a:rPr lang="en-US" altLang="en-US"/>
              <a:t>vyraz2</a:t>
            </a:r>
          </a:p>
          <a:p>
            <a:pPr>
              <a:buFont typeface="Arial" panose="020B0604020202020204" pitchFamily="34" charset="0"/>
              <a:buChar char="•"/>
            </a:pPr>
            <a:r>
              <a:rPr lang="en-US" altLang="en-US" err="1"/>
              <a:t>vyraz</a:t>
            </a:r>
            <a:r>
              <a:rPr lang="sk-SK" altLang="en-US"/>
              <a:t>1 </a:t>
            </a:r>
            <a:r>
              <a:rPr lang="en-US" altLang="en-US"/>
              <a:t>&gt;=</a:t>
            </a:r>
            <a:r>
              <a:rPr lang="sk-SK" altLang="en-US"/>
              <a:t>  </a:t>
            </a:r>
            <a:r>
              <a:rPr lang="en-US" altLang="en-US"/>
              <a:t>vyraz2</a:t>
            </a:r>
          </a:p>
          <a:p>
            <a:pPr>
              <a:buFont typeface="Arial" panose="020B0604020202020204" pitchFamily="34" charset="0"/>
              <a:buChar char="•"/>
            </a:pPr>
            <a:r>
              <a:rPr lang="en-US" altLang="en-US" err="1"/>
              <a:t>vyraz</a:t>
            </a:r>
            <a:r>
              <a:rPr lang="sk-SK" altLang="en-US"/>
              <a:t>1 </a:t>
            </a:r>
            <a:r>
              <a:rPr lang="en-US" altLang="en-US"/>
              <a:t>&lt;&gt; </a:t>
            </a:r>
            <a:r>
              <a:rPr lang="sk-SK" altLang="en-US"/>
              <a:t> </a:t>
            </a:r>
            <a:r>
              <a:rPr lang="en-US" altLang="en-US"/>
              <a:t>vyraz2</a:t>
            </a:r>
          </a:p>
          <a:p>
            <a:pPr>
              <a:buFont typeface="Arial" panose="020B0604020202020204" pitchFamily="34" charset="0"/>
              <a:buChar char="•"/>
            </a:pPr>
            <a:r>
              <a:rPr lang="en-US" altLang="en-US" err="1"/>
              <a:t>vyraz</a:t>
            </a:r>
            <a:r>
              <a:rPr lang="sk-SK" altLang="en-US"/>
              <a:t>1  </a:t>
            </a:r>
            <a:r>
              <a:rPr lang="en-US" altLang="en-US"/>
              <a:t>!</a:t>
            </a:r>
            <a:r>
              <a:rPr lang="sk-SK" altLang="en-US"/>
              <a:t>=</a:t>
            </a:r>
            <a:r>
              <a:rPr lang="en-US" altLang="en-US"/>
              <a:t> </a:t>
            </a:r>
            <a:r>
              <a:rPr lang="sk-SK" altLang="en-US"/>
              <a:t>  </a:t>
            </a:r>
            <a:r>
              <a:rPr lang="en-US" altLang="en-US"/>
              <a:t> vyraz2</a:t>
            </a:r>
          </a:p>
          <a:p>
            <a:pPr>
              <a:buFont typeface="Arial" panose="020B0604020202020204" pitchFamily="34" charset="0"/>
              <a:buChar char="•"/>
            </a:pPr>
            <a:r>
              <a:rPr lang="en-US" altLang="en-US" err="1"/>
              <a:t>vyraz</a:t>
            </a:r>
            <a:r>
              <a:rPr lang="sk-SK" altLang="en-US"/>
              <a:t>1 </a:t>
            </a:r>
            <a:r>
              <a:rPr lang="en-US" altLang="en-US"/>
              <a:t>=</a:t>
            </a:r>
            <a:r>
              <a:rPr lang="sk-SK" altLang="en-US"/>
              <a:t>   </a:t>
            </a:r>
            <a:r>
              <a:rPr lang="en-US" altLang="en-US"/>
              <a:t> vyraz2</a:t>
            </a:r>
          </a:p>
          <a:p>
            <a:pPr>
              <a:buFont typeface="Arial" panose="020B0604020202020204" pitchFamily="34" charset="0"/>
              <a:buChar char="•"/>
            </a:pPr>
            <a:r>
              <a:rPr lang="en-US" altLang="en-US" err="1"/>
              <a:t>vyraz</a:t>
            </a:r>
            <a:r>
              <a:rPr lang="sk-SK" altLang="en-US"/>
              <a:t>1 </a:t>
            </a:r>
            <a:r>
              <a:rPr lang="en-US" altLang="en-US"/>
              <a:t>&lt;</a:t>
            </a:r>
            <a:r>
              <a:rPr lang="sk-SK" altLang="en-US"/>
              <a:t>    </a:t>
            </a:r>
            <a:r>
              <a:rPr lang="en-US" altLang="en-US"/>
              <a:t>vyraz2</a:t>
            </a:r>
          </a:p>
          <a:p>
            <a:pPr>
              <a:buFont typeface="Arial" panose="020B0604020202020204" pitchFamily="34" charset="0"/>
              <a:buChar char="•"/>
            </a:pPr>
            <a:r>
              <a:rPr lang="en-US" altLang="en-US" err="1"/>
              <a:t>vyraz</a:t>
            </a:r>
            <a:r>
              <a:rPr lang="sk-SK" altLang="en-US"/>
              <a:t>1 </a:t>
            </a:r>
            <a:r>
              <a:rPr lang="en-US" altLang="en-US"/>
              <a:t>&lt;=</a:t>
            </a:r>
            <a:r>
              <a:rPr lang="sk-SK" altLang="en-US"/>
              <a:t> </a:t>
            </a:r>
            <a:r>
              <a:rPr lang="en-US" altLang="en-US"/>
              <a:t> vyraz2</a:t>
            </a:r>
          </a:p>
          <a:p>
            <a:pPr>
              <a:buFont typeface="Arial" panose="020B0604020202020204" pitchFamily="34" charset="0"/>
              <a:buChar char="•"/>
            </a:pPr>
            <a:endParaRPr lang="en-US" altLang="en-US"/>
          </a:p>
          <a:p>
            <a:pPr>
              <a:buFont typeface="Arial" panose="020B0604020202020204" pitchFamily="34" charset="0"/>
              <a:buChar char="•"/>
            </a:pPr>
            <a:endParaRPr lang="en-US" altLang="en-US"/>
          </a:p>
          <a:p>
            <a:pPr>
              <a:buFont typeface="Arial" panose="020B0604020202020204" pitchFamily="34" charset="0"/>
              <a:buChar char="•"/>
            </a:pPr>
            <a:r>
              <a:rPr lang="en-US" altLang="en-US" err="1"/>
              <a:t>vyraz</a:t>
            </a:r>
            <a:r>
              <a:rPr lang="sk-SK" altLang="en-US"/>
              <a:t>1</a:t>
            </a:r>
            <a:r>
              <a:rPr lang="en-US" altLang="en-US"/>
              <a:t> BETWEEN </a:t>
            </a:r>
            <a:r>
              <a:rPr lang="en-US" altLang="en-US" err="1"/>
              <a:t>min.hodnota</a:t>
            </a:r>
            <a:r>
              <a:rPr lang="en-US" altLang="en-US"/>
              <a:t> AND </a:t>
            </a:r>
            <a:r>
              <a:rPr lang="en-US" altLang="en-US" err="1"/>
              <a:t>max.hodnota</a:t>
            </a:r>
            <a:endParaRPr lang="en-US" altLang="en-US"/>
          </a:p>
          <a:p>
            <a:pPr>
              <a:buFont typeface="Arial" panose="020B0604020202020204" pitchFamily="34" charset="0"/>
              <a:buChar char="•"/>
            </a:pPr>
            <a:r>
              <a:rPr lang="en-US" altLang="en-US" err="1"/>
              <a:t>vyraz</a:t>
            </a:r>
            <a:r>
              <a:rPr lang="sk-SK" altLang="en-US"/>
              <a:t>     </a:t>
            </a:r>
            <a:r>
              <a:rPr lang="en-US" altLang="en-US"/>
              <a:t>IS [NOT] NULL</a:t>
            </a:r>
          </a:p>
          <a:p>
            <a:pPr>
              <a:buFont typeface="Arial" panose="020B0604020202020204" pitchFamily="34" charset="0"/>
              <a:buChar char="•"/>
            </a:pPr>
            <a:endParaRPr lang="en-US" altLang="en-US"/>
          </a:p>
          <a:p>
            <a:pPr>
              <a:buFont typeface="Arial" panose="020B0604020202020204" pitchFamily="34" charset="0"/>
              <a:buChar char="•"/>
            </a:pPr>
            <a:r>
              <a:rPr lang="en-US" altLang="en-US" err="1"/>
              <a:t>vyraz</a:t>
            </a:r>
            <a:r>
              <a:rPr lang="en-US" altLang="en-US"/>
              <a:t> </a:t>
            </a:r>
            <a:r>
              <a:rPr lang="sk-SK" altLang="en-US"/>
              <a:t>	</a:t>
            </a:r>
            <a:r>
              <a:rPr lang="en-US" altLang="en-US"/>
              <a:t>[NOT] IN ( </a:t>
            </a:r>
            <a:r>
              <a:rPr lang="en-US" altLang="en-US" err="1"/>
              <a:t>množina</a:t>
            </a:r>
            <a:r>
              <a:rPr lang="en-US" altLang="en-US"/>
              <a:t> )</a:t>
            </a:r>
          </a:p>
          <a:p>
            <a:pPr>
              <a:buFont typeface="Arial" panose="020B0604020202020204" pitchFamily="34" charset="0"/>
              <a:buChar char="•"/>
            </a:pPr>
            <a:r>
              <a:rPr lang="sk-SK" altLang="en-US"/>
              <a:t>vyraz</a:t>
            </a:r>
            <a:r>
              <a:rPr lang="en-US" altLang="en-US"/>
              <a:t>	[ NOT] EXISTS ( </a:t>
            </a:r>
            <a:r>
              <a:rPr lang="en-US" altLang="en-US" err="1"/>
              <a:t>množina</a:t>
            </a:r>
            <a:r>
              <a:rPr lang="en-US" altLang="en-US"/>
              <a:t> )</a:t>
            </a:r>
            <a:endParaRPr lang="sk-SK" altLang="en-US"/>
          </a:p>
          <a:p>
            <a:pPr>
              <a:buFont typeface="Arial" panose="020B0604020202020204" pitchFamily="34" charset="0"/>
              <a:buChar char="•"/>
            </a:pPr>
            <a:endParaRPr lang="en-US" altLang="en-US"/>
          </a:p>
          <a:p>
            <a:pPr>
              <a:buFont typeface="Arial" panose="020B0604020202020204" pitchFamily="34" charset="0"/>
              <a:buChar char="•"/>
            </a:pPr>
            <a:r>
              <a:rPr lang="en-US" altLang="en-US" err="1"/>
              <a:t>podmienka</a:t>
            </a:r>
            <a:r>
              <a:rPr lang="sk-SK" altLang="en-US"/>
              <a:t>1</a:t>
            </a:r>
            <a:r>
              <a:rPr lang="en-US" altLang="en-US"/>
              <a:t> AND podmienka2 </a:t>
            </a:r>
            <a:endParaRPr lang="sk-SK" altLang="en-US"/>
          </a:p>
          <a:p>
            <a:pPr>
              <a:buFont typeface="Arial" panose="020B0604020202020204" pitchFamily="34" charset="0"/>
              <a:buChar char="•"/>
            </a:pPr>
            <a:r>
              <a:rPr lang="en-US" altLang="en-US" err="1"/>
              <a:t>podmienka</a:t>
            </a:r>
            <a:r>
              <a:rPr lang="sk-SK" altLang="en-US"/>
              <a:t>1</a:t>
            </a:r>
            <a:r>
              <a:rPr lang="en-US" altLang="en-US"/>
              <a:t> OR podmienka2</a:t>
            </a:r>
          </a:p>
        </p:txBody>
      </p:sp>
    </p:spTree>
    <p:extLst>
      <p:ext uri="{BB962C8B-B14F-4D97-AF65-F5344CB8AC3E}">
        <p14:creationId xmlns:p14="http://schemas.microsoft.com/office/powerpoint/2010/main" val="3503043372"/>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1533525" y="2132013"/>
            <a:ext cx="5945188" cy="600075"/>
          </a:xfrm>
        </p:spPr>
        <p:txBody>
          <a:bodyPr>
            <a:normAutofit fontScale="90000"/>
          </a:bodyPr>
          <a:lstStyle/>
          <a:p>
            <a:pPr>
              <a:defRPr/>
            </a:pPr>
            <a:r>
              <a:rPr lang="sk-SK"/>
              <a:t>Príklady</a:t>
            </a:r>
            <a:endParaRPr lang="en-US"/>
          </a:p>
        </p:txBody>
      </p:sp>
    </p:spTree>
    <p:extLst>
      <p:ext uri="{BB962C8B-B14F-4D97-AF65-F5344CB8AC3E}">
        <p14:creationId xmlns:p14="http://schemas.microsoft.com/office/powerpoint/2010/main" val="92260104"/>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33126" y="452661"/>
            <a:ext cx="8415338" cy="600075"/>
          </a:xfrm>
        </p:spPr>
        <p:txBody>
          <a:bodyPr>
            <a:normAutofit fontScale="90000"/>
          </a:bodyPr>
          <a:lstStyle/>
          <a:p>
            <a:pPr>
              <a:defRPr/>
            </a:pPr>
            <a:r>
              <a:rPr lang="sk-SK"/>
              <a:t>Vypíšte názvy predmetov študenta s priezviskom Baláž</a:t>
            </a:r>
            <a:endParaRPr lang="en-US"/>
          </a:p>
        </p:txBody>
      </p:sp>
      <p:pic>
        <p:nvPicPr>
          <p:cNvPr id="73731" name="Zástupný objekt pre obsah 7"/>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573213" y="1882775"/>
            <a:ext cx="6067425" cy="828675"/>
          </a:xfrm>
        </p:spPr>
      </p:pic>
      <p:sp>
        <p:nvSpPr>
          <p:cNvPr id="73732" name="Zástupný objekt pre text 6"/>
          <p:cNvSpPr>
            <a:spLocks noGrp="1"/>
          </p:cNvSpPr>
          <p:nvPr>
            <p:ph type="body" sz="half" idx="2"/>
          </p:nvPr>
        </p:nvSpPr>
        <p:spPr/>
        <p:txBody>
          <a:bodyPr/>
          <a:lstStyle/>
          <a:p>
            <a:r>
              <a:rPr lang="sk-SK" altLang="en-US"/>
              <a:t>SELECT pr.nazov FROM predmet pr;</a:t>
            </a:r>
            <a:endParaRPr lang="en-US" altLang="en-US"/>
          </a:p>
        </p:txBody>
      </p:sp>
    </p:spTree>
    <p:extLst>
      <p:ext uri="{BB962C8B-B14F-4D97-AF65-F5344CB8AC3E}">
        <p14:creationId xmlns:p14="http://schemas.microsoft.com/office/powerpoint/2010/main" val="4214957423"/>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596677"/>
            <a:ext cx="8415338" cy="600075"/>
          </a:xfrm>
        </p:spPr>
        <p:txBody>
          <a:bodyPr>
            <a:normAutofit fontScale="90000"/>
          </a:bodyPr>
          <a:lstStyle/>
          <a:p>
            <a:pPr>
              <a:defRPr/>
            </a:pPr>
            <a:r>
              <a:rPr lang="sk-SK"/>
              <a:t>Vypíšte názvy predmetov študenta s priezviskom Baláž</a:t>
            </a:r>
            <a:endParaRPr lang="en-US"/>
          </a:p>
        </p:txBody>
      </p:sp>
      <p:sp>
        <p:nvSpPr>
          <p:cNvPr id="74755" name="Zástupný objekt pre text 6"/>
          <p:cNvSpPr>
            <a:spLocks noGrp="1"/>
          </p:cNvSpPr>
          <p:nvPr>
            <p:ph type="body" sz="half" idx="2"/>
          </p:nvPr>
        </p:nvSpPr>
        <p:spPr>
          <a:xfrm>
            <a:off x="517525" y="3335338"/>
            <a:ext cx="8397875" cy="2527300"/>
          </a:xfrm>
        </p:spPr>
        <p:txBody>
          <a:bodyPr/>
          <a:lstStyle/>
          <a:p>
            <a:r>
              <a:rPr lang="sk-SK" altLang="en-US"/>
              <a:t>SELECT pr.nazov </a:t>
            </a:r>
          </a:p>
          <a:p>
            <a:pPr marL="190500" lvl="1" indent="0">
              <a:buFontTx/>
              <a:buNone/>
            </a:pPr>
            <a:r>
              <a:rPr lang="sk-SK" altLang="en-US"/>
              <a:t>	FROM predmet pr JOIN zap_predmety zp USING (cis_predm)</a:t>
            </a:r>
            <a:endParaRPr lang="en-US" altLang="en-US"/>
          </a:p>
        </p:txBody>
      </p:sp>
      <p:pic>
        <p:nvPicPr>
          <p:cNvPr id="74757" name="Zástupný objekt pre obsah 3"/>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573213" y="1882775"/>
            <a:ext cx="6067425" cy="828675"/>
          </a:xfrm>
        </p:spPr>
      </p:pic>
    </p:spTree>
    <p:extLst>
      <p:ext uri="{BB962C8B-B14F-4D97-AF65-F5344CB8AC3E}">
        <p14:creationId xmlns:p14="http://schemas.microsoft.com/office/powerpoint/2010/main" val="4017625120"/>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524669"/>
            <a:ext cx="8415338" cy="600075"/>
          </a:xfrm>
        </p:spPr>
        <p:txBody>
          <a:bodyPr>
            <a:normAutofit fontScale="90000"/>
          </a:bodyPr>
          <a:lstStyle/>
          <a:p>
            <a:pPr>
              <a:defRPr/>
            </a:pPr>
            <a:r>
              <a:rPr lang="sk-SK"/>
              <a:t>Vypíšte názvy predmetov študenta s priezviskom Baláž</a:t>
            </a:r>
            <a:endParaRPr lang="en-US"/>
          </a:p>
        </p:txBody>
      </p:sp>
      <p:sp>
        <p:nvSpPr>
          <p:cNvPr id="75779" name="Zástupný objekt pre text 6"/>
          <p:cNvSpPr>
            <a:spLocks noGrp="1"/>
          </p:cNvSpPr>
          <p:nvPr>
            <p:ph type="body" sz="half" idx="2"/>
          </p:nvPr>
        </p:nvSpPr>
        <p:spPr>
          <a:xfrm>
            <a:off x="517525" y="3335338"/>
            <a:ext cx="8397875" cy="2527300"/>
          </a:xfrm>
        </p:spPr>
        <p:txBody>
          <a:bodyPr>
            <a:normAutofit lnSpcReduction="10000"/>
          </a:bodyPr>
          <a:lstStyle/>
          <a:p>
            <a:pPr marL="0" indent="0">
              <a:buNone/>
            </a:pPr>
            <a:r>
              <a:rPr lang="sk-SK" altLang="en-US"/>
              <a:t>SELECT </a:t>
            </a:r>
            <a:r>
              <a:rPr lang="sk-SK" altLang="en-US" err="1"/>
              <a:t>pr.nazov</a:t>
            </a:r>
            <a:r>
              <a:rPr lang="sk-SK" altLang="en-US"/>
              <a:t> </a:t>
            </a:r>
          </a:p>
          <a:p>
            <a:pPr marL="190500" lvl="1" indent="0">
              <a:buFontTx/>
              <a:buNone/>
            </a:pPr>
            <a:r>
              <a:rPr lang="sk-SK" altLang="en-US"/>
              <a:t>FROM predmet </a:t>
            </a:r>
            <a:r>
              <a:rPr lang="sk-SK" altLang="en-US" err="1"/>
              <a:t>pr</a:t>
            </a:r>
            <a:r>
              <a:rPr lang="sk-SK" altLang="en-US"/>
              <a:t> JOIN </a:t>
            </a:r>
            <a:r>
              <a:rPr lang="sk-SK" altLang="en-US" err="1"/>
              <a:t>zap_predmety</a:t>
            </a:r>
            <a:r>
              <a:rPr lang="sk-SK" altLang="en-US"/>
              <a:t> </a:t>
            </a:r>
            <a:r>
              <a:rPr lang="sk-SK" altLang="en-US" err="1"/>
              <a:t>zp</a:t>
            </a:r>
            <a:r>
              <a:rPr lang="sk-SK" altLang="en-US"/>
              <a:t>          		                             USING (</a:t>
            </a:r>
            <a:r>
              <a:rPr lang="sk-SK" altLang="en-US" err="1"/>
              <a:t>cis_predm</a:t>
            </a:r>
            <a:r>
              <a:rPr lang="sk-SK" altLang="en-US"/>
              <a:t>)</a:t>
            </a:r>
          </a:p>
          <a:p>
            <a:pPr marL="190500" lvl="1" indent="0">
              <a:buFontTx/>
              <a:buNone/>
            </a:pPr>
            <a:r>
              <a:rPr lang="sk-SK" altLang="en-US"/>
              <a:t>	                     JOIN </a:t>
            </a:r>
            <a:r>
              <a:rPr lang="sk-SK" altLang="en-US" err="1"/>
              <a:t>student</a:t>
            </a:r>
            <a:r>
              <a:rPr lang="sk-SK" altLang="en-US"/>
              <a:t> </a:t>
            </a:r>
            <a:r>
              <a:rPr lang="sk-SK" altLang="en-US" err="1"/>
              <a:t>st</a:t>
            </a:r>
            <a:r>
              <a:rPr lang="sk-SK" altLang="en-US"/>
              <a:t> </a:t>
            </a:r>
          </a:p>
          <a:p>
            <a:pPr marL="190500" lvl="1" indent="0">
              <a:buFontTx/>
              <a:buNone/>
            </a:pPr>
            <a:r>
              <a:rPr lang="sk-SK" altLang="en-US"/>
              <a:t>                                              USING(</a:t>
            </a:r>
            <a:r>
              <a:rPr lang="sk-SK" altLang="en-US" err="1"/>
              <a:t>os_cislo</a:t>
            </a:r>
            <a:r>
              <a:rPr lang="sk-SK" altLang="en-US"/>
              <a:t>) </a:t>
            </a:r>
            <a:endParaRPr lang="en-US" altLang="en-US"/>
          </a:p>
        </p:txBody>
      </p:sp>
      <p:pic>
        <p:nvPicPr>
          <p:cNvPr id="75781" name="Zástupný objekt pre obsah 5"/>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544638" y="1858963"/>
            <a:ext cx="6124575" cy="876300"/>
          </a:xfrm>
        </p:spPr>
      </p:pic>
    </p:spTree>
    <p:extLst>
      <p:ext uri="{BB962C8B-B14F-4D97-AF65-F5344CB8AC3E}">
        <p14:creationId xmlns:p14="http://schemas.microsoft.com/office/powerpoint/2010/main" val="3706730482"/>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452661"/>
            <a:ext cx="8415338" cy="600075"/>
          </a:xfrm>
        </p:spPr>
        <p:txBody>
          <a:bodyPr>
            <a:normAutofit fontScale="90000"/>
          </a:bodyPr>
          <a:lstStyle/>
          <a:p>
            <a:pPr>
              <a:defRPr/>
            </a:pPr>
            <a:r>
              <a:rPr lang="sk-SK"/>
              <a:t>Vypíšte názvy predmetov študenta s priezviskom Baláž</a:t>
            </a:r>
            <a:endParaRPr lang="en-US"/>
          </a:p>
        </p:txBody>
      </p:sp>
      <p:sp>
        <p:nvSpPr>
          <p:cNvPr id="75779" name="Zástupný objekt pre text 6"/>
          <p:cNvSpPr>
            <a:spLocks noGrp="1"/>
          </p:cNvSpPr>
          <p:nvPr>
            <p:ph type="body" sz="half" idx="2"/>
          </p:nvPr>
        </p:nvSpPr>
        <p:spPr>
          <a:xfrm>
            <a:off x="517525" y="3335338"/>
            <a:ext cx="8518971" cy="2527300"/>
          </a:xfrm>
        </p:spPr>
        <p:txBody>
          <a:bodyPr>
            <a:normAutofit lnSpcReduction="10000"/>
          </a:bodyPr>
          <a:lstStyle/>
          <a:p>
            <a:r>
              <a:rPr lang="sk-SK" altLang="en-US"/>
              <a:t>SELECT </a:t>
            </a:r>
            <a:r>
              <a:rPr lang="sk-SK" altLang="en-US" err="1"/>
              <a:t>pr.nazov</a:t>
            </a:r>
            <a:r>
              <a:rPr lang="sk-SK" altLang="en-US"/>
              <a:t> </a:t>
            </a:r>
            <a:endParaRPr lang="en-US" altLang="en-US"/>
          </a:p>
          <a:p>
            <a:r>
              <a:rPr lang="sk-SK" altLang="en-US"/>
              <a:t>FROM predmet </a:t>
            </a:r>
            <a:r>
              <a:rPr lang="sk-SK" altLang="en-US" err="1"/>
              <a:t>pr</a:t>
            </a:r>
            <a:r>
              <a:rPr lang="sk-SK" altLang="en-US"/>
              <a:t> JOIN </a:t>
            </a:r>
            <a:r>
              <a:rPr lang="sk-SK" altLang="en-US" err="1"/>
              <a:t>zap_predmety</a:t>
            </a:r>
            <a:r>
              <a:rPr lang="sk-SK" altLang="en-US"/>
              <a:t> </a:t>
            </a:r>
            <a:r>
              <a:rPr lang="sk-SK" altLang="en-US" err="1"/>
              <a:t>zp</a:t>
            </a:r>
            <a:r>
              <a:rPr lang="sk-SK" altLang="en-US"/>
              <a:t> </a:t>
            </a:r>
            <a:r>
              <a:rPr lang="en-US" altLang="en-US"/>
              <a:t>				</a:t>
            </a:r>
            <a:r>
              <a:rPr lang="sk-SK" altLang="en-US"/>
              <a:t>USING (</a:t>
            </a:r>
            <a:r>
              <a:rPr lang="sk-SK" altLang="en-US" err="1"/>
              <a:t>cis_predm</a:t>
            </a:r>
            <a:r>
              <a:rPr lang="sk-SK" altLang="en-US"/>
              <a:t>)</a:t>
            </a:r>
          </a:p>
          <a:p>
            <a:pPr marL="190500" lvl="1" indent="0">
              <a:buFontTx/>
              <a:buNone/>
            </a:pPr>
            <a:r>
              <a:rPr lang="sk-SK" altLang="en-US"/>
              <a:t>	            </a:t>
            </a:r>
            <a:r>
              <a:rPr lang="en-US" altLang="en-US"/>
              <a:t>	</a:t>
            </a:r>
            <a:r>
              <a:rPr lang="sk-SK" altLang="en-US"/>
              <a:t>JOIN </a:t>
            </a:r>
            <a:r>
              <a:rPr lang="sk-SK" altLang="en-US" err="1"/>
              <a:t>student</a:t>
            </a:r>
            <a:r>
              <a:rPr lang="sk-SK" altLang="en-US"/>
              <a:t> </a:t>
            </a:r>
            <a:r>
              <a:rPr lang="sk-SK" altLang="en-US" err="1"/>
              <a:t>st</a:t>
            </a:r>
            <a:r>
              <a:rPr lang="sk-SK" altLang="en-US"/>
              <a:t> USING(</a:t>
            </a:r>
            <a:r>
              <a:rPr lang="sk-SK" altLang="en-US" err="1"/>
              <a:t>os_cislo</a:t>
            </a:r>
            <a:r>
              <a:rPr lang="sk-SK" altLang="en-US"/>
              <a:t>) </a:t>
            </a:r>
            <a:endParaRPr lang="en-US" altLang="en-US"/>
          </a:p>
          <a:p>
            <a:pPr marL="190500" lvl="1" indent="0">
              <a:buFontTx/>
              <a:buNone/>
            </a:pPr>
            <a:r>
              <a:rPr lang="en-US" altLang="en-US"/>
              <a:t>WHERE </a:t>
            </a:r>
            <a:r>
              <a:rPr lang="en-US" altLang="en-US" err="1"/>
              <a:t>priezvisko</a:t>
            </a:r>
            <a:r>
              <a:rPr lang="en-US" altLang="en-US"/>
              <a:t> = ‘Bal</a:t>
            </a:r>
            <a:r>
              <a:rPr lang="sk-SK" altLang="en-US" err="1"/>
              <a:t>áž</a:t>
            </a:r>
            <a:r>
              <a:rPr lang="en-US" altLang="en-US"/>
              <a:t>’</a:t>
            </a:r>
          </a:p>
        </p:txBody>
      </p:sp>
      <p:pic>
        <p:nvPicPr>
          <p:cNvPr id="75781" name="Zástupný objekt pre obsah 5"/>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544638" y="1858963"/>
            <a:ext cx="6124575" cy="876300"/>
          </a:xfrm>
        </p:spPr>
      </p:pic>
    </p:spTree>
    <p:extLst>
      <p:ext uri="{BB962C8B-B14F-4D97-AF65-F5344CB8AC3E}">
        <p14:creationId xmlns:p14="http://schemas.microsoft.com/office/powerpoint/2010/main" val="1435319106"/>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Nadpis 6"/>
          <p:cNvSpPr>
            <a:spLocks noGrp="1"/>
          </p:cNvSpPr>
          <p:nvPr>
            <p:ph type="title"/>
          </p:nvPr>
        </p:nvSpPr>
        <p:spPr>
          <a:xfrm>
            <a:off x="1301750" y="2311400"/>
            <a:ext cx="5945188" cy="600075"/>
          </a:xfrm>
        </p:spPr>
        <p:txBody>
          <a:bodyPr>
            <a:normAutofit fontScale="90000"/>
          </a:bodyPr>
          <a:lstStyle/>
          <a:p>
            <a:pPr algn="ctr">
              <a:defRPr/>
            </a:pPr>
            <a:r>
              <a:rPr lang="sk-SK"/>
              <a:t>Funkcie</a:t>
            </a:r>
            <a:endParaRPr lang="en-US"/>
          </a:p>
        </p:txBody>
      </p:sp>
    </p:spTree>
    <p:extLst>
      <p:ext uri="{BB962C8B-B14F-4D97-AF65-F5344CB8AC3E}">
        <p14:creationId xmlns:p14="http://schemas.microsoft.com/office/powerpoint/2010/main" val="12505640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pPr>
              <a:defRPr/>
            </a:pPr>
            <a:r>
              <a:rPr lang="sk-SK"/>
              <a:t>Funkcie</a:t>
            </a:r>
            <a:endParaRPr lang="en-US"/>
          </a:p>
        </p:txBody>
      </p:sp>
      <p:sp>
        <p:nvSpPr>
          <p:cNvPr id="78851" name="Zástupný objekt pre obsah 2"/>
          <p:cNvSpPr>
            <a:spLocks noGrp="1"/>
          </p:cNvSpPr>
          <p:nvPr>
            <p:ph sz="half" idx="1"/>
          </p:nvPr>
        </p:nvSpPr>
        <p:spPr/>
        <p:txBody>
          <a:bodyPr>
            <a:normAutofit fontScale="92500" lnSpcReduction="10000"/>
          </a:bodyPr>
          <a:lstStyle/>
          <a:p>
            <a:r>
              <a:rPr lang="sk-SK" altLang="en-US" b="1"/>
              <a:t>Štandardné funkcie</a:t>
            </a:r>
          </a:p>
          <a:p>
            <a:r>
              <a:rPr lang="sk-SK" altLang="en-US"/>
              <a:t>Podľa dátových typov: TO</a:t>
            </a:r>
            <a:r>
              <a:rPr lang="en-US" altLang="en-US"/>
              <a:t>_</a:t>
            </a:r>
            <a:r>
              <a:rPr lang="sk-SK" altLang="en-US"/>
              <a:t>CHAR, TO</a:t>
            </a:r>
            <a:r>
              <a:rPr lang="en-US" altLang="en-US"/>
              <a:t>_</a:t>
            </a:r>
            <a:r>
              <a:rPr lang="sk-SK" altLang="en-US"/>
              <a:t>DATE, ROUND, SUBSTR, LENGTH, ...</a:t>
            </a:r>
          </a:p>
          <a:p>
            <a:r>
              <a:rPr lang="sk-SK" altLang="en-US"/>
              <a:t>Operátor LIKE</a:t>
            </a:r>
          </a:p>
          <a:p>
            <a:r>
              <a:rPr lang="sk-SK" altLang="en-US"/>
              <a:t>Podmienky sú vo WHERE</a:t>
            </a:r>
            <a:endParaRPr lang="en-US" altLang="en-US"/>
          </a:p>
        </p:txBody>
      </p:sp>
      <p:sp>
        <p:nvSpPr>
          <p:cNvPr id="4" name="Zástupný objekt pre text 3"/>
          <p:cNvSpPr>
            <a:spLocks noGrp="1"/>
          </p:cNvSpPr>
          <p:nvPr>
            <p:ph type="body" sz="half" idx="2"/>
          </p:nvPr>
        </p:nvSpPr>
        <p:spPr>
          <a:xfrm>
            <a:off x="407988" y="3713163"/>
            <a:ext cx="8586787" cy="2527300"/>
          </a:xfrm>
        </p:spPr>
        <p:txBody>
          <a:bodyPr/>
          <a:lstStyle/>
          <a:p>
            <a:pPr marL="0" indent="0">
              <a:buFont typeface="Wingdings" panose="05000000000000000000" pitchFamily="2" charset="2"/>
              <a:buNone/>
              <a:defRPr/>
            </a:pPr>
            <a:r>
              <a:rPr lang="sk-SK" b="1" err="1"/>
              <a:t>Agregačné</a:t>
            </a:r>
            <a:r>
              <a:rPr lang="sk-SK" b="1"/>
              <a:t> funkcie</a:t>
            </a:r>
          </a:p>
          <a:p>
            <a:pPr>
              <a:defRPr/>
            </a:pPr>
            <a:r>
              <a:rPr lang="sk-SK"/>
              <a:t>COUNT, SUM, MIN, MAX, AVG</a:t>
            </a:r>
          </a:p>
          <a:p>
            <a:pPr>
              <a:defRPr/>
            </a:pPr>
            <a:r>
              <a:rPr lang="sk-SK"/>
              <a:t>Podmienky sú v klauzule HAVING, často spojené s klauzulou GROUP BY</a:t>
            </a:r>
          </a:p>
          <a:p>
            <a:pPr>
              <a:defRPr/>
            </a:pPr>
            <a:endParaRPr lang="sk-SK"/>
          </a:p>
        </p:txBody>
      </p:sp>
    </p:spTree>
    <p:extLst>
      <p:ext uri="{BB962C8B-B14F-4D97-AF65-F5344CB8AC3E}">
        <p14:creationId xmlns:p14="http://schemas.microsoft.com/office/powerpoint/2010/main" val="3777983949"/>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3" y="188640"/>
            <a:ext cx="7925893" cy="1034585"/>
          </a:xfrm>
        </p:spPr>
        <p:txBody>
          <a:bodyPr>
            <a:normAutofit fontScale="90000"/>
          </a:bodyPr>
          <a:lstStyle/>
          <a:p>
            <a:pPr algn="ctr">
              <a:defRPr/>
            </a:pPr>
            <a:br>
              <a:rPr lang="sk-SK" sz="3600"/>
            </a:br>
            <a:r>
              <a:rPr lang="sk-SK" sz="3600"/>
              <a:t>Špeciálne Funkcie</a:t>
            </a:r>
            <a:r>
              <a:rPr lang="en-US" sz="3600"/>
              <a:t> - DECODE – </a:t>
            </a:r>
            <a:r>
              <a:rPr lang="en-US" sz="3600" err="1"/>
              <a:t>prekódovanie</a:t>
            </a:r>
            <a:r>
              <a:rPr lang="en-US" sz="3600"/>
              <a:t> </a:t>
            </a:r>
            <a:r>
              <a:rPr lang="en-US" sz="3600" err="1"/>
              <a:t>hodnôt</a:t>
            </a:r>
            <a:br>
              <a:rPr lang="en-US"/>
            </a:br>
            <a:endParaRPr lang="en-US"/>
          </a:p>
        </p:txBody>
      </p:sp>
      <p:sp>
        <p:nvSpPr>
          <p:cNvPr id="79876" name="Obdĺžnik 5"/>
          <p:cNvSpPr>
            <a:spLocks noChangeArrowheads="1"/>
          </p:cNvSpPr>
          <p:nvPr/>
        </p:nvSpPr>
        <p:spPr bwMode="auto">
          <a:xfrm>
            <a:off x="390523" y="1689377"/>
            <a:ext cx="87217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sz="2400" b="1" baseline="-25000"/>
              <a:t> </a:t>
            </a:r>
            <a:r>
              <a:rPr lang="en-US" altLang="en-US" sz="2400" b="1" baseline="-25000"/>
              <a:t>select </a:t>
            </a:r>
            <a:r>
              <a:rPr lang="sk-SK" altLang="en-US" sz="2400" b="1" baseline="-25000" err="1"/>
              <a:t>os_cislo</a:t>
            </a:r>
            <a:r>
              <a:rPr lang="en-US" altLang="en-US" sz="2400" b="1" baseline="-25000"/>
              <a:t>,</a:t>
            </a:r>
            <a:endParaRPr lang="sk-SK" altLang="en-US" sz="2400" b="1"/>
          </a:p>
          <a:p>
            <a:r>
              <a:rPr lang="en-US" altLang="en-US" sz="2400" b="1" baseline="-25000"/>
              <a:t>    </a:t>
            </a:r>
            <a:r>
              <a:rPr lang="en-US" altLang="en-US" sz="2400" b="1"/>
              <a:t>     </a:t>
            </a:r>
            <a:r>
              <a:rPr lang="en-US" altLang="en-US" sz="2400" b="1" baseline="-25000"/>
              <a:t>decode </a:t>
            </a:r>
            <a:r>
              <a:rPr lang="sk-SK" altLang="en-US" sz="2400" b="1" baseline="-25000"/>
              <a:t>( </a:t>
            </a:r>
            <a:r>
              <a:rPr lang="sk-SK" altLang="en-US" sz="2400" b="1" baseline="-25000" err="1"/>
              <a:t>st.stav</a:t>
            </a:r>
            <a:r>
              <a:rPr lang="sk-SK" altLang="en-US" sz="2400" b="1" baseline="-25000"/>
              <a:t>, </a:t>
            </a:r>
            <a:r>
              <a:rPr lang="en-US" altLang="en-US" sz="2400" b="1" baseline="-25000"/>
              <a:t>’S’, ’student’, </a:t>
            </a:r>
            <a:r>
              <a:rPr lang="sk-SK" altLang="en-US" sz="2400" b="1" baseline="-25000"/>
              <a:t>’K’</a:t>
            </a:r>
            <a:r>
              <a:rPr lang="en-US" altLang="en-US" sz="2400" b="1" baseline="-25000"/>
              <a:t>,</a:t>
            </a:r>
            <a:r>
              <a:rPr lang="sk-SK" altLang="en-US" sz="2400" b="1" baseline="-25000"/>
              <a:t>’ukončený’</a:t>
            </a:r>
            <a:r>
              <a:rPr lang="en-US" altLang="en-US" sz="2400" b="1" baseline="-25000"/>
              <a:t>, </a:t>
            </a:r>
            <a:r>
              <a:rPr lang="sk-SK" altLang="en-US" sz="2400" b="1" baseline="-25000"/>
              <a:t>’P’, ’prerušený’, ’vylúčený’) </a:t>
            </a:r>
            <a:r>
              <a:rPr lang="en-US" altLang="en-US" sz="2400" b="1" baseline="-25000"/>
              <a:t>as </a:t>
            </a:r>
            <a:r>
              <a:rPr lang="sk-SK" altLang="en-US" sz="2400" b="1" baseline="-25000"/>
              <a:t>stav</a:t>
            </a:r>
          </a:p>
          <a:p>
            <a:r>
              <a:rPr lang="en-US" altLang="en-US" sz="2400" b="1" baseline="-25000"/>
              <a:t>    from student </a:t>
            </a:r>
            <a:r>
              <a:rPr lang="sk-SK" altLang="en-US" sz="2400" b="1" baseline="-25000" err="1"/>
              <a:t>st</a:t>
            </a:r>
            <a:r>
              <a:rPr lang="sk-SK" altLang="en-US" sz="2400" b="1" baseline="-25000"/>
              <a:t>;</a:t>
            </a:r>
            <a:endParaRPr lang="sk-SK" altLang="en-US" sz="2400" b="1"/>
          </a:p>
        </p:txBody>
      </p:sp>
      <p:sp>
        <p:nvSpPr>
          <p:cNvPr id="79877" name="Obdĺžnik 6"/>
          <p:cNvSpPr>
            <a:spLocks noChangeArrowheads="1"/>
          </p:cNvSpPr>
          <p:nvPr/>
        </p:nvSpPr>
        <p:spPr bwMode="auto">
          <a:xfrm>
            <a:off x="4089400" y="2493963"/>
            <a:ext cx="4572000"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800"/>
              <a:t>OS_CISLO</a:t>
            </a:r>
            <a:r>
              <a:rPr lang="sk-SK" altLang="en-US" sz="1800"/>
              <a:t>	</a:t>
            </a:r>
            <a:r>
              <a:rPr lang="en-US" altLang="en-US" sz="1800"/>
              <a:t>STAV</a:t>
            </a:r>
          </a:p>
          <a:p>
            <a:r>
              <a:rPr lang="en-US" altLang="en-US" sz="1800"/>
              <a:t>501512 		student </a:t>
            </a:r>
          </a:p>
          <a:p>
            <a:r>
              <a:rPr lang="en-US" altLang="en-US" sz="1800"/>
              <a:t>501469 		student </a:t>
            </a:r>
          </a:p>
          <a:p>
            <a:r>
              <a:rPr lang="en-US" altLang="en-US" sz="1800"/>
              <a:t>501414 		student </a:t>
            </a:r>
          </a:p>
          <a:p>
            <a:r>
              <a:rPr lang="en-US" altLang="en-US" sz="1800"/>
              <a:t>550545 		</a:t>
            </a:r>
            <a:r>
              <a:rPr lang="en-US" altLang="en-US" sz="1800" err="1"/>
              <a:t>prerušený</a:t>
            </a:r>
            <a:r>
              <a:rPr lang="en-US" altLang="en-US" sz="1800"/>
              <a:t> </a:t>
            </a:r>
          </a:p>
          <a:p>
            <a:r>
              <a:rPr lang="en-US" altLang="en-US" sz="1800"/>
              <a:t>550020 		student </a:t>
            </a:r>
          </a:p>
          <a:p>
            <a:r>
              <a:rPr lang="en-US" altLang="en-US" sz="1800"/>
              <a:t>501567 		</a:t>
            </a:r>
            <a:r>
              <a:rPr lang="en-US" altLang="en-US" sz="1800" err="1"/>
              <a:t>vylúčený</a:t>
            </a:r>
            <a:r>
              <a:rPr lang="en-US" altLang="en-US" sz="1800"/>
              <a:t> </a:t>
            </a:r>
          </a:p>
          <a:p>
            <a:r>
              <a:rPr lang="en-US" altLang="en-US" sz="1800"/>
              <a:t>501319 		student </a:t>
            </a:r>
          </a:p>
          <a:p>
            <a:r>
              <a:rPr lang="en-US" altLang="en-US" sz="1800"/>
              <a:t>501555 		student </a:t>
            </a:r>
          </a:p>
          <a:p>
            <a:r>
              <a:rPr lang="en-US" altLang="en-US" sz="1800"/>
              <a:t>501402 		student </a:t>
            </a:r>
          </a:p>
          <a:p>
            <a:r>
              <a:rPr lang="en-US" altLang="en-US" sz="1800"/>
              <a:t>501096 		</a:t>
            </a:r>
            <a:r>
              <a:rPr lang="en-US" altLang="en-US" sz="1800" err="1"/>
              <a:t>vylúčený</a:t>
            </a:r>
            <a:r>
              <a:rPr lang="en-US" altLang="en-US" sz="1800"/>
              <a:t> </a:t>
            </a:r>
          </a:p>
          <a:p>
            <a:r>
              <a:rPr lang="en-US" altLang="en-US" sz="1800"/>
              <a:t>501103 		</a:t>
            </a:r>
            <a:r>
              <a:rPr lang="en-US" altLang="en-US" sz="1800" err="1"/>
              <a:t>ukončený</a:t>
            </a:r>
            <a:r>
              <a:rPr lang="en-US" altLang="en-US" sz="1800"/>
              <a:t> </a:t>
            </a:r>
          </a:p>
          <a:p>
            <a:r>
              <a:rPr lang="en-US" altLang="en-US" sz="1800"/>
              <a:t>501333 		student</a:t>
            </a:r>
          </a:p>
        </p:txBody>
      </p:sp>
      <p:sp>
        <p:nvSpPr>
          <p:cNvPr id="79878" name="Obdĺžnik 7"/>
          <p:cNvSpPr>
            <a:spLocks noChangeArrowheads="1"/>
          </p:cNvSpPr>
          <p:nvPr/>
        </p:nvSpPr>
        <p:spPr bwMode="auto">
          <a:xfrm>
            <a:off x="390523" y="1015632"/>
            <a:ext cx="84978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Syntax: </a:t>
            </a:r>
          </a:p>
          <a:p>
            <a:r>
              <a:rPr lang="en-US" altLang="en-US"/>
              <a:t>DECODE (vyraz, IF-hodnota, THEN-hodnota, [, …], ELSE -hodnota)</a:t>
            </a:r>
          </a:p>
        </p:txBody>
      </p:sp>
    </p:spTree>
    <p:extLst>
      <p:ext uri="{BB962C8B-B14F-4D97-AF65-F5344CB8AC3E}">
        <p14:creationId xmlns:p14="http://schemas.microsoft.com/office/powerpoint/2010/main" val="98585118"/>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23528" y="188640"/>
            <a:ext cx="7939088" cy="600075"/>
          </a:xfrm>
        </p:spPr>
        <p:txBody>
          <a:bodyPr>
            <a:normAutofit fontScale="90000"/>
          </a:bodyPr>
          <a:lstStyle/>
          <a:p>
            <a:pPr algn="ctr">
              <a:defRPr/>
            </a:pPr>
            <a:br>
              <a:rPr lang="sk-SK"/>
            </a:br>
            <a:r>
              <a:rPr lang="sk-SK"/>
              <a:t>Funkcie</a:t>
            </a:r>
            <a:r>
              <a:rPr lang="en-US"/>
              <a:t> </a:t>
            </a:r>
            <a:r>
              <a:rPr lang="sk-SK"/>
              <a:t> pre číselné dátové typy</a:t>
            </a:r>
            <a:br>
              <a:rPr lang="en-US"/>
            </a:br>
            <a:endParaRPr lang="en-US"/>
          </a:p>
        </p:txBody>
      </p:sp>
      <p:sp>
        <p:nvSpPr>
          <p:cNvPr id="80900" name="Obdĺžnik 7"/>
          <p:cNvSpPr>
            <a:spLocks noChangeArrowheads="1"/>
          </p:cNvSpPr>
          <p:nvPr/>
        </p:nvSpPr>
        <p:spPr bwMode="auto">
          <a:xfrm>
            <a:off x="487363" y="744538"/>
            <a:ext cx="8497887"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Syntax: </a:t>
            </a:r>
          </a:p>
          <a:p>
            <a:r>
              <a:rPr lang="sk-SK" altLang="en-US"/>
              <a:t>Zaokrúhlenie</a:t>
            </a:r>
          </a:p>
          <a:p>
            <a:endParaRPr lang="sk-SK" altLang="en-US"/>
          </a:p>
          <a:p>
            <a:r>
              <a:rPr lang="sk-SK" altLang="en-US"/>
              <a:t>	</a:t>
            </a:r>
            <a:r>
              <a:rPr lang="sk-SK" altLang="en-US" b="1"/>
              <a:t>ROUND (číslo, </a:t>
            </a:r>
            <a:r>
              <a:rPr lang="en-US" altLang="en-US" b="1"/>
              <a:t>[</a:t>
            </a:r>
            <a:r>
              <a:rPr lang="en-US" altLang="en-US" b="1" err="1"/>
              <a:t>po</a:t>
            </a:r>
            <a:r>
              <a:rPr lang="sk-SK" altLang="en-US" b="1"/>
              <a:t>č</a:t>
            </a:r>
            <a:r>
              <a:rPr lang="en-US" altLang="en-US" b="1"/>
              <a:t>et </a:t>
            </a:r>
            <a:r>
              <a:rPr lang="en-US" altLang="en-US" b="1" err="1"/>
              <a:t>desatinn</a:t>
            </a:r>
            <a:r>
              <a:rPr lang="sk-SK" altLang="en-US" b="1"/>
              <a:t>ý</a:t>
            </a:r>
            <a:r>
              <a:rPr lang="en-US" altLang="en-US" b="1" err="1"/>
              <a:t>ch</a:t>
            </a:r>
            <a:r>
              <a:rPr lang="en-US" altLang="en-US" b="1"/>
              <a:t> </a:t>
            </a:r>
            <a:r>
              <a:rPr lang="en-US" altLang="en-US" b="1" err="1"/>
              <a:t>mie</a:t>
            </a:r>
            <a:r>
              <a:rPr lang="sk-SK" altLang="en-US" b="1" err="1"/>
              <a:t>st</a:t>
            </a:r>
            <a:r>
              <a:rPr lang="en-US" altLang="en-US" b="1"/>
              <a:t>]</a:t>
            </a:r>
            <a:r>
              <a:rPr lang="sk-SK" altLang="en-US" b="1"/>
              <a:t>)</a:t>
            </a:r>
          </a:p>
          <a:p>
            <a:endParaRPr lang="sk-SK" altLang="en-US"/>
          </a:p>
          <a:p>
            <a:r>
              <a:rPr lang="sk-SK" altLang="en-US"/>
              <a:t>Orezanie podľa parametra</a:t>
            </a:r>
          </a:p>
          <a:p>
            <a:endParaRPr lang="sk-SK" altLang="en-US"/>
          </a:p>
          <a:p>
            <a:r>
              <a:rPr lang="sk-SK" altLang="en-US"/>
              <a:t>	</a:t>
            </a:r>
            <a:r>
              <a:rPr lang="sk-SK" altLang="en-US" b="1"/>
              <a:t>TRUNC (číslo, </a:t>
            </a:r>
            <a:r>
              <a:rPr lang="en-US" altLang="en-US" b="1"/>
              <a:t>[</a:t>
            </a:r>
            <a:r>
              <a:rPr lang="sk-SK" altLang="en-US" b="1"/>
              <a:t>presnosť</a:t>
            </a:r>
            <a:r>
              <a:rPr lang="en-US" altLang="en-US" b="1"/>
              <a:t>]</a:t>
            </a:r>
            <a:r>
              <a:rPr lang="sk-SK" altLang="en-US" b="1"/>
              <a:t>)</a:t>
            </a:r>
          </a:p>
          <a:p>
            <a:endParaRPr lang="sk-SK" altLang="en-US"/>
          </a:p>
          <a:p>
            <a:r>
              <a:rPr lang="sk-SK" altLang="en-US"/>
              <a:t>Zvyšok po delení</a:t>
            </a:r>
          </a:p>
          <a:p>
            <a:endParaRPr lang="sk-SK" altLang="en-US"/>
          </a:p>
          <a:p>
            <a:r>
              <a:rPr lang="sk-SK" altLang="en-US"/>
              <a:t>	</a:t>
            </a:r>
            <a:r>
              <a:rPr lang="sk-SK" altLang="en-US" b="1"/>
              <a:t>MOD (delenec, deliteľ)</a:t>
            </a:r>
          </a:p>
          <a:p>
            <a:endParaRPr lang="en-US" altLang="en-US"/>
          </a:p>
        </p:txBody>
      </p:sp>
    </p:spTree>
    <p:extLst>
      <p:ext uri="{BB962C8B-B14F-4D97-AF65-F5344CB8AC3E}">
        <p14:creationId xmlns:p14="http://schemas.microsoft.com/office/powerpoint/2010/main" val="2988580127"/>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4" y="344488"/>
            <a:ext cx="8721726" cy="780256"/>
          </a:xfrm>
        </p:spPr>
        <p:txBody>
          <a:bodyPr>
            <a:normAutofit fontScale="90000"/>
          </a:bodyPr>
          <a:lstStyle/>
          <a:p>
            <a:pPr algn="l">
              <a:defRPr/>
            </a:pPr>
            <a:r>
              <a:rPr lang="sk-SK" sz="4000" err="1"/>
              <a:t>Fcie</a:t>
            </a:r>
            <a:r>
              <a:rPr lang="en-US" sz="4000"/>
              <a:t> </a:t>
            </a:r>
            <a:r>
              <a:rPr lang="sk-SK" sz="4000"/>
              <a:t> pre číselné dátové typy-  ROUND</a:t>
            </a:r>
            <a:br>
              <a:rPr lang="en-US"/>
            </a:br>
            <a:endParaRPr lang="en-US"/>
          </a:p>
        </p:txBody>
      </p:sp>
      <p:sp>
        <p:nvSpPr>
          <p:cNvPr id="81924" name="Obdĺžnik 2"/>
          <p:cNvSpPr>
            <a:spLocks noChangeArrowheads="1"/>
          </p:cNvSpPr>
          <p:nvPr/>
        </p:nvSpPr>
        <p:spPr bwMode="auto">
          <a:xfrm>
            <a:off x="169863" y="895350"/>
            <a:ext cx="9045575" cy="501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SQL&gt; </a:t>
            </a:r>
            <a:r>
              <a:rPr lang="en-US" altLang="en-US" b="1"/>
              <a:t>select round(2.5), round(21.3), round(13.6) from dual; </a:t>
            </a:r>
            <a:endParaRPr lang="sk-SK" altLang="en-US" b="1"/>
          </a:p>
          <a:p>
            <a:endParaRPr lang="sk-SK" altLang="en-US"/>
          </a:p>
          <a:p>
            <a:r>
              <a:rPr lang="en-US" altLang="en-US"/>
              <a:t>ROUND(2.5) </a:t>
            </a:r>
            <a:r>
              <a:rPr lang="sk-SK" altLang="en-US"/>
              <a:t> </a:t>
            </a:r>
            <a:r>
              <a:rPr lang="en-US" altLang="en-US"/>
              <a:t>ROUND(21.3) ROUND(13.6)</a:t>
            </a:r>
          </a:p>
          <a:p>
            <a:endParaRPr lang="en-US" altLang="en-US"/>
          </a:p>
          <a:p>
            <a:r>
              <a:rPr lang="en-US" altLang="en-US"/>
              <a:t>3	</a:t>
            </a:r>
            <a:r>
              <a:rPr lang="sk-SK" altLang="en-US"/>
              <a:t>	</a:t>
            </a:r>
            <a:r>
              <a:rPr lang="en-US" altLang="en-US"/>
              <a:t>21	</a:t>
            </a:r>
            <a:r>
              <a:rPr lang="sk-SK" altLang="en-US"/>
              <a:t>	</a:t>
            </a:r>
            <a:r>
              <a:rPr lang="en-US" altLang="en-US"/>
              <a:t>14</a:t>
            </a:r>
          </a:p>
          <a:p>
            <a:endParaRPr lang="en-US" altLang="en-US"/>
          </a:p>
          <a:p>
            <a:r>
              <a:rPr lang="en-US" altLang="en-US"/>
              <a:t>SQL&gt; </a:t>
            </a:r>
            <a:r>
              <a:rPr lang="en-US" altLang="en-US" b="1"/>
              <a:t>select round(13.2458878, 2 ) from dual;</a:t>
            </a:r>
          </a:p>
          <a:p>
            <a:endParaRPr lang="en-US" altLang="en-US"/>
          </a:p>
          <a:p>
            <a:r>
              <a:rPr lang="en-US" altLang="en-US"/>
              <a:t>ROUND(13.2458878,2)</a:t>
            </a:r>
          </a:p>
          <a:p>
            <a:endParaRPr lang="en-US" altLang="en-US"/>
          </a:p>
          <a:p>
            <a:r>
              <a:rPr lang="sk-SK" altLang="en-US"/>
              <a:t>	</a:t>
            </a:r>
            <a:r>
              <a:rPr lang="en-US" altLang="en-US"/>
              <a:t>13.25</a:t>
            </a:r>
          </a:p>
          <a:p>
            <a:endParaRPr lang="en-US" altLang="en-US"/>
          </a:p>
          <a:p>
            <a:r>
              <a:rPr lang="en-US" altLang="en-US"/>
              <a:t>SQL&gt; </a:t>
            </a:r>
            <a:r>
              <a:rPr lang="en-US" altLang="en-US" b="1"/>
              <a:t>select round(657981.124, -2) from dual;</a:t>
            </a:r>
          </a:p>
          <a:p>
            <a:endParaRPr lang="en-US" altLang="en-US"/>
          </a:p>
          <a:p>
            <a:r>
              <a:rPr lang="en-US" altLang="en-US"/>
              <a:t>ROUND(657981.124,-2)</a:t>
            </a:r>
            <a:endParaRPr lang="sk-SK" altLang="en-US"/>
          </a:p>
          <a:p>
            <a:r>
              <a:rPr lang="sk-SK" altLang="en-US"/>
              <a:t>	</a:t>
            </a:r>
            <a:r>
              <a:rPr lang="en-US" altLang="en-US"/>
              <a:t>658000</a:t>
            </a:r>
          </a:p>
        </p:txBody>
      </p:sp>
    </p:spTree>
    <p:extLst>
      <p:ext uri="{BB962C8B-B14F-4D97-AF65-F5344CB8AC3E}">
        <p14:creationId xmlns:p14="http://schemas.microsoft.com/office/powerpoint/2010/main" val="736023249"/>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452661"/>
            <a:ext cx="7939088" cy="600075"/>
          </a:xfrm>
        </p:spPr>
        <p:txBody>
          <a:bodyPr>
            <a:normAutofit fontScale="90000"/>
          </a:bodyPr>
          <a:lstStyle/>
          <a:p>
            <a:pPr algn="ctr">
              <a:defRPr/>
            </a:pPr>
            <a:r>
              <a:rPr lang="sk-SK"/>
              <a:t>Funkcie</a:t>
            </a:r>
            <a:r>
              <a:rPr lang="en-US"/>
              <a:t> </a:t>
            </a:r>
            <a:r>
              <a:rPr lang="sk-SK"/>
              <a:t> pre číselné dátové typy-  TRUNC</a:t>
            </a:r>
            <a:endParaRPr lang="en-US"/>
          </a:p>
        </p:txBody>
      </p:sp>
      <p:sp>
        <p:nvSpPr>
          <p:cNvPr id="82948" name="Obdĺžnik 2"/>
          <p:cNvSpPr>
            <a:spLocks noChangeArrowheads="1"/>
          </p:cNvSpPr>
          <p:nvPr/>
        </p:nvSpPr>
        <p:spPr bwMode="auto">
          <a:xfrm>
            <a:off x="288925" y="2406650"/>
            <a:ext cx="8388350"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SQL&gt; </a:t>
            </a:r>
            <a:r>
              <a:rPr lang="en-US" altLang="en-US" b="1"/>
              <a:t>select </a:t>
            </a:r>
            <a:r>
              <a:rPr lang="en-US" altLang="en-US" b="1" err="1"/>
              <a:t>trunc</a:t>
            </a:r>
            <a:r>
              <a:rPr lang="en-US" altLang="en-US" b="1"/>
              <a:t>( 153.3 ), </a:t>
            </a:r>
            <a:r>
              <a:rPr lang="en-US" altLang="en-US" b="1" err="1"/>
              <a:t>trunc</a:t>
            </a:r>
            <a:r>
              <a:rPr lang="en-US" altLang="en-US" b="1"/>
              <a:t> (169.9)</a:t>
            </a:r>
            <a:r>
              <a:rPr lang="sk-SK" altLang="en-US" b="1"/>
              <a:t> </a:t>
            </a:r>
            <a:r>
              <a:rPr lang="en-US" altLang="en-US" b="1"/>
              <a:t>from dual;</a:t>
            </a:r>
          </a:p>
          <a:p>
            <a:endParaRPr lang="sk-SK" altLang="en-US"/>
          </a:p>
          <a:p>
            <a:r>
              <a:rPr lang="en-US" altLang="en-US"/>
              <a:t>TRUNC(153.3) TRUNC(169.9)</a:t>
            </a:r>
          </a:p>
          <a:p>
            <a:r>
              <a:rPr lang="sk-SK" altLang="en-US"/>
              <a:t> </a:t>
            </a:r>
          </a:p>
          <a:p>
            <a:r>
              <a:rPr lang="sk-SK" altLang="en-US"/>
              <a:t>	</a:t>
            </a:r>
            <a:r>
              <a:rPr lang="en-US" altLang="en-US"/>
              <a:t>153	</a:t>
            </a:r>
            <a:r>
              <a:rPr lang="sk-SK" altLang="en-US"/>
              <a:t>	</a:t>
            </a:r>
            <a:r>
              <a:rPr lang="en-US" altLang="en-US"/>
              <a:t>169</a:t>
            </a:r>
            <a:endParaRPr lang="sk-SK" altLang="en-US"/>
          </a:p>
          <a:p>
            <a:endParaRPr lang="en-US" altLang="en-US"/>
          </a:p>
          <a:p>
            <a:r>
              <a:rPr lang="en-US" altLang="en-US"/>
              <a:t>SQL&gt; </a:t>
            </a:r>
            <a:r>
              <a:rPr lang="en-US" altLang="en-US" b="1"/>
              <a:t>select </a:t>
            </a:r>
            <a:r>
              <a:rPr lang="en-US" altLang="en-US" b="1" err="1"/>
              <a:t>trunc</a:t>
            </a:r>
            <a:r>
              <a:rPr lang="en-US" altLang="en-US" b="1"/>
              <a:t>( 15.26589, 1), </a:t>
            </a:r>
            <a:r>
              <a:rPr lang="en-US" altLang="en-US" b="1" err="1"/>
              <a:t>trunc</a:t>
            </a:r>
            <a:r>
              <a:rPr lang="en-US" altLang="en-US" b="1"/>
              <a:t> (15.26589, - 1 ) from dual;</a:t>
            </a:r>
            <a:endParaRPr lang="sk-SK" altLang="en-US" b="1"/>
          </a:p>
          <a:p>
            <a:endParaRPr lang="en-US" altLang="en-US"/>
          </a:p>
          <a:p>
            <a:r>
              <a:rPr lang="en-US" altLang="en-US"/>
              <a:t>TRUNC(15.26589,1) TRUNC(15.26589,-1)</a:t>
            </a:r>
          </a:p>
          <a:p>
            <a:endParaRPr lang="sk-SK" altLang="en-US"/>
          </a:p>
          <a:p>
            <a:pPr lvl="1"/>
            <a:r>
              <a:rPr lang="en-US" altLang="en-US"/>
              <a:t>15.2	</a:t>
            </a:r>
            <a:r>
              <a:rPr lang="sk-SK" altLang="en-US"/>
              <a:t>		</a:t>
            </a:r>
            <a:r>
              <a:rPr lang="en-US" altLang="en-US"/>
              <a:t>10</a:t>
            </a:r>
          </a:p>
        </p:txBody>
      </p:sp>
    </p:spTree>
    <p:extLst>
      <p:ext uri="{BB962C8B-B14F-4D97-AF65-F5344CB8AC3E}">
        <p14:creationId xmlns:p14="http://schemas.microsoft.com/office/powerpoint/2010/main" val="4101376388"/>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524669"/>
            <a:ext cx="7939088" cy="600075"/>
          </a:xfrm>
        </p:spPr>
        <p:txBody>
          <a:bodyPr>
            <a:normAutofit fontScale="90000"/>
          </a:bodyPr>
          <a:lstStyle/>
          <a:p>
            <a:pPr algn="ctr">
              <a:defRPr/>
            </a:pPr>
            <a:r>
              <a:rPr lang="sk-SK"/>
              <a:t>Funkcie</a:t>
            </a:r>
            <a:r>
              <a:rPr lang="en-US"/>
              <a:t> </a:t>
            </a:r>
            <a:r>
              <a:rPr lang="sk-SK"/>
              <a:t> pre číselné dátové typy-  MOD</a:t>
            </a:r>
            <a:endParaRPr lang="en-US"/>
          </a:p>
        </p:txBody>
      </p:sp>
      <p:sp>
        <p:nvSpPr>
          <p:cNvPr id="83972" name="Obdĺžnik 3"/>
          <p:cNvSpPr>
            <a:spLocks noChangeArrowheads="1"/>
          </p:cNvSpPr>
          <p:nvPr/>
        </p:nvSpPr>
        <p:spPr bwMode="auto">
          <a:xfrm>
            <a:off x="506413" y="3074988"/>
            <a:ext cx="798195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SQL&gt; select mod(5,2) ,mod(16,4) from dual; </a:t>
            </a:r>
            <a:endParaRPr lang="sk-SK" altLang="en-US"/>
          </a:p>
          <a:p>
            <a:endParaRPr lang="sk-SK" altLang="en-US"/>
          </a:p>
          <a:p>
            <a:endParaRPr lang="sk-SK" altLang="en-US"/>
          </a:p>
          <a:p>
            <a:r>
              <a:rPr lang="sk-SK" altLang="en-US"/>
              <a:t>	</a:t>
            </a:r>
            <a:r>
              <a:rPr lang="en-US" altLang="en-US"/>
              <a:t>MOD(5,2)	</a:t>
            </a:r>
            <a:r>
              <a:rPr lang="sk-SK" altLang="en-US"/>
              <a:t>	</a:t>
            </a:r>
            <a:r>
              <a:rPr lang="en-US" altLang="en-US"/>
              <a:t>MOD(16,4)</a:t>
            </a:r>
            <a:endParaRPr lang="sk-SK" altLang="en-US"/>
          </a:p>
          <a:p>
            <a:r>
              <a:rPr lang="sk-SK" altLang="en-US"/>
              <a:t>	      1   			      0</a:t>
            </a:r>
          </a:p>
          <a:p>
            <a:endParaRPr lang="en-US" altLang="en-US"/>
          </a:p>
        </p:txBody>
      </p:sp>
    </p:spTree>
    <p:extLst>
      <p:ext uri="{BB962C8B-B14F-4D97-AF65-F5344CB8AC3E}">
        <p14:creationId xmlns:p14="http://schemas.microsoft.com/office/powerpoint/2010/main" val="3606817282"/>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pPr algn="ctr">
              <a:defRPr/>
            </a:pPr>
            <a:r>
              <a:rPr lang="sk-SK"/>
              <a:t>Funkcie</a:t>
            </a:r>
            <a:r>
              <a:rPr lang="en-US"/>
              <a:t> </a:t>
            </a:r>
            <a:r>
              <a:rPr lang="sk-SK"/>
              <a:t> pre </a:t>
            </a:r>
            <a:r>
              <a:rPr lang="sk-SK" err="1"/>
              <a:t>reťazcové</a:t>
            </a:r>
            <a:r>
              <a:rPr lang="sk-SK"/>
              <a:t> dátové typy</a:t>
            </a:r>
            <a:endParaRPr lang="en-US"/>
          </a:p>
        </p:txBody>
      </p:sp>
      <p:sp>
        <p:nvSpPr>
          <p:cNvPr id="84995" name="Zástupný objekt pre obsah 5"/>
          <p:cNvSpPr>
            <a:spLocks noGrp="1"/>
          </p:cNvSpPr>
          <p:nvPr>
            <p:ph idx="1"/>
          </p:nvPr>
        </p:nvSpPr>
        <p:spPr/>
        <p:txBody>
          <a:bodyPr>
            <a:normAutofit fontScale="92500" lnSpcReduction="20000"/>
          </a:bodyPr>
          <a:lstStyle/>
          <a:p>
            <a:r>
              <a:rPr lang="sk-SK" altLang="en-US"/>
              <a:t>SUBSTR – vytvorí  podreťazec</a:t>
            </a:r>
          </a:p>
          <a:p>
            <a:r>
              <a:rPr lang="sk-SK" altLang="en-US"/>
              <a:t>LENGTH –určí dĺžku reťazca</a:t>
            </a:r>
          </a:p>
          <a:p>
            <a:r>
              <a:rPr lang="sk-SK" altLang="en-US"/>
              <a:t>CONCAT – spojenie reťazcov</a:t>
            </a:r>
          </a:p>
          <a:p>
            <a:r>
              <a:rPr lang="sk-SK" altLang="en-US"/>
              <a:t>UPPER – zmení všetky písmená na veľké</a:t>
            </a:r>
          </a:p>
          <a:p>
            <a:r>
              <a:rPr lang="sk-SK" altLang="en-US"/>
              <a:t>LOWER – zmení všetky písmená na malé</a:t>
            </a:r>
            <a:endParaRPr lang="en-US" altLang="en-US"/>
          </a:p>
          <a:p>
            <a:r>
              <a:rPr lang="en-US" altLang="en-US"/>
              <a:t>INITCAP – </a:t>
            </a:r>
            <a:r>
              <a:rPr lang="sk-SK" altLang="en-US"/>
              <a:t>začiatočné písmená veľkým</a:t>
            </a:r>
          </a:p>
          <a:p>
            <a:endParaRPr lang="sk-SK" altLang="en-US"/>
          </a:p>
          <a:p>
            <a:r>
              <a:rPr lang="sk-SK" altLang="en-US"/>
              <a:t>Poznámka  - operátor LIKE sa používa na porovnávanie reťazcov</a:t>
            </a:r>
            <a:endParaRPr lang="en-US" altLang="en-US"/>
          </a:p>
        </p:txBody>
      </p:sp>
    </p:spTree>
    <p:extLst>
      <p:ext uri="{BB962C8B-B14F-4D97-AF65-F5344CB8AC3E}">
        <p14:creationId xmlns:p14="http://schemas.microsoft.com/office/powerpoint/2010/main" val="1199418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5536" y="0"/>
            <a:ext cx="8064896" cy="1553383"/>
          </a:xfrm>
        </p:spPr>
        <p:txBody>
          <a:bodyPr>
            <a:normAutofit fontScale="90000"/>
          </a:bodyPr>
          <a:lstStyle/>
          <a:p>
            <a:pPr algn="ctr">
              <a:defRPr/>
            </a:pPr>
            <a:br>
              <a:rPr lang="sk-SK" sz="4000"/>
            </a:br>
            <a:r>
              <a:rPr lang="sk-SK" sz="4000"/>
              <a:t>Funkcie</a:t>
            </a:r>
            <a:r>
              <a:rPr lang="en-US" sz="4000"/>
              <a:t> </a:t>
            </a:r>
            <a:r>
              <a:rPr lang="sk-SK" sz="4000"/>
              <a:t> pre </a:t>
            </a:r>
            <a:r>
              <a:rPr lang="sk-SK" sz="4000" err="1"/>
              <a:t>reťazcové</a:t>
            </a:r>
            <a:r>
              <a:rPr lang="sk-SK" sz="4000"/>
              <a:t> dátové typy- SUBSTR – vytvorí  </a:t>
            </a:r>
            <a:r>
              <a:rPr lang="sk-SK" sz="4000" err="1"/>
              <a:t>podreťazec</a:t>
            </a:r>
            <a:br>
              <a:rPr lang="sk-SK"/>
            </a:br>
            <a:endParaRPr lang="en-US"/>
          </a:p>
        </p:txBody>
      </p:sp>
      <p:sp>
        <p:nvSpPr>
          <p:cNvPr id="86020" name="Obdĺžnik 8"/>
          <p:cNvSpPr>
            <a:spLocks noChangeArrowheads="1"/>
          </p:cNvSpPr>
          <p:nvPr/>
        </p:nvSpPr>
        <p:spPr bwMode="auto">
          <a:xfrm>
            <a:off x="477838" y="1555750"/>
            <a:ext cx="8666162" cy="409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b="1"/>
              <a:t>SUBSTR (reťazec, pozícia začiatku, dĺžka)</a:t>
            </a:r>
          </a:p>
          <a:p>
            <a:endParaRPr lang="sk-SK" altLang="en-US"/>
          </a:p>
          <a:p>
            <a:r>
              <a:rPr lang="sk-SK" altLang="en-US"/>
              <a:t>ak</a:t>
            </a:r>
            <a:endParaRPr lang="en-US" altLang="en-US"/>
          </a:p>
          <a:p>
            <a:r>
              <a:rPr lang="en-US" altLang="en-US"/>
              <a:t>pozícia začína od 1.</a:t>
            </a:r>
          </a:p>
          <a:p>
            <a:endParaRPr lang="en-US" altLang="en-US"/>
          </a:p>
          <a:p>
            <a:r>
              <a:rPr lang="en-US" altLang="en-US"/>
              <a:t>V prípade zápornej pozície, pozícia je odrátaná od konca reťazca.</a:t>
            </a:r>
          </a:p>
          <a:p>
            <a:r>
              <a:rPr lang="en-US" altLang="en-US"/>
              <a:t>Ak nie je udaná dĺžka reťazca, vypíše sa až do konca reťazca.</a:t>
            </a:r>
          </a:p>
          <a:p>
            <a:endParaRPr lang="en-US" altLang="en-US"/>
          </a:p>
          <a:p>
            <a:r>
              <a:rPr lang="en-US" altLang="en-US"/>
              <a:t>SQL&gt; </a:t>
            </a:r>
            <a:r>
              <a:rPr lang="en-US" altLang="en-US" b="1"/>
              <a:t>select substr( ’5ZI021’, 2, 1 ) as pracovisko from dual;</a:t>
            </a:r>
            <a:endParaRPr lang="sk-SK" altLang="en-US" b="1"/>
          </a:p>
          <a:p>
            <a:endParaRPr lang="sk-SK" altLang="en-US"/>
          </a:p>
          <a:p>
            <a:r>
              <a:rPr lang="sk-SK" altLang="en-US"/>
              <a:t>	P</a:t>
            </a:r>
          </a:p>
          <a:p>
            <a:r>
              <a:rPr lang="sk-SK" altLang="en-US"/>
              <a:t>	_</a:t>
            </a:r>
          </a:p>
          <a:p>
            <a:r>
              <a:rPr lang="sk-SK" altLang="en-US"/>
              <a:t>	Z</a:t>
            </a:r>
            <a:endParaRPr lang="en-US" altLang="en-US"/>
          </a:p>
        </p:txBody>
      </p:sp>
    </p:spTree>
    <p:extLst>
      <p:ext uri="{BB962C8B-B14F-4D97-AF65-F5344CB8AC3E}">
        <p14:creationId xmlns:p14="http://schemas.microsoft.com/office/powerpoint/2010/main" val="27070778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4"/>
            <a:ext cx="8186738" cy="1507133"/>
          </a:xfrm>
        </p:spPr>
        <p:txBody>
          <a:bodyPr>
            <a:normAutofit fontScale="90000"/>
          </a:bodyPr>
          <a:lstStyle/>
          <a:p>
            <a:pPr algn="ctr">
              <a:defRPr/>
            </a:pPr>
            <a:r>
              <a:rPr lang="sk-SK" sz="3600"/>
              <a:t>Funkcie</a:t>
            </a:r>
            <a:r>
              <a:rPr lang="en-US" sz="3600"/>
              <a:t> </a:t>
            </a:r>
            <a:r>
              <a:rPr lang="sk-SK" sz="3600"/>
              <a:t> pre </a:t>
            </a:r>
            <a:r>
              <a:rPr lang="sk-SK" sz="3600" err="1"/>
              <a:t>reťazcové</a:t>
            </a:r>
            <a:r>
              <a:rPr lang="sk-SK" sz="3600"/>
              <a:t> dátové typy- SUBSTR – vytvorí  </a:t>
            </a:r>
            <a:r>
              <a:rPr lang="sk-SK" sz="3600" err="1"/>
              <a:t>podreťazec</a:t>
            </a:r>
            <a:br>
              <a:rPr lang="sk-SK"/>
            </a:br>
            <a:endParaRPr lang="en-US"/>
          </a:p>
        </p:txBody>
      </p:sp>
      <p:sp>
        <p:nvSpPr>
          <p:cNvPr id="87044" name="Obdĺžnik 2"/>
          <p:cNvSpPr>
            <a:spLocks noChangeArrowheads="1"/>
          </p:cNvSpPr>
          <p:nvPr/>
        </p:nvSpPr>
        <p:spPr bwMode="auto">
          <a:xfrm>
            <a:off x="568325" y="1103313"/>
            <a:ext cx="7831138"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SQL&gt; </a:t>
            </a:r>
            <a:r>
              <a:rPr lang="en-US" altLang="en-US" b="1"/>
              <a:t>select </a:t>
            </a:r>
            <a:r>
              <a:rPr lang="en-US" altLang="en-US" b="1" err="1"/>
              <a:t>st_skupina</a:t>
            </a:r>
            <a:r>
              <a:rPr lang="en-US" altLang="en-US" b="1"/>
              <a:t>, </a:t>
            </a:r>
            <a:r>
              <a:rPr lang="en-US" altLang="en-US" b="1" err="1"/>
              <a:t>substr</a:t>
            </a:r>
            <a:r>
              <a:rPr lang="en-US" altLang="en-US" b="1"/>
              <a:t>(</a:t>
            </a:r>
            <a:r>
              <a:rPr lang="en-US" altLang="en-US" b="1" err="1"/>
              <a:t>st_skupina</a:t>
            </a:r>
            <a:r>
              <a:rPr lang="en-US" altLang="en-US" b="1"/>
              <a:t>, 5,2) from student;</a:t>
            </a:r>
          </a:p>
          <a:p>
            <a:endParaRPr lang="sk-SK" altLang="en-US"/>
          </a:p>
          <a:p>
            <a:r>
              <a:rPr lang="en-US" altLang="en-US"/>
              <a:t>ST_SKU </a:t>
            </a:r>
            <a:r>
              <a:rPr lang="sk-SK" altLang="en-US"/>
              <a:t>		</a:t>
            </a:r>
            <a:r>
              <a:rPr lang="en-US" altLang="en-US"/>
              <a:t>SUBSTR(S</a:t>
            </a:r>
          </a:p>
          <a:p>
            <a:r>
              <a:rPr lang="en-US" altLang="en-US"/>
              <a:t>5ZI031 </a:t>
            </a:r>
            <a:r>
              <a:rPr lang="sk-SK" altLang="en-US"/>
              <a:t>			</a:t>
            </a:r>
            <a:r>
              <a:rPr lang="en-US" altLang="en-US"/>
              <a:t>31 </a:t>
            </a:r>
            <a:endParaRPr lang="sk-SK" altLang="en-US"/>
          </a:p>
          <a:p>
            <a:r>
              <a:rPr lang="en-US" altLang="en-US"/>
              <a:t>5ZP021 </a:t>
            </a:r>
            <a:r>
              <a:rPr lang="sk-SK" altLang="en-US"/>
              <a:t>		</a:t>
            </a:r>
            <a:r>
              <a:rPr lang="en-US" altLang="en-US"/>
              <a:t>21 </a:t>
            </a:r>
            <a:endParaRPr lang="sk-SK" altLang="en-US"/>
          </a:p>
          <a:p>
            <a:r>
              <a:rPr lang="en-US" altLang="en-US"/>
              <a:t>5ZI021 </a:t>
            </a:r>
            <a:r>
              <a:rPr lang="sk-SK" altLang="en-US"/>
              <a:t>			</a:t>
            </a:r>
            <a:r>
              <a:rPr lang="en-US" altLang="en-US"/>
              <a:t>21 </a:t>
            </a:r>
            <a:endParaRPr lang="sk-SK" altLang="en-US"/>
          </a:p>
          <a:p>
            <a:r>
              <a:rPr lang="en-US" altLang="en-US"/>
              <a:t>5ZI012 </a:t>
            </a:r>
            <a:r>
              <a:rPr lang="sk-SK" altLang="en-US"/>
              <a:t>			</a:t>
            </a:r>
            <a:r>
              <a:rPr lang="en-US" altLang="en-US"/>
              <a:t>12 </a:t>
            </a:r>
            <a:endParaRPr lang="sk-SK" altLang="en-US"/>
          </a:p>
          <a:p>
            <a:r>
              <a:rPr lang="en-US" altLang="en-US"/>
              <a:t>5ZM031 </a:t>
            </a:r>
            <a:r>
              <a:rPr lang="sk-SK" altLang="en-US"/>
              <a:t>		</a:t>
            </a:r>
            <a:r>
              <a:rPr lang="en-US" altLang="en-US"/>
              <a:t>31 </a:t>
            </a:r>
            <a:endParaRPr lang="sk-SK" altLang="en-US"/>
          </a:p>
          <a:p>
            <a:r>
              <a:rPr lang="en-US" altLang="en-US"/>
              <a:t>5ZI000 </a:t>
            </a:r>
            <a:r>
              <a:rPr lang="sk-SK" altLang="en-US"/>
              <a:t>			</a:t>
            </a:r>
            <a:r>
              <a:rPr lang="en-US" altLang="en-US"/>
              <a:t>00</a:t>
            </a:r>
          </a:p>
          <a:p>
            <a:r>
              <a:rPr lang="en-US" altLang="en-US"/>
              <a:t>SQL&gt; </a:t>
            </a:r>
            <a:r>
              <a:rPr lang="en-US" altLang="en-US" b="1"/>
              <a:t>select </a:t>
            </a:r>
            <a:r>
              <a:rPr lang="en-US" altLang="en-US" b="1" err="1"/>
              <a:t>st_skupina</a:t>
            </a:r>
            <a:r>
              <a:rPr lang="en-US" altLang="en-US" b="1"/>
              <a:t>, </a:t>
            </a:r>
            <a:r>
              <a:rPr lang="en-US" altLang="en-US" b="1" err="1"/>
              <a:t>substr</a:t>
            </a:r>
            <a:r>
              <a:rPr lang="en-US" altLang="en-US" b="1"/>
              <a:t>(</a:t>
            </a:r>
            <a:r>
              <a:rPr lang="en-US" altLang="en-US" b="1" err="1"/>
              <a:t>st_skupina</a:t>
            </a:r>
            <a:r>
              <a:rPr lang="en-US" altLang="en-US" b="1"/>
              <a:t>, -2) from student </a:t>
            </a:r>
            <a:endParaRPr lang="sk-SK" altLang="en-US" b="1"/>
          </a:p>
          <a:p>
            <a:r>
              <a:rPr lang="en-US" altLang="en-US"/>
              <a:t>ST_SKU </a:t>
            </a:r>
            <a:r>
              <a:rPr lang="sk-SK" altLang="en-US"/>
              <a:t>		</a:t>
            </a:r>
            <a:r>
              <a:rPr lang="en-US" altLang="en-US"/>
              <a:t>SUBSTR(S</a:t>
            </a:r>
            <a:endParaRPr lang="sk-SK" altLang="en-US"/>
          </a:p>
          <a:p>
            <a:r>
              <a:rPr lang="pl-PL" altLang="en-US"/>
              <a:t>5ZI031 				31 </a:t>
            </a:r>
          </a:p>
          <a:p>
            <a:r>
              <a:rPr lang="pl-PL" altLang="en-US"/>
              <a:t>5ZP021 			21 </a:t>
            </a:r>
          </a:p>
          <a:p>
            <a:r>
              <a:rPr lang="pl-PL" altLang="en-US"/>
              <a:t>5ZI021 				21 </a:t>
            </a:r>
          </a:p>
          <a:p>
            <a:r>
              <a:rPr lang="pl-PL" altLang="en-US"/>
              <a:t>5ZI012 				12 </a:t>
            </a:r>
          </a:p>
          <a:p>
            <a:r>
              <a:rPr lang="pl-PL" altLang="en-US"/>
              <a:t>5ZM031 			31 </a:t>
            </a:r>
          </a:p>
          <a:p>
            <a:r>
              <a:rPr lang="pl-PL" altLang="en-US"/>
              <a:t>5ZI000 				00</a:t>
            </a:r>
            <a:endParaRPr lang="en-US" altLang="en-US"/>
          </a:p>
        </p:txBody>
      </p:sp>
    </p:spTree>
    <p:extLst>
      <p:ext uri="{BB962C8B-B14F-4D97-AF65-F5344CB8AC3E}">
        <p14:creationId xmlns:p14="http://schemas.microsoft.com/office/powerpoint/2010/main" val="20050945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441350"/>
            <a:ext cx="8186738" cy="1187450"/>
          </a:xfrm>
        </p:spPr>
        <p:txBody>
          <a:bodyPr>
            <a:normAutofit fontScale="90000"/>
          </a:bodyPr>
          <a:lstStyle/>
          <a:p>
            <a:pPr algn="ctr">
              <a:defRPr/>
            </a:pPr>
            <a:r>
              <a:rPr lang="sk-SK"/>
              <a:t>Funkcie</a:t>
            </a:r>
            <a:r>
              <a:rPr lang="en-US"/>
              <a:t> </a:t>
            </a:r>
            <a:r>
              <a:rPr lang="sk-SK"/>
              <a:t> pre </a:t>
            </a:r>
            <a:r>
              <a:rPr lang="sk-SK" err="1"/>
              <a:t>reťazcové</a:t>
            </a:r>
            <a:r>
              <a:rPr lang="sk-SK"/>
              <a:t> dátové typy- LENGTH</a:t>
            </a:r>
            <a:br>
              <a:rPr lang="sk-SK"/>
            </a:br>
            <a:endParaRPr lang="en-US"/>
          </a:p>
        </p:txBody>
      </p:sp>
      <p:sp>
        <p:nvSpPr>
          <p:cNvPr id="88068" name="Obdĺžnik 3"/>
          <p:cNvSpPr>
            <a:spLocks noChangeArrowheads="1"/>
          </p:cNvSpPr>
          <p:nvPr/>
        </p:nvSpPr>
        <p:spPr bwMode="auto">
          <a:xfrm>
            <a:off x="1042988" y="3240088"/>
            <a:ext cx="7405687"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PRIEZVISKO </a:t>
            </a:r>
            <a:r>
              <a:rPr lang="sk-SK" altLang="en-US"/>
              <a:t>	</a:t>
            </a:r>
            <a:r>
              <a:rPr lang="en-US" altLang="en-US"/>
              <a:t>LENGTH(PRIEZVISKO)</a:t>
            </a:r>
            <a:endParaRPr lang="sk-SK" altLang="en-US"/>
          </a:p>
          <a:p>
            <a:endParaRPr lang="en-US" altLang="en-US"/>
          </a:p>
          <a:p>
            <a:r>
              <a:rPr lang="en-US" altLang="en-US"/>
              <a:t>Novak </a:t>
            </a:r>
            <a:r>
              <a:rPr lang="sk-SK" altLang="en-US"/>
              <a:t>			</a:t>
            </a:r>
            <a:r>
              <a:rPr lang="en-US" altLang="en-US"/>
              <a:t>5 </a:t>
            </a:r>
            <a:endParaRPr lang="sk-SK" altLang="en-US"/>
          </a:p>
          <a:p>
            <a:r>
              <a:rPr lang="en-US" altLang="en-US"/>
              <a:t>Steinmuller </a:t>
            </a:r>
            <a:r>
              <a:rPr lang="sk-SK" altLang="en-US"/>
              <a:t>		</a:t>
            </a:r>
            <a:r>
              <a:rPr lang="en-US" altLang="en-US"/>
              <a:t>11 </a:t>
            </a:r>
            <a:endParaRPr lang="sk-SK" altLang="en-US"/>
          </a:p>
          <a:p>
            <a:r>
              <a:rPr lang="en-US" altLang="en-US"/>
              <a:t>Toth </a:t>
            </a:r>
            <a:r>
              <a:rPr lang="sk-SK" altLang="en-US"/>
              <a:t>			</a:t>
            </a:r>
            <a:r>
              <a:rPr lang="en-US" altLang="en-US"/>
              <a:t>4 </a:t>
            </a:r>
            <a:endParaRPr lang="sk-SK" altLang="en-US"/>
          </a:p>
          <a:p>
            <a:r>
              <a:rPr lang="en-US" altLang="en-US"/>
              <a:t>Ratroch </a:t>
            </a:r>
            <a:r>
              <a:rPr lang="sk-SK" altLang="en-US"/>
              <a:t>		</a:t>
            </a:r>
            <a:r>
              <a:rPr lang="en-US" altLang="en-US"/>
              <a:t>7 </a:t>
            </a:r>
            <a:endParaRPr lang="sk-SK" altLang="en-US"/>
          </a:p>
          <a:p>
            <a:r>
              <a:rPr lang="en-US" altLang="en-US"/>
              <a:t>Biely </a:t>
            </a:r>
            <a:r>
              <a:rPr lang="sk-SK" altLang="en-US"/>
              <a:t>			</a:t>
            </a:r>
            <a:r>
              <a:rPr lang="en-US" altLang="en-US"/>
              <a:t>5 </a:t>
            </a:r>
            <a:endParaRPr lang="sk-SK" altLang="en-US"/>
          </a:p>
          <a:p>
            <a:r>
              <a:rPr lang="en-US" altLang="en-US"/>
              <a:t>Balaz </a:t>
            </a:r>
            <a:r>
              <a:rPr lang="sk-SK" altLang="en-US"/>
              <a:t>			</a:t>
            </a:r>
            <a:r>
              <a:rPr lang="en-US" altLang="en-US"/>
              <a:t>5 </a:t>
            </a:r>
            <a:endParaRPr lang="sk-SK" altLang="en-US"/>
          </a:p>
          <a:p>
            <a:r>
              <a:rPr lang="en-US" altLang="en-US"/>
              <a:t>Kapustný </a:t>
            </a:r>
            <a:r>
              <a:rPr lang="sk-SK" altLang="en-US"/>
              <a:t>		</a:t>
            </a:r>
            <a:r>
              <a:rPr lang="en-US" altLang="en-US"/>
              <a:t>8</a:t>
            </a:r>
          </a:p>
        </p:txBody>
      </p:sp>
      <p:sp>
        <p:nvSpPr>
          <p:cNvPr id="88069" name="Obdĺžnik 5"/>
          <p:cNvSpPr>
            <a:spLocks noChangeArrowheads="1"/>
          </p:cNvSpPr>
          <p:nvPr/>
        </p:nvSpPr>
        <p:spPr bwMode="auto">
          <a:xfrm>
            <a:off x="536575" y="1720850"/>
            <a:ext cx="81899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b="1"/>
              <a:t>LENGTH (reťazec)</a:t>
            </a:r>
          </a:p>
          <a:p>
            <a:endParaRPr lang="sk-SK" altLang="en-US" b="1"/>
          </a:p>
          <a:p>
            <a:r>
              <a:rPr lang="en-US" altLang="en-US"/>
              <a:t>SQL&gt; </a:t>
            </a:r>
            <a:r>
              <a:rPr lang="en-US" altLang="en-US" b="1"/>
              <a:t>select priezvisko , length(priezvisko) from os_udaje</a:t>
            </a:r>
            <a:r>
              <a:rPr lang="en-US" altLang="en-US"/>
              <a:t>; </a:t>
            </a:r>
          </a:p>
        </p:txBody>
      </p:sp>
    </p:spTree>
    <p:extLst>
      <p:ext uri="{BB962C8B-B14F-4D97-AF65-F5344CB8AC3E}">
        <p14:creationId xmlns:p14="http://schemas.microsoft.com/office/powerpoint/2010/main" val="21405632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23863" y="242888"/>
            <a:ext cx="8186737" cy="1189037"/>
          </a:xfrm>
        </p:spPr>
        <p:txBody>
          <a:bodyPr>
            <a:normAutofit fontScale="90000"/>
          </a:bodyPr>
          <a:lstStyle/>
          <a:p>
            <a:pPr algn="ctr">
              <a:defRPr/>
            </a:pPr>
            <a:r>
              <a:rPr lang="sk-SK"/>
              <a:t>Funkcie</a:t>
            </a:r>
            <a:r>
              <a:rPr lang="en-US"/>
              <a:t> </a:t>
            </a:r>
            <a:r>
              <a:rPr lang="sk-SK"/>
              <a:t> pre </a:t>
            </a:r>
            <a:r>
              <a:rPr lang="sk-SK" err="1"/>
              <a:t>reťazcové</a:t>
            </a:r>
            <a:r>
              <a:rPr lang="sk-SK"/>
              <a:t> dátové typy- CONCAT</a:t>
            </a:r>
            <a:br>
              <a:rPr lang="sk-SK"/>
            </a:br>
            <a:endParaRPr lang="en-US"/>
          </a:p>
        </p:txBody>
      </p:sp>
      <p:sp>
        <p:nvSpPr>
          <p:cNvPr id="89092" name="Obdĺžnik 5"/>
          <p:cNvSpPr>
            <a:spLocks noChangeArrowheads="1"/>
          </p:cNvSpPr>
          <p:nvPr/>
        </p:nvSpPr>
        <p:spPr bwMode="auto">
          <a:xfrm>
            <a:off x="496888" y="1109663"/>
            <a:ext cx="81899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b="1"/>
              <a:t>CONCAT (reťazec1, reťazec2)</a:t>
            </a:r>
          </a:p>
          <a:p>
            <a:endParaRPr lang="sk-SK" altLang="en-US" b="1"/>
          </a:p>
          <a:p>
            <a:r>
              <a:rPr lang="en-US" altLang="en-US"/>
              <a:t>SQL&gt; </a:t>
            </a:r>
            <a:r>
              <a:rPr lang="en-US" altLang="en-US" b="1"/>
              <a:t>select </a:t>
            </a:r>
            <a:r>
              <a:rPr lang="sk-SK" altLang="en-US" b="1"/>
              <a:t>concat(meno,</a:t>
            </a:r>
            <a:r>
              <a:rPr lang="en-US" altLang="en-US" b="1"/>
              <a:t>priezvisko </a:t>
            </a:r>
            <a:r>
              <a:rPr lang="sk-SK" altLang="en-US" b="1"/>
              <a:t>)</a:t>
            </a:r>
            <a:r>
              <a:rPr lang="en-US" altLang="en-US" b="1"/>
              <a:t> from os_udaje</a:t>
            </a:r>
            <a:r>
              <a:rPr lang="en-US" altLang="en-US"/>
              <a:t>; </a:t>
            </a:r>
          </a:p>
        </p:txBody>
      </p:sp>
      <p:sp>
        <p:nvSpPr>
          <p:cNvPr id="89093" name="Obdĺžnik 2"/>
          <p:cNvSpPr>
            <a:spLocks noChangeArrowheads="1"/>
          </p:cNvSpPr>
          <p:nvPr/>
        </p:nvSpPr>
        <p:spPr bwMode="auto">
          <a:xfrm>
            <a:off x="1358900" y="2187575"/>
            <a:ext cx="6718300"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CONCAT(MENO,PRIEZVISKO)</a:t>
            </a:r>
          </a:p>
          <a:p>
            <a:r>
              <a:rPr lang="en-US" altLang="en-US" err="1"/>
              <a:t>PeterNovak</a:t>
            </a:r>
            <a:endParaRPr lang="en-US" altLang="en-US"/>
          </a:p>
          <a:p>
            <a:r>
              <a:rPr lang="en-US" altLang="en-US" err="1"/>
              <a:t>StanislavSteinmuller</a:t>
            </a:r>
            <a:endParaRPr lang="en-US" altLang="en-US"/>
          </a:p>
          <a:p>
            <a:r>
              <a:rPr lang="en-US" altLang="en-US" err="1"/>
              <a:t>JanosToth</a:t>
            </a:r>
            <a:endParaRPr lang="en-US" altLang="en-US"/>
          </a:p>
          <a:p>
            <a:r>
              <a:rPr lang="en-US" altLang="en-US" err="1"/>
              <a:t>MarekRatroch</a:t>
            </a:r>
            <a:endParaRPr lang="en-US" altLang="en-US"/>
          </a:p>
          <a:p>
            <a:r>
              <a:rPr lang="en-US" altLang="en-US" err="1"/>
              <a:t>BohuslavBiely</a:t>
            </a:r>
            <a:endParaRPr lang="en-US" altLang="en-US"/>
          </a:p>
          <a:p>
            <a:r>
              <a:rPr lang="en-US" altLang="en-US" err="1"/>
              <a:t>BranislavBalaz</a:t>
            </a:r>
            <a:endParaRPr lang="en-US" altLang="en-US"/>
          </a:p>
          <a:p>
            <a:r>
              <a:rPr lang="en-US" altLang="en-US" err="1"/>
              <a:t>PeterKapustny</a:t>
            </a:r>
            <a:endParaRPr lang="en-US" altLang="en-US"/>
          </a:p>
          <a:p>
            <a:r>
              <a:rPr lang="en-US" altLang="en-US" err="1"/>
              <a:t>MarekDurica</a:t>
            </a:r>
            <a:endParaRPr lang="en-US" altLang="en-US"/>
          </a:p>
          <a:p>
            <a:r>
              <a:rPr lang="en-US" altLang="en-US" err="1"/>
              <a:t>MartinKluciar</a:t>
            </a:r>
            <a:endParaRPr lang="en-US" altLang="en-US"/>
          </a:p>
          <a:p>
            <a:r>
              <a:rPr lang="en-US" altLang="en-US" err="1"/>
              <a:t>LukasSatrapa</a:t>
            </a:r>
            <a:endParaRPr lang="en-US" altLang="en-US"/>
          </a:p>
          <a:p>
            <a:r>
              <a:rPr lang="en-US" altLang="en-US" err="1"/>
              <a:t>JanKrnac</a:t>
            </a:r>
            <a:endParaRPr lang="en-US" altLang="en-US"/>
          </a:p>
          <a:p>
            <a:r>
              <a:rPr lang="en-US" altLang="en-US" err="1"/>
              <a:t>JurajPapun</a:t>
            </a:r>
            <a:endParaRPr lang="en-US" altLang="en-US"/>
          </a:p>
        </p:txBody>
      </p:sp>
    </p:spTree>
    <p:extLst>
      <p:ext uri="{BB962C8B-B14F-4D97-AF65-F5344CB8AC3E}">
        <p14:creationId xmlns:p14="http://schemas.microsoft.com/office/powerpoint/2010/main" val="27983788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23863" y="242889"/>
            <a:ext cx="8186737" cy="1169888"/>
          </a:xfrm>
        </p:spPr>
        <p:txBody>
          <a:bodyPr>
            <a:normAutofit fontScale="90000"/>
          </a:bodyPr>
          <a:lstStyle/>
          <a:p>
            <a:pPr algn="ctr">
              <a:defRPr/>
            </a:pPr>
            <a:r>
              <a:rPr lang="sk-SK" sz="4000"/>
              <a:t>Funkcie</a:t>
            </a:r>
            <a:r>
              <a:rPr lang="en-US" sz="4000"/>
              <a:t> </a:t>
            </a:r>
            <a:r>
              <a:rPr lang="sk-SK" sz="4000"/>
              <a:t> pre </a:t>
            </a:r>
            <a:r>
              <a:rPr lang="sk-SK" sz="4000" err="1"/>
              <a:t>reťazcové</a:t>
            </a:r>
            <a:r>
              <a:rPr lang="sk-SK" sz="4000"/>
              <a:t> dátové typy- CONCAT</a:t>
            </a:r>
            <a:br>
              <a:rPr lang="sk-SK"/>
            </a:br>
            <a:endParaRPr lang="en-US"/>
          </a:p>
        </p:txBody>
      </p:sp>
      <p:sp>
        <p:nvSpPr>
          <p:cNvPr id="90116" name="Obdĺžnik 5"/>
          <p:cNvSpPr>
            <a:spLocks noChangeArrowheads="1"/>
          </p:cNvSpPr>
          <p:nvPr/>
        </p:nvSpPr>
        <p:spPr bwMode="auto">
          <a:xfrm>
            <a:off x="420688" y="923925"/>
            <a:ext cx="8189912"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b="1"/>
              <a:t>CONCAT (reťazec1, reťazec2)</a:t>
            </a:r>
          </a:p>
          <a:p>
            <a:endParaRPr lang="sk-SK" altLang="en-US" b="1"/>
          </a:p>
          <a:p>
            <a:r>
              <a:rPr lang="en-US" altLang="en-US"/>
              <a:t>SQL&gt; </a:t>
            </a:r>
            <a:r>
              <a:rPr lang="en-US" altLang="en-US" b="1"/>
              <a:t>select </a:t>
            </a:r>
            <a:r>
              <a:rPr lang="sk-SK" altLang="en-US" b="1" err="1"/>
              <a:t>concat</a:t>
            </a:r>
            <a:r>
              <a:rPr lang="sk-SK" altLang="en-US" b="1"/>
              <a:t>(</a:t>
            </a:r>
            <a:r>
              <a:rPr lang="sk-SK" altLang="en-US" b="1" err="1"/>
              <a:t>concat</a:t>
            </a:r>
            <a:r>
              <a:rPr lang="sk-SK" altLang="en-US" b="1"/>
              <a:t>(meno,</a:t>
            </a:r>
            <a:r>
              <a:rPr lang="en-US" altLang="en-US" b="1"/>
              <a:t>’ ’</a:t>
            </a:r>
            <a:r>
              <a:rPr lang="sk-SK" altLang="en-US" b="1"/>
              <a:t>),</a:t>
            </a:r>
            <a:r>
              <a:rPr lang="en-US" altLang="en-US" b="1" err="1"/>
              <a:t>priezvisko</a:t>
            </a:r>
            <a:r>
              <a:rPr lang="en-US" altLang="en-US" b="1"/>
              <a:t> </a:t>
            </a:r>
            <a:r>
              <a:rPr lang="sk-SK" altLang="en-US" b="1"/>
              <a:t>)</a:t>
            </a:r>
            <a:r>
              <a:rPr lang="en-US" altLang="en-US" b="1"/>
              <a:t> </a:t>
            </a:r>
            <a:r>
              <a:rPr lang="sk-SK" altLang="en-US" b="1"/>
              <a:t>as </a:t>
            </a:r>
            <a:r>
              <a:rPr lang="sk-SK" altLang="en-US" b="1" err="1"/>
              <a:t>cele_meno</a:t>
            </a:r>
            <a:r>
              <a:rPr lang="sk-SK" altLang="en-US" b="1"/>
              <a:t> 	</a:t>
            </a:r>
            <a:r>
              <a:rPr lang="en-US" altLang="en-US" b="1"/>
              <a:t>from </a:t>
            </a:r>
            <a:r>
              <a:rPr lang="en-US" altLang="en-US" b="1" err="1"/>
              <a:t>os_udaje</a:t>
            </a:r>
            <a:r>
              <a:rPr lang="en-US" altLang="en-US"/>
              <a:t>; </a:t>
            </a:r>
          </a:p>
        </p:txBody>
      </p:sp>
      <p:sp>
        <p:nvSpPr>
          <p:cNvPr id="90117" name="Obdĺžnik 6"/>
          <p:cNvSpPr>
            <a:spLocks noChangeArrowheads="1"/>
          </p:cNvSpPr>
          <p:nvPr/>
        </p:nvSpPr>
        <p:spPr bwMode="auto">
          <a:xfrm>
            <a:off x="625475" y="2154238"/>
            <a:ext cx="5815013"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a:t>CELE_MENO</a:t>
            </a:r>
          </a:p>
          <a:p>
            <a:endParaRPr lang="sk-SK" altLang="en-US"/>
          </a:p>
          <a:p>
            <a:r>
              <a:rPr lang="en-US" altLang="en-US" sz="1800"/>
              <a:t>Peter Novák </a:t>
            </a:r>
            <a:endParaRPr lang="sk-SK" altLang="en-US" sz="1800"/>
          </a:p>
          <a:p>
            <a:r>
              <a:rPr lang="sk-SK" altLang="en-US" sz="1800"/>
              <a:t>S</a:t>
            </a:r>
            <a:r>
              <a:rPr lang="en-US" altLang="en-US" sz="1800"/>
              <a:t>tanislav Steinmuller </a:t>
            </a:r>
            <a:endParaRPr lang="sk-SK" altLang="en-US" sz="1800"/>
          </a:p>
          <a:p>
            <a:r>
              <a:rPr lang="en-US" altLang="en-US" sz="1800"/>
              <a:t>Janos Toth </a:t>
            </a:r>
            <a:endParaRPr lang="sk-SK" altLang="en-US" sz="1800"/>
          </a:p>
          <a:p>
            <a:r>
              <a:rPr lang="en-US" altLang="en-US" sz="1800"/>
              <a:t>Marek Ratroch </a:t>
            </a:r>
            <a:endParaRPr lang="sk-SK" altLang="en-US" sz="1800"/>
          </a:p>
          <a:p>
            <a:r>
              <a:rPr lang="en-US" altLang="en-US" sz="1800"/>
              <a:t>Bohuslav Biely </a:t>
            </a:r>
            <a:endParaRPr lang="sk-SK" altLang="en-US" sz="1800"/>
          </a:p>
          <a:p>
            <a:r>
              <a:rPr lang="en-US" altLang="en-US" sz="1800"/>
              <a:t>Branislav Balaz </a:t>
            </a:r>
            <a:endParaRPr lang="sk-SK" altLang="en-US" sz="1800"/>
          </a:p>
          <a:p>
            <a:r>
              <a:rPr lang="en-US" altLang="en-US" sz="1800"/>
              <a:t>Peter Kapustný </a:t>
            </a:r>
            <a:endParaRPr lang="sk-SK" altLang="en-US" sz="1800"/>
          </a:p>
          <a:p>
            <a:r>
              <a:rPr lang="en-US" altLang="en-US" sz="1800"/>
              <a:t>Marek Durica </a:t>
            </a:r>
            <a:endParaRPr lang="sk-SK" altLang="en-US" sz="1800"/>
          </a:p>
          <a:p>
            <a:r>
              <a:rPr lang="en-US" altLang="en-US" sz="1800"/>
              <a:t>Martin Kluciar </a:t>
            </a:r>
            <a:endParaRPr lang="sk-SK" altLang="en-US" sz="1800"/>
          </a:p>
          <a:p>
            <a:r>
              <a:rPr lang="en-US" altLang="en-US" sz="1800"/>
              <a:t>Lukas Satrapa </a:t>
            </a:r>
            <a:endParaRPr lang="sk-SK" altLang="en-US" sz="1800"/>
          </a:p>
          <a:p>
            <a:r>
              <a:rPr lang="sk-SK" altLang="en-US" sz="1800"/>
              <a:t>J</a:t>
            </a:r>
            <a:r>
              <a:rPr lang="en-US" altLang="en-US" sz="1800"/>
              <a:t>n Krnac </a:t>
            </a:r>
            <a:endParaRPr lang="sk-SK" altLang="en-US" sz="1800"/>
          </a:p>
          <a:p>
            <a:r>
              <a:rPr lang="en-US" altLang="en-US" sz="1800"/>
              <a:t>Juraj Papun</a:t>
            </a:r>
          </a:p>
        </p:txBody>
      </p:sp>
    </p:spTree>
    <p:extLst>
      <p:ext uri="{BB962C8B-B14F-4D97-AF65-F5344CB8AC3E}">
        <p14:creationId xmlns:p14="http://schemas.microsoft.com/office/powerpoint/2010/main" val="6305886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23863" y="242888"/>
            <a:ext cx="8186737" cy="1189037"/>
          </a:xfrm>
        </p:spPr>
        <p:txBody>
          <a:bodyPr>
            <a:normAutofit fontScale="90000"/>
          </a:bodyPr>
          <a:lstStyle/>
          <a:p>
            <a:pPr algn="ctr">
              <a:defRPr/>
            </a:pPr>
            <a:r>
              <a:rPr lang="sk-SK" sz="3600"/>
              <a:t>Funkcie</a:t>
            </a:r>
            <a:r>
              <a:rPr lang="en-US" sz="3600"/>
              <a:t> </a:t>
            </a:r>
            <a:r>
              <a:rPr lang="sk-SK" sz="3600"/>
              <a:t> pre </a:t>
            </a:r>
            <a:r>
              <a:rPr lang="sk-SK" sz="3600" err="1"/>
              <a:t>reťazcové</a:t>
            </a:r>
            <a:r>
              <a:rPr lang="sk-SK" sz="3600"/>
              <a:t> dátové typy-</a:t>
            </a:r>
            <a:r>
              <a:rPr lang="en-US" sz="3600" err="1"/>
              <a:t>sp</a:t>
            </a:r>
            <a:r>
              <a:rPr lang="sk-SK" sz="3600" err="1"/>
              <a:t>ájanie</a:t>
            </a:r>
            <a:r>
              <a:rPr lang="sk-SK" sz="3600"/>
              <a:t> s operátorom </a:t>
            </a:r>
            <a:r>
              <a:rPr lang="en-US" sz="3600"/>
              <a:t>||</a:t>
            </a:r>
            <a:br>
              <a:rPr lang="sk-SK"/>
            </a:br>
            <a:endParaRPr lang="en-US"/>
          </a:p>
        </p:txBody>
      </p:sp>
      <p:sp>
        <p:nvSpPr>
          <p:cNvPr id="91140" name="Obdĺžnik 5"/>
          <p:cNvSpPr>
            <a:spLocks noChangeArrowheads="1"/>
          </p:cNvSpPr>
          <p:nvPr/>
        </p:nvSpPr>
        <p:spPr bwMode="auto">
          <a:xfrm>
            <a:off x="420688" y="980728"/>
            <a:ext cx="8189912"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b="1"/>
              <a:t>Reťazce môžeme spájať </a:t>
            </a:r>
            <a:r>
              <a:rPr lang="sk-SK" altLang="en-US" b="1" err="1"/>
              <a:t>pomocopu</a:t>
            </a:r>
            <a:r>
              <a:rPr lang="sk-SK" altLang="en-US" b="1"/>
              <a:t> operátora </a:t>
            </a:r>
            <a:r>
              <a:rPr lang="en-US" altLang="en-US"/>
              <a:t>||</a:t>
            </a:r>
            <a:r>
              <a:rPr lang="sk-SK" altLang="en-US" b="1"/>
              <a:t> </a:t>
            </a:r>
            <a:r>
              <a:rPr lang="en-US" altLang="en-US" b="1">
                <a:solidFill>
                  <a:srgbClr val="C00000"/>
                </a:solidFill>
              </a:rPr>
              <a:t>r</a:t>
            </a:r>
            <a:r>
              <a:rPr lang="sk-SK" altLang="en-US" b="1">
                <a:solidFill>
                  <a:srgbClr val="C00000"/>
                </a:solidFill>
              </a:rPr>
              <a:t>eťazec1</a:t>
            </a:r>
            <a:r>
              <a:rPr lang="en-US" altLang="en-US" b="1">
                <a:solidFill>
                  <a:srgbClr val="C00000"/>
                </a:solidFill>
              </a:rPr>
              <a:t>||</a:t>
            </a:r>
            <a:r>
              <a:rPr lang="sk-SK" altLang="en-US" b="1">
                <a:solidFill>
                  <a:srgbClr val="C00000"/>
                </a:solidFill>
              </a:rPr>
              <a:t>reťazec2</a:t>
            </a:r>
            <a:r>
              <a:rPr lang="en-US" altLang="en-US" b="1">
                <a:solidFill>
                  <a:srgbClr val="C00000"/>
                </a:solidFill>
              </a:rPr>
              <a:t> [||</a:t>
            </a:r>
            <a:r>
              <a:rPr lang="sk-SK" altLang="en-US" b="1">
                <a:solidFill>
                  <a:srgbClr val="C00000"/>
                </a:solidFill>
              </a:rPr>
              <a:t>reťazec</a:t>
            </a:r>
            <a:r>
              <a:rPr lang="en-US" altLang="en-US" b="1">
                <a:solidFill>
                  <a:srgbClr val="C00000"/>
                </a:solidFill>
              </a:rPr>
              <a:t>3…]</a:t>
            </a:r>
            <a:endParaRPr lang="sk-SK" altLang="en-US">
              <a:solidFill>
                <a:srgbClr val="C00000"/>
              </a:solidFill>
            </a:endParaRPr>
          </a:p>
          <a:p>
            <a:endParaRPr lang="sk-SK" altLang="en-US" b="1"/>
          </a:p>
          <a:p>
            <a:r>
              <a:rPr lang="en-US" altLang="en-US"/>
              <a:t>SQL&gt; </a:t>
            </a:r>
            <a:r>
              <a:rPr lang="en-US" altLang="en-US" b="1"/>
              <a:t>select </a:t>
            </a:r>
            <a:r>
              <a:rPr lang="sk-SK" altLang="en-US" b="1"/>
              <a:t>meno</a:t>
            </a:r>
            <a:r>
              <a:rPr lang="en-US" altLang="en-US" b="1"/>
              <a:t>||</a:t>
            </a:r>
            <a:r>
              <a:rPr lang="sk-SK" altLang="en-US" b="1"/>
              <a:t>´ ´</a:t>
            </a:r>
            <a:r>
              <a:rPr lang="en-US" altLang="en-US" b="1"/>
              <a:t>||</a:t>
            </a:r>
            <a:r>
              <a:rPr lang="en-US" altLang="en-US" b="1" err="1"/>
              <a:t>priezvisko</a:t>
            </a:r>
            <a:r>
              <a:rPr lang="en-US" altLang="en-US" b="1"/>
              <a:t>  </a:t>
            </a:r>
            <a:r>
              <a:rPr lang="sk-SK" altLang="en-US" b="1"/>
              <a:t>as </a:t>
            </a:r>
            <a:r>
              <a:rPr lang="sk-SK" altLang="en-US" b="1" err="1"/>
              <a:t>cele_meno</a:t>
            </a:r>
            <a:r>
              <a:rPr lang="sk-SK" altLang="en-US" b="1"/>
              <a:t> 	</a:t>
            </a:r>
          </a:p>
          <a:p>
            <a:r>
              <a:rPr lang="sk-SK" altLang="en-US" b="1"/>
              <a:t>            </a:t>
            </a:r>
            <a:r>
              <a:rPr lang="en-US" altLang="en-US" b="1"/>
              <a:t>from </a:t>
            </a:r>
            <a:r>
              <a:rPr lang="en-US" altLang="en-US" b="1" err="1"/>
              <a:t>os_udaje</a:t>
            </a:r>
            <a:r>
              <a:rPr lang="en-US" altLang="en-US"/>
              <a:t>; </a:t>
            </a:r>
          </a:p>
        </p:txBody>
      </p:sp>
      <p:sp>
        <p:nvSpPr>
          <p:cNvPr id="91141" name="Obdĺžnik 6"/>
          <p:cNvSpPr>
            <a:spLocks noChangeArrowheads="1"/>
          </p:cNvSpPr>
          <p:nvPr/>
        </p:nvSpPr>
        <p:spPr bwMode="auto">
          <a:xfrm>
            <a:off x="804863" y="2751138"/>
            <a:ext cx="5815012" cy="264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a:t>CELE_MENO</a:t>
            </a:r>
          </a:p>
          <a:p>
            <a:endParaRPr lang="sk-SK" altLang="en-US"/>
          </a:p>
          <a:p>
            <a:r>
              <a:rPr lang="en-US" altLang="en-US" sz="1800"/>
              <a:t>Peter Novák </a:t>
            </a:r>
            <a:endParaRPr lang="sk-SK" altLang="en-US" sz="1800"/>
          </a:p>
          <a:p>
            <a:r>
              <a:rPr lang="sk-SK" altLang="en-US" sz="1800"/>
              <a:t>S</a:t>
            </a:r>
            <a:r>
              <a:rPr lang="en-US" altLang="en-US" sz="1800"/>
              <a:t>tanislav Steinmuller </a:t>
            </a:r>
            <a:endParaRPr lang="sk-SK" altLang="en-US" sz="1800"/>
          </a:p>
          <a:p>
            <a:r>
              <a:rPr lang="en-US" altLang="en-US" sz="1800"/>
              <a:t>Janos Toth </a:t>
            </a:r>
            <a:endParaRPr lang="sk-SK" altLang="en-US" sz="1800"/>
          </a:p>
          <a:p>
            <a:r>
              <a:rPr lang="en-US" altLang="en-US" sz="1800"/>
              <a:t>…</a:t>
            </a:r>
            <a:endParaRPr lang="sk-SK" altLang="en-US" sz="1800"/>
          </a:p>
          <a:p>
            <a:r>
              <a:rPr lang="en-US" altLang="en-US" sz="1800"/>
              <a:t>Lukas Satrapa </a:t>
            </a:r>
            <a:endParaRPr lang="sk-SK" altLang="en-US" sz="1800"/>
          </a:p>
          <a:p>
            <a:r>
              <a:rPr lang="sk-SK" altLang="en-US" sz="1800"/>
              <a:t>J</a:t>
            </a:r>
            <a:r>
              <a:rPr lang="en-US" altLang="en-US" sz="1800"/>
              <a:t>n Krnac </a:t>
            </a:r>
            <a:endParaRPr lang="sk-SK" altLang="en-US" sz="1800"/>
          </a:p>
          <a:p>
            <a:r>
              <a:rPr lang="en-US" altLang="en-US" sz="1800"/>
              <a:t>Juraj Papun</a:t>
            </a:r>
          </a:p>
        </p:txBody>
      </p:sp>
    </p:spTree>
    <p:extLst>
      <p:ext uri="{BB962C8B-B14F-4D97-AF65-F5344CB8AC3E}">
        <p14:creationId xmlns:p14="http://schemas.microsoft.com/office/powerpoint/2010/main" val="29459973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23863" y="242888"/>
            <a:ext cx="8186737" cy="1189037"/>
          </a:xfrm>
        </p:spPr>
        <p:txBody>
          <a:bodyPr>
            <a:normAutofit fontScale="90000"/>
          </a:bodyPr>
          <a:lstStyle/>
          <a:p>
            <a:pPr algn="ctr">
              <a:defRPr/>
            </a:pPr>
            <a:r>
              <a:rPr lang="sk-SK"/>
              <a:t>Funkcie</a:t>
            </a:r>
            <a:r>
              <a:rPr lang="en-US"/>
              <a:t> </a:t>
            </a:r>
            <a:r>
              <a:rPr lang="sk-SK"/>
              <a:t> pre </a:t>
            </a:r>
            <a:r>
              <a:rPr lang="sk-SK" err="1"/>
              <a:t>reťazcové</a:t>
            </a:r>
            <a:r>
              <a:rPr lang="sk-SK"/>
              <a:t> dátové typy-</a:t>
            </a:r>
            <a:r>
              <a:rPr lang="en-US"/>
              <a:t>UPPER</a:t>
            </a:r>
            <a:br>
              <a:rPr lang="sk-SK"/>
            </a:br>
            <a:endParaRPr lang="en-US"/>
          </a:p>
        </p:txBody>
      </p:sp>
      <p:sp>
        <p:nvSpPr>
          <p:cNvPr id="92164" name="Obdĺžnik 5"/>
          <p:cNvSpPr>
            <a:spLocks noChangeArrowheads="1"/>
          </p:cNvSpPr>
          <p:nvPr/>
        </p:nvSpPr>
        <p:spPr bwMode="auto">
          <a:xfrm>
            <a:off x="420688" y="923925"/>
            <a:ext cx="8189912"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b="1"/>
              <a:t>UPPER(</a:t>
            </a:r>
            <a:r>
              <a:rPr lang="sk-SK" altLang="en-US" b="1"/>
              <a:t>reťazec</a:t>
            </a:r>
            <a:r>
              <a:rPr lang="en-US" altLang="en-US" b="1"/>
              <a:t>)</a:t>
            </a:r>
            <a:endParaRPr lang="sk-SK" altLang="en-US" b="1"/>
          </a:p>
          <a:p>
            <a:endParaRPr lang="sk-SK" altLang="en-US" b="1"/>
          </a:p>
          <a:p>
            <a:r>
              <a:rPr lang="en-US" altLang="en-US"/>
              <a:t>SQL&gt; </a:t>
            </a:r>
            <a:r>
              <a:rPr lang="en-US" altLang="en-US" b="1"/>
              <a:t>select priezvisko </a:t>
            </a:r>
            <a:r>
              <a:rPr lang="sk-SK" altLang="en-US" b="1"/>
              <a:t>, UPPER(priezvisko)</a:t>
            </a:r>
            <a:r>
              <a:rPr lang="en-US" altLang="en-US" b="1"/>
              <a:t> </a:t>
            </a:r>
            <a:r>
              <a:rPr lang="sk-SK" altLang="en-US" b="1"/>
              <a:t>	</a:t>
            </a:r>
            <a:r>
              <a:rPr lang="en-US" altLang="en-US" b="1"/>
              <a:t>from os_udaje</a:t>
            </a:r>
            <a:r>
              <a:rPr lang="en-US" altLang="en-US"/>
              <a:t>; </a:t>
            </a:r>
          </a:p>
        </p:txBody>
      </p:sp>
      <p:sp>
        <p:nvSpPr>
          <p:cNvPr id="92165" name="Obdĺžnik 2"/>
          <p:cNvSpPr>
            <a:spLocks noChangeArrowheads="1"/>
          </p:cNvSpPr>
          <p:nvPr/>
        </p:nvSpPr>
        <p:spPr bwMode="auto">
          <a:xfrm>
            <a:off x="844550" y="2486025"/>
            <a:ext cx="4572000"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PRIEZVISKO UPPER(PRIEZVISK</a:t>
            </a:r>
            <a:endParaRPr lang="sk-SK" altLang="en-US"/>
          </a:p>
          <a:p>
            <a:endParaRPr lang="en-US" altLang="en-US"/>
          </a:p>
          <a:p>
            <a:r>
              <a:rPr lang="en-US" altLang="en-US"/>
              <a:t>Novák</a:t>
            </a:r>
            <a:r>
              <a:rPr lang="sk-SK" altLang="en-US"/>
              <a:t>		</a:t>
            </a:r>
            <a:r>
              <a:rPr lang="en-US" altLang="en-US"/>
              <a:t>NOVÁK</a:t>
            </a:r>
          </a:p>
          <a:p>
            <a:r>
              <a:rPr lang="sk-SK" altLang="en-US"/>
              <a:t>S</a:t>
            </a:r>
            <a:r>
              <a:rPr lang="en-US" altLang="en-US"/>
              <a:t>teinmuller</a:t>
            </a:r>
            <a:r>
              <a:rPr lang="sk-SK" altLang="en-US"/>
              <a:t>	</a:t>
            </a:r>
            <a:r>
              <a:rPr lang="en-US" altLang="en-US"/>
              <a:t>STEINMULLER</a:t>
            </a:r>
          </a:p>
          <a:p>
            <a:r>
              <a:rPr lang="en-US" altLang="en-US"/>
              <a:t>Toth</a:t>
            </a:r>
            <a:r>
              <a:rPr lang="sk-SK" altLang="en-US"/>
              <a:t>		</a:t>
            </a:r>
            <a:r>
              <a:rPr lang="en-US" altLang="en-US"/>
              <a:t>TOTH</a:t>
            </a:r>
          </a:p>
          <a:p>
            <a:r>
              <a:rPr lang="en-US" altLang="en-US"/>
              <a:t>Ratroch</a:t>
            </a:r>
            <a:r>
              <a:rPr lang="sk-SK" altLang="en-US"/>
              <a:t>		</a:t>
            </a:r>
            <a:r>
              <a:rPr lang="en-US" altLang="en-US"/>
              <a:t>RATROCH</a:t>
            </a:r>
          </a:p>
          <a:p>
            <a:r>
              <a:rPr lang="en-US" altLang="en-US"/>
              <a:t>Biely</a:t>
            </a:r>
            <a:r>
              <a:rPr lang="sk-SK" altLang="en-US"/>
              <a:t>		</a:t>
            </a:r>
            <a:r>
              <a:rPr lang="en-US" altLang="en-US"/>
              <a:t>BIELY</a:t>
            </a:r>
          </a:p>
          <a:p>
            <a:r>
              <a:rPr lang="en-US" altLang="en-US"/>
              <a:t>Balaz</a:t>
            </a:r>
            <a:r>
              <a:rPr lang="sk-SK" altLang="en-US"/>
              <a:t>		</a:t>
            </a:r>
            <a:r>
              <a:rPr lang="en-US" altLang="en-US"/>
              <a:t>BALAZ</a:t>
            </a:r>
          </a:p>
          <a:p>
            <a:r>
              <a:rPr lang="en-US" altLang="en-US"/>
              <a:t>Kapustný</a:t>
            </a:r>
            <a:r>
              <a:rPr lang="sk-SK" altLang="en-US"/>
              <a:t>	</a:t>
            </a:r>
            <a:r>
              <a:rPr lang="en-US" altLang="en-US"/>
              <a:t>KAPUSTNÝ</a:t>
            </a:r>
          </a:p>
          <a:p>
            <a:r>
              <a:rPr lang="sk-SK" altLang="en-US"/>
              <a:t>...</a:t>
            </a:r>
            <a:endParaRPr lang="en-US" altLang="en-US"/>
          </a:p>
          <a:p>
            <a:endParaRPr lang="en-US" altLang="en-US"/>
          </a:p>
        </p:txBody>
      </p:sp>
    </p:spTree>
    <p:extLst>
      <p:ext uri="{BB962C8B-B14F-4D97-AF65-F5344CB8AC3E}">
        <p14:creationId xmlns:p14="http://schemas.microsoft.com/office/powerpoint/2010/main" val="28141829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23863" y="242888"/>
            <a:ext cx="8186737" cy="1189037"/>
          </a:xfrm>
        </p:spPr>
        <p:txBody>
          <a:bodyPr>
            <a:normAutofit fontScale="90000"/>
          </a:bodyPr>
          <a:lstStyle/>
          <a:p>
            <a:pPr algn="ctr">
              <a:defRPr/>
            </a:pPr>
            <a:r>
              <a:rPr lang="sk-SK"/>
              <a:t>Funkcie</a:t>
            </a:r>
            <a:r>
              <a:rPr lang="en-US"/>
              <a:t> </a:t>
            </a:r>
            <a:r>
              <a:rPr lang="sk-SK"/>
              <a:t> pre </a:t>
            </a:r>
            <a:r>
              <a:rPr lang="sk-SK" err="1"/>
              <a:t>reťazcové</a:t>
            </a:r>
            <a:r>
              <a:rPr lang="sk-SK"/>
              <a:t> dátové typy-LOWER</a:t>
            </a:r>
            <a:br>
              <a:rPr lang="sk-SK"/>
            </a:br>
            <a:endParaRPr lang="en-US"/>
          </a:p>
        </p:txBody>
      </p:sp>
      <p:sp>
        <p:nvSpPr>
          <p:cNvPr id="93188" name="Obdĺžnik 5"/>
          <p:cNvSpPr>
            <a:spLocks noChangeArrowheads="1"/>
          </p:cNvSpPr>
          <p:nvPr/>
        </p:nvSpPr>
        <p:spPr bwMode="auto">
          <a:xfrm>
            <a:off x="420688" y="923925"/>
            <a:ext cx="8189912"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sk-SK" altLang="en-US" b="1"/>
              <a:t>LOWER</a:t>
            </a:r>
            <a:r>
              <a:rPr lang="en-US" altLang="en-US" b="1"/>
              <a:t>(</a:t>
            </a:r>
            <a:r>
              <a:rPr lang="sk-SK" altLang="en-US" b="1"/>
              <a:t>reťazec</a:t>
            </a:r>
            <a:r>
              <a:rPr lang="en-US" altLang="en-US" b="1"/>
              <a:t>)</a:t>
            </a:r>
            <a:endParaRPr lang="sk-SK" altLang="en-US" b="1"/>
          </a:p>
          <a:p>
            <a:endParaRPr lang="sk-SK" altLang="en-US" b="1"/>
          </a:p>
          <a:p>
            <a:r>
              <a:rPr lang="en-US" altLang="en-US"/>
              <a:t>SQL&gt; </a:t>
            </a:r>
            <a:r>
              <a:rPr lang="en-US" altLang="en-US" b="1"/>
              <a:t>select priezvisko </a:t>
            </a:r>
            <a:r>
              <a:rPr lang="sk-SK" altLang="en-US" b="1"/>
              <a:t>, LOWER(priezvisko)</a:t>
            </a:r>
            <a:r>
              <a:rPr lang="en-US" altLang="en-US" b="1"/>
              <a:t> </a:t>
            </a:r>
            <a:r>
              <a:rPr lang="sk-SK" altLang="en-US" b="1"/>
              <a:t>	</a:t>
            </a:r>
            <a:r>
              <a:rPr lang="en-US" altLang="en-US" b="1"/>
              <a:t>from os_udaje</a:t>
            </a:r>
            <a:r>
              <a:rPr lang="en-US" altLang="en-US"/>
              <a:t>; </a:t>
            </a:r>
          </a:p>
        </p:txBody>
      </p:sp>
      <p:sp>
        <p:nvSpPr>
          <p:cNvPr id="93189" name="Obdĺžnik 2"/>
          <p:cNvSpPr>
            <a:spLocks noChangeArrowheads="1"/>
          </p:cNvSpPr>
          <p:nvPr/>
        </p:nvSpPr>
        <p:spPr bwMode="auto">
          <a:xfrm>
            <a:off x="844550" y="2486025"/>
            <a:ext cx="457200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t>PRIEZVISKO </a:t>
            </a:r>
            <a:r>
              <a:rPr lang="sk-SK" altLang="en-US"/>
              <a:t>	LOWER</a:t>
            </a:r>
            <a:r>
              <a:rPr lang="en-US" altLang="en-US"/>
              <a:t>(PRIEZVISK</a:t>
            </a:r>
            <a:endParaRPr lang="sk-SK" altLang="en-US"/>
          </a:p>
          <a:p>
            <a:endParaRPr lang="en-US" altLang="en-US"/>
          </a:p>
          <a:p>
            <a:r>
              <a:rPr lang="en-US" altLang="en-US"/>
              <a:t>Novák</a:t>
            </a:r>
            <a:r>
              <a:rPr lang="sk-SK" altLang="en-US"/>
              <a:t>		novák</a:t>
            </a:r>
            <a:endParaRPr lang="en-US" altLang="en-US"/>
          </a:p>
          <a:p>
            <a:r>
              <a:rPr lang="sk-SK" altLang="en-US"/>
              <a:t>S</a:t>
            </a:r>
            <a:r>
              <a:rPr lang="en-US" altLang="en-US"/>
              <a:t>teinmuller</a:t>
            </a:r>
            <a:r>
              <a:rPr lang="sk-SK" altLang="en-US"/>
              <a:t>	s</a:t>
            </a:r>
            <a:r>
              <a:rPr lang="en-US" altLang="en-US"/>
              <a:t>teinmuller </a:t>
            </a:r>
            <a:endParaRPr lang="sk-SK" altLang="en-US"/>
          </a:p>
          <a:p>
            <a:r>
              <a:rPr lang="en-US" altLang="en-US"/>
              <a:t>Toth</a:t>
            </a:r>
            <a:r>
              <a:rPr lang="sk-SK" altLang="en-US"/>
              <a:t>		toth</a:t>
            </a:r>
            <a:endParaRPr lang="en-US" altLang="en-US"/>
          </a:p>
          <a:p>
            <a:r>
              <a:rPr lang="en-US" altLang="en-US"/>
              <a:t>Ratroch</a:t>
            </a:r>
            <a:r>
              <a:rPr lang="sk-SK" altLang="en-US"/>
              <a:t>		ratroch</a:t>
            </a:r>
            <a:endParaRPr lang="en-US" altLang="en-US"/>
          </a:p>
          <a:p>
            <a:r>
              <a:rPr lang="en-US" altLang="en-US"/>
              <a:t>Biely</a:t>
            </a:r>
            <a:r>
              <a:rPr lang="sk-SK" altLang="en-US"/>
              <a:t>		biely</a:t>
            </a:r>
            <a:endParaRPr lang="en-US" altLang="en-US"/>
          </a:p>
          <a:p>
            <a:r>
              <a:rPr lang="en-US" altLang="en-US"/>
              <a:t>Balaz</a:t>
            </a:r>
            <a:r>
              <a:rPr lang="sk-SK" altLang="en-US"/>
              <a:t>		balaz</a:t>
            </a:r>
            <a:endParaRPr lang="en-US" altLang="en-US"/>
          </a:p>
          <a:p>
            <a:r>
              <a:rPr lang="en-US" altLang="en-US"/>
              <a:t>Kapustný</a:t>
            </a:r>
            <a:r>
              <a:rPr lang="sk-SK" altLang="en-US"/>
              <a:t>	kapustný</a:t>
            </a:r>
          </a:p>
          <a:p>
            <a:endParaRPr lang="sk-SK" altLang="en-US"/>
          </a:p>
          <a:p>
            <a:r>
              <a:rPr lang="sk-SK" altLang="en-US"/>
              <a:t>...</a:t>
            </a:r>
            <a:endParaRPr lang="en-US" altLang="en-US"/>
          </a:p>
          <a:p>
            <a:endParaRPr lang="en-US" altLang="en-US"/>
          </a:p>
        </p:txBody>
      </p:sp>
    </p:spTree>
    <p:extLst>
      <p:ext uri="{BB962C8B-B14F-4D97-AF65-F5344CB8AC3E}">
        <p14:creationId xmlns:p14="http://schemas.microsoft.com/office/powerpoint/2010/main" val="10120465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57200" y="188640"/>
            <a:ext cx="8229600" cy="936104"/>
          </a:xfrm>
        </p:spPr>
        <p:txBody>
          <a:bodyPr/>
          <a:lstStyle/>
          <a:p>
            <a:r>
              <a:rPr lang="en-US"/>
              <a:t>INITCAP</a:t>
            </a:r>
          </a:p>
        </p:txBody>
      </p:sp>
      <p:sp>
        <p:nvSpPr>
          <p:cNvPr id="3" name="Zástupný objekt pre obsah 2"/>
          <p:cNvSpPr>
            <a:spLocks noGrp="1"/>
          </p:cNvSpPr>
          <p:nvPr>
            <p:ph idx="1"/>
          </p:nvPr>
        </p:nvSpPr>
        <p:spPr>
          <a:xfrm>
            <a:off x="457200" y="1340769"/>
            <a:ext cx="8291264" cy="4608512"/>
          </a:xfrm>
        </p:spPr>
        <p:txBody>
          <a:bodyPr>
            <a:normAutofit fontScale="85000" lnSpcReduction="20000"/>
          </a:bodyPr>
          <a:lstStyle/>
          <a:p>
            <a:pPr marL="0" indent="0">
              <a:buNone/>
            </a:pPr>
            <a:r>
              <a:rPr lang="en-US" b="1">
                <a:solidFill>
                  <a:srgbClr val="FF0000"/>
                </a:solidFill>
              </a:rPr>
              <a:t>Syntax 		INITCAP( string1 )</a:t>
            </a:r>
          </a:p>
          <a:p>
            <a:pPr marL="0" indent="0">
              <a:buNone/>
            </a:pPr>
            <a:endParaRPr lang="en-US" b="1">
              <a:solidFill>
                <a:srgbClr val="FF0000"/>
              </a:solidFill>
            </a:endParaRPr>
          </a:p>
          <a:p>
            <a:r>
              <a:rPr lang="en-US"/>
              <a:t>select </a:t>
            </a:r>
            <a:r>
              <a:rPr lang="en-US" err="1"/>
              <a:t>initcap</a:t>
            </a:r>
            <a:r>
              <a:rPr lang="en-US"/>
              <a:t>('</a:t>
            </a:r>
            <a:r>
              <a:rPr lang="en-US" err="1"/>
              <a:t>Ahoj</a:t>
            </a:r>
            <a:r>
              <a:rPr lang="en-US"/>
              <a:t> </a:t>
            </a:r>
            <a:r>
              <a:rPr lang="en-US" err="1"/>
              <a:t>svet</a:t>
            </a:r>
            <a:r>
              <a:rPr lang="en-US"/>
              <a:t>') from dual;</a:t>
            </a:r>
            <a:br>
              <a:rPr lang="en-US"/>
            </a:br>
            <a:r>
              <a:rPr lang="en-US"/>
              <a:t>-- </a:t>
            </a:r>
            <a:r>
              <a:rPr lang="en-US" err="1"/>
              <a:t>Ahoj</a:t>
            </a:r>
            <a:r>
              <a:rPr lang="en-US"/>
              <a:t> </a:t>
            </a:r>
            <a:r>
              <a:rPr lang="en-US" err="1"/>
              <a:t>Svet</a:t>
            </a:r>
            <a:br>
              <a:rPr lang="en-US"/>
            </a:br>
            <a:r>
              <a:rPr lang="en-US"/>
              <a:t>select </a:t>
            </a:r>
            <a:r>
              <a:rPr lang="en-US" err="1"/>
              <a:t>initcap</a:t>
            </a:r>
            <a:r>
              <a:rPr lang="en-US"/>
              <a:t>('</a:t>
            </a:r>
            <a:r>
              <a:rPr lang="en-US" err="1"/>
              <a:t>Ahoj_svet</a:t>
            </a:r>
            <a:r>
              <a:rPr lang="en-US"/>
              <a:t>') from dual;</a:t>
            </a:r>
            <a:br>
              <a:rPr lang="en-US"/>
            </a:br>
            <a:r>
              <a:rPr lang="en-US"/>
              <a:t>-- </a:t>
            </a:r>
            <a:r>
              <a:rPr lang="en-US" err="1"/>
              <a:t>Ahoj</a:t>
            </a:r>
            <a:r>
              <a:rPr lang="en-US"/>
              <a:t> </a:t>
            </a:r>
            <a:r>
              <a:rPr lang="en-US" err="1"/>
              <a:t>Svet</a:t>
            </a:r>
            <a:br>
              <a:rPr lang="en-US"/>
            </a:br>
            <a:r>
              <a:rPr lang="en-US"/>
              <a:t>select </a:t>
            </a:r>
            <a:r>
              <a:rPr lang="en-US" err="1"/>
              <a:t>initcap</a:t>
            </a:r>
            <a:r>
              <a:rPr lang="en-US"/>
              <a:t>('</a:t>
            </a:r>
            <a:r>
              <a:rPr lang="en-US" err="1"/>
              <a:t>Ahoj?svet</a:t>
            </a:r>
            <a:r>
              <a:rPr lang="en-US"/>
              <a:t>') from dual;</a:t>
            </a:r>
            <a:br>
              <a:rPr lang="en-US"/>
            </a:br>
            <a:r>
              <a:rPr lang="en-US"/>
              <a:t>-- </a:t>
            </a:r>
            <a:r>
              <a:rPr lang="en-US" err="1"/>
              <a:t>Ahoj?Svet</a:t>
            </a:r>
            <a:br>
              <a:rPr lang="en-US"/>
            </a:br>
            <a:r>
              <a:rPr lang="en-US"/>
              <a:t>select </a:t>
            </a:r>
            <a:r>
              <a:rPr lang="en-US" err="1"/>
              <a:t>initcap</a:t>
            </a:r>
            <a:r>
              <a:rPr lang="en-US"/>
              <a:t>('</a:t>
            </a:r>
            <a:r>
              <a:rPr lang="en-US" err="1"/>
              <a:t>Ahoj;svet</a:t>
            </a:r>
            <a:r>
              <a:rPr lang="en-US"/>
              <a:t>') from dual;</a:t>
            </a:r>
            <a:br>
              <a:rPr lang="en-US"/>
            </a:br>
            <a:r>
              <a:rPr lang="en-US"/>
              <a:t>-- </a:t>
            </a:r>
            <a:r>
              <a:rPr lang="en-US" err="1"/>
              <a:t>Ahoj;Svet</a:t>
            </a:r>
            <a:br>
              <a:rPr lang="en-US"/>
            </a:br>
            <a:r>
              <a:rPr lang="en-US"/>
              <a:t>select </a:t>
            </a:r>
            <a:r>
              <a:rPr lang="en-US" err="1"/>
              <a:t>initcap</a:t>
            </a:r>
            <a:r>
              <a:rPr lang="en-US"/>
              <a:t>('Ahoj3svet') from dual;</a:t>
            </a:r>
            <a:br>
              <a:rPr lang="en-US"/>
            </a:br>
            <a:r>
              <a:rPr lang="en-US"/>
              <a:t>-- Ahoj3svet</a:t>
            </a:r>
          </a:p>
        </p:txBody>
      </p:sp>
    </p:spTree>
    <p:extLst>
      <p:ext uri="{BB962C8B-B14F-4D97-AF65-F5344CB8AC3E}">
        <p14:creationId xmlns:p14="http://schemas.microsoft.com/office/powerpoint/2010/main" val="7368417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pPr>
              <a:defRPr/>
            </a:pPr>
            <a:r>
              <a:rPr lang="sk-SK"/>
              <a:t>Operátor LIKE</a:t>
            </a:r>
            <a:endParaRPr lang="en-US"/>
          </a:p>
        </p:txBody>
      </p:sp>
      <p:sp>
        <p:nvSpPr>
          <p:cNvPr id="4" name="Zástupný objekt pre obsah 3"/>
          <p:cNvSpPr>
            <a:spLocks noGrp="1"/>
          </p:cNvSpPr>
          <p:nvPr>
            <p:ph idx="1"/>
          </p:nvPr>
        </p:nvSpPr>
        <p:spPr/>
        <p:txBody>
          <a:bodyPr>
            <a:normAutofit fontScale="62500" lnSpcReduction="20000"/>
          </a:bodyPr>
          <a:lstStyle/>
          <a:p>
            <a:pPr marL="0" indent="0" algn="ctr">
              <a:buFont typeface="Wingdings" panose="05000000000000000000" pitchFamily="2" charset="2"/>
              <a:buNone/>
              <a:defRPr/>
            </a:pPr>
            <a:r>
              <a:rPr lang="sk-SK" sz="3200"/>
              <a:t>Stĺpec </a:t>
            </a:r>
            <a:r>
              <a:rPr lang="sk-SK" sz="3200" b="1"/>
              <a:t>LIKE</a:t>
            </a:r>
            <a:r>
              <a:rPr lang="sk-SK" sz="3200"/>
              <a:t> vzor</a:t>
            </a:r>
          </a:p>
          <a:p>
            <a:pPr marL="0" indent="0">
              <a:buFont typeface="Wingdings" panose="05000000000000000000" pitchFamily="2" charset="2"/>
              <a:buNone/>
              <a:defRPr/>
            </a:pPr>
            <a:r>
              <a:rPr lang="sk-SK" sz="3200"/>
              <a:t>Vzor	Význam	</a:t>
            </a:r>
          </a:p>
          <a:p>
            <a:pPr marL="0" indent="0">
              <a:buFont typeface="Wingdings" panose="05000000000000000000" pitchFamily="2" charset="2"/>
              <a:buNone/>
              <a:defRPr/>
            </a:pPr>
            <a:r>
              <a:rPr lang="sk-SK" sz="3200"/>
              <a:t>%	ľubovoľný počet znakov </a:t>
            </a:r>
          </a:p>
          <a:p>
            <a:pPr marL="0" indent="0">
              <a:buFont typeface="Wingdings" panose="05000000000000000000" pitchFamily="2" charset="2"/>
              <a:buNone/>
              <a:defRPr/>
            </a:pPr>
            <a:r>
              <a:rPr lang="sk-SK" sz="3200"/>
              <a:t>_	jeden znak</a:t>
            </a:r>
          </a:p>
          <a:p>
            <a:pPr marL="0" indent="0">
              <a:buFont typeface="Wingdings" panose="05000000000000000000" pitchFamily="2" charset="2"/>
              <a:buNone/>
              <a:defRPr/>
            </a:pPr>
            <a:r>
              <a:rPr lang="sk-SK" sz="3200"/>
              <a:t>	</a:t>
            </a:r>
          </a:p>
          <a:p>
            <a:pPr marL="0" indent="0">
              <a:buFont typeface="Wingdings" panose="05000000000000000000" pitchFamily="2" charset="2"/>
              <a:buNone/>
              <a:defRPr/>
            </a:pPr>
            <a:r>
              <a:rPr lang="en-US" sz="3200" b="1"/>
              <a:t>select </a:t>
            </a:r>
            <a:r>
              <a:rPr lang="en-US" sz="3200" b="1" err="1"/>
              <a:t>meno</a:t>
            </a:r>
            <a:r>
              <a:rPr lang="en-US" sz="3200" b="1"/>
              <a:t>, </a:t>
            </a:r>
            <a:r>
              <a:rPr lang="en-US" sz="3200" b="1" err="1"/>
              <a:t>priezvisko</a:t>
            </a:r>
            <a:r>
              <a:rPr lang="en-US" sz="3200" b="1"/>
              <a:t> from </a:t>
            </a:r>
            <a:r>
              <a:rPr lang="en-US" sz="3200" b="1" err="1"/>
              <a:t>os_udaje</a:t>
            </a:r>
            <a:endParaRPr lang="en-US" sz="3200" b="1"/>
          </a:p>
          <a:p>
            <a:pPr marL="0" indent="0">
              <a:buFont typeface="Wingdings" panose="05000000000000000000" pitchFamily="2" charset="2"/>
              <a:buNone/>
              <a:defRPr/>
            </a:pPr>
            <a:r>
              <a:rPr lang="en-US" sz="3200" b="1"/>
              <a:t>where </a:t>
            </a:r>
            <a:r>
              <a:rPr lang="en-US" sz="3200" b="1" err="1"/>
              <a:t>priezvisko</a:t>
            </a:r>
            <a:r>
              <a:rPr lang="en-US" sz="3200" b="1"/>
              <a:t> LIKE ’K%’; </a:t>
            </a:r>
            <a:endParaRPr lang="sk-SK" sz="3200" b="1"/>
          </a:p>
          <a:p>
            <a:pPr marL="0" indent="0">
              <a:buFont typeface="Wingdings" panose="05000000000000000000" pitchFamily="2" charset="2"/>
              <a:buNone/>
              <a:defRPr/>
            </a:pPr>
            <a:endParaRPr lang="sk-SK" sz="3200"/>
          </a:p>
          <a:p>
            <a:pPr marL="0" indent="0">
              <a:buFont typeface="Wingdings" panose="05000000000000000000" pitchFamily="2" charset="2"/>
              <a:buNone/>
              <a:defRPr/>
            </a:pPr>
            <a:r>
              <a:rPr lang="en-US" sz="3200"/>
              <a:t>MENO	PRIEZVISKO</a:t>
            </a:r>
            <a:endParaRPr lang="sk-SK" sz="3200"/>
          </a:p>
          <a:p>
            <a:pPr marL="0" indent="0">
              <a:buFont typeface="Wingdings" panose="05000000000000000000" pitchFamily="2" charset="2"/>
              <a:buNone/>
              <a:defRPr/>
            </a:pPr>
            <a:endParaRPr lang="en-US" sz="3200"/>
          </a:p>
          <a:p>
            <a:pPr marL="0" indent="0">
              <a:buFont typeface="Wingdings" panose="05000000000000000000" pitchFamily="2" charset="2"/>
              <a:buNone/>
              <a:defRPr/>
            </a:pPr>
            <a:r>
              <a:rPr lang="en-US" sz="3200"/>
              <a:t>Peter	</a:t>
            </a:r>
            <a:r>
              <a:rPr lang="sk-SK" sz="3200"/>
              <a:t>	</a:t>
            </a:r>
            <a:r>
              <a:rPr lang="en-US" sz="3200" err="1"/>
              <a:t>Kapustný</a:t>
            </a:r>
            <a:endParaRPr lang="en-US" sz="3200"/>
          </a:p>
          <a:p>
            <a:pPr marL="0" indent="0">
              <a:buFont typeface="Wingdings" panose="05000000000000000000" pitchFamily="2" charset="2"/>
              <a:buNone/>
              <a:defRPr/>
            </a:pPr>
            <a:r>
              <a:rPr lang="en-US" sz="3200"/>
              <a:t>Jan	</a:t>
            </a:r>
            <a:r>
              <a:rPr lang="sk-SK" sz="3200"/>
              <a:t>	</a:t>
            </a:r>
            <a:r>
              <a:rPr lang="en-US" sz="3200" err="1"/>
              <a:t>Krnac</a:t>
            </a:r>
            <a:endParaRPr lang="en-US" sz="3200"/>
          </a:p>
          <a:p>
            <a:pPr marL="0" indent="0">
              <a:buFont typeface="Wingdings" panose="05000000000000000000" pitchFamily="2" charset="2"/>
              <a:buNone/>
              <a:defRPr/>
            </a:pPr>
            <a:r>
              <a:rPr lang="en-US" sz="3200"/>
              <a:t>Lubomir	</a:t>
            </a:r>
            <a:r>
              <a:rPr lang="en-US" sz="3200" err="1"/>
              <a:t>Kominek</a:t>
            </a:r>
            <a:endParaRPr lang="en-US" sz="3200"/>
          </a:p>
          <a:p>
            <a:pPr marL="0" indent="0">
              <a:buFont typeface="Wingdings" panose="05000000000000000000" pitchFamily="2" charset="2"/>
              <a:buNone/>
              <a:defRPr/>
            </a:pPr>
            <a:r>
              <a:rPr lang="en-US" sz="3200"/>
              <a:t>Rastislav	</a:t>
            </a:r>
            <a:r>
              <a:rPr lang="en-US" sz="3200" err="1"/>
              <a:t>Kontros</a:t>
            </a:r>
            <a:endParaRPr lang="en-US" sz="3200"/>
          </a:p>
        </p:txBody>
      </p:sp>
    </p:spTree>
    <p:extLst>
      <p:ext uri="{BB962C8B-B14F-4D97-AF65-F5344CB8AC3E}">
        <p14:creationId xmlns:p14="http://schemas.microsoft.com/office/powerpoint/2010/main" val="6245589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11150" y="282575"/>
            <a:ext cx="8604250" cy="600075"/>
          </a:xfrm>
        </p:spPr>
        <p:txBody>
          <a:bodyPr>
            <a:normAutofit fontScale="90000"/>
          </a:bodyPr>
          <a:lstStyle/>
          <a:p>
            <a:pPr>
              <a:defRPr/>
            </a:pPr>
            <a:r>
              <a:rPr lang="sk-SK"/>
              <a:t>Operátor LIKE </a:t>
            </a:r>
            <a:r>
              <a:rPr lang="en-US"/>
              <a:t>– </a:t>
            </a:r>
            <a:r>
              <a:rPr lang="en-US" err="1"/>
              <a:t>vybran</a:t>
            </a:r>
            <a:r>
              <a:rPr lang="sk-SK"/>
              <a:t>é</a:t>
            </a:r>
            <a:r>
              <a:rPr lang="en-US"/>
              <a:t> </a:t>
            </a:r>
            <a:r>
              <a:rPr lang="en-US" err="1"/>
              <a:t>znaky</a:t>
            </a:r>
            <a:r>
              <a:rPr lang="en-US"/>
              <a:t> </a:t>
            </a:r>
            <a:r>
              <a:rPr lang="en-US" err="1"/>
              <a:t>na</a:t>
            </a:r>
            <a:r>
              <a:rPr lang="en-US"/>
              <a:t> </a:t>
            </a:r>
            <a:r>
              <a:rPr lang="sk-SK"/>
              <a:t>ľubovoľnom mieste</a:t>
            </a:r>
            <a:endParaRPr lang="en-US"/>
          </a:p>
        </p:txBody>
      </p:sp>
      <p:sp>
        <p:nvSpPr>
          <p:cNvPr id="4" name="Zástupný objekt pre obsah 3"/>
          <p:cNvSpPr>
            <a:spLocks noGrp="1"/>
          </p:cNvSpPr>
          <p:nvPr>
            <p:ph idx="1"/>
          </p:nvPr>
        </p:nvSpPr>
        <p:spPr/>
        <p:txBody>
          <a:bodyPr>
            <a:normAutofit fontScale="77500" lnSpcReduction="20000"/>
          </a:bodyPr>
          <a:lstStyle/>
          <a:p>
            <a:pPr marL="0" indent="0">
              <a:buFont typeface="Wingdings" panose="05000000000000000000" pitchFamily="2" charset="2"/>
              <a:buNone/>
              <a:defRPr/>
            </a:pPr>
            <a:endParaRPr lang="en-US" sz="3200"/>
          </a:p>
          <a:p>
            <a:pPr marL="0" indent="0">
              <a:buFont typeface="Wingdings" panose="05000000000000000000" pitchFamily="2" charset="2"/>
              <a:buNone/>
              <a:defRPr/>
            </a:pPr>
            <a:r>
              <a:rPr lang="en-US" sz="3200" b="1"/>
              <a:t>select distinct </a:t>
            </a:r>
            <a:r>
              <a:rPr lang="en-US" sz="3200" b="1" err="1"/>
              <a:t>st_skupina</a:t>
            </a:r>
            <a:r>
              <a:rPr lang="en-US" sz="3200" b="1"/>
              <a:t> </a:t>
            </a:r>
          </a:p>
          <a:p>
            <a:pPr marL="0" indent="0">
              <a:buFont typeface="Wingdings" panose="05000000000000000000" pitchFamily="2" charset="2"/>
              <a:buNone/>
              <a:defRPr/>
            </a:pPr>
            <a:r>
              <a:rPr lang="en-US" sz="3200" b="1"/>
              <a:t>from  student	where </a:t>
            </a:r>
            <a:r>
              <a:rPr lang="en-US" sz="3200" b="1" err="1"/>
              <a:t>st_skupina</a:t>
            </a:r>
            <a:r>
              <a:rPr lang="en-US" sz="3200" b="1"/>
              <a:t> like '</a:t>
            </a:r>
            <a:r>
              <a:rPr lang="en-US" sz="3200" b="1">
                <a:solidFill>
                  <a:srgbClr val="C00000"/>
                </a:solidFill>
              </a:rPr>
              <a:t>%3%';</a:t>
            </a:r>
            <a:r>
              <a:rPr lang="sk-SK" sz="3200"/>
              <a:t>	</a:t>
            </a:r>
          </a:p>
          <a:p>
            <a:pPr marL="0" indent="0">
              <a:buFont typeface="Wingdings" panose="05000000000000000000" pitchFamily="2" charset="2"/>
              <a:buNone/>
              <a:defRPr/>
            </a:pPr>
            <a:endParaRPr lang="sk-SK" sz="3200"/>
          </a:p>
          <a:p>
            <a:pPr marL="0" indent="0">
              <a:buFont typeface="Wingdings" panose="05000000000000000000" pitchFamily="2" charset="2"/>
              <a:buNone/>
              <a:defRPr/>
            </a:pPr>
            <a:r>
              <a:rPr lang="sk-SK" sz="3200"/>
              <a:t>ST_SKUPINA</a:t>
            </a:r>
          </a:p>
          <a:p>
            <a:pPr marL="0" indent="0">
              <a:buFont typeface="Wingdings" panose="05000000000000000000" pitchFamily="2" charset="2"/>
              <a:buNone/>
              <a:defRPr/>
            </a:pPr>
            <a:r>
              <a:rPr lang="sk-SK" sz="3200"/>
              <a:t>ZI031</a:t>
            </a:r>
          </a:p>
          <a:p>
            <a:pPr marL="0" indent="0">
              <a:buFont typeface="Wingdings" panose="05000000000000000000" pitchFamily="2" charset="2"/>
              <a:buNone/>
              <a:defRPr/>
            </a:pPr>
            <a:r>
              <a:rPr lang="sk-SK" sz="3200"/>
              <a:t>ZI030</a:t>
            </a:r>
          </a:p>
          <a:p>
            <a:pPr marL="0" indent="0">
              <a:buFont typeface="Wingdings" panose="05000000000000000000" pitchFamily="2" charset="2"/>
              <a:buNone/>
              <a:defRPr/>
            </a:pPr>
            <a:r>
              <a:rPr lang="sk-SK" sz="3200"/>
              <a:t>ZIM23</a:t>
            </a:r>
          </a:p>
          <a:p>
            <a:pPr marL="0" indent="0">
              <a:buFont typeface="Wingdings" panose="05000000000000000000" pitchFamily="2" charset="2"/>
              <a:buNone/>
              <a:defRPr/>
            </a:pPr>
            <a:r>
              <a:rPr lang="sk-SK" sz="3200"/>
              <a:t>ZIN31</a:t>
            </a:r>
          </a:p>
          <a:p>
            <a:pPr marL="0" indent="0">
              <a:buFont typeface="Wingdings" panose="05000000000000000000" pitchFamily="2" charset="2"/>
              <a:buNone/>
              <a:defRPr/>
            </a:pPr>
            <a:r>
              <a:rPr lang="sk-SK" sz="3200"/>
              <a:t>ZIS31</a:t>
            </a:r>
          </a:p>
          <a:p>
            <a:pPr marL="0" indent="0">
              <a:buFont typeface="Wingdings" panose="05000000000000000000" pitchFamily="2" charset="2"/>
              <a:buNone/>
              <a:defRPr/>
            </a:pPr>
            <a:endParaRPr lang="sk-SK" sz="3200"/>
          </a:p>
          <a:p>
            <a:pPr marL="0" indent="0">
              <a:buFont typeface="Wingdings" panose="05000000000000000000" pitchFamily="2" charset="2"/>
              <a:buNone/>
              <a:defRPr/>
            </a:pPr>
            <a:endParaRPr lang="en-US" sz="3200"/>
          </a:p>
        </p:txBody>
      </p:sp>
    </p:spTree>
    <p:extLst>
      <p:ext uri="{BB962C8B-B14F-4D97-AF65-F5344CB8AC3E}">
        <p14:creationId xmlns:p14="http://schemas.microsoft.com/office/powerpoint/2010/main" val="29579407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11150" y="282575"/>
            <a:ext cx="8604250" cy="600075"/>
          </a:xfrm>
        </p:spPr>
        <p:txBody>
          <a:bodyPr>
            <a:normAutofit fontScale="90000"/>
          </a:bodyPr>
          <a:lstStyle/>
          <a:p>
            <a:pPr>
              <a:defRPr/>
            </a:pPr>
            <a:r>
              <a:rPr lang="sk-SK"/>
              <a:t>Operátor LIKE </a:t>
            </a:r>
            <a:r>
              <a:rPr lang="en-US"/>
              <a:t>– </a:t>
            </a:r>
            <a:r>
              <a:rPr lang="sk-SK"/>
              <a:t>znak 3 po štyroch ľubovoľných znakoch</a:t>
            </a:r>
            <a:endParaRPr lang="en-US"/>
          </a:p>
        </p:txBody>
      </p:sp>
      <p:sp>
        <p:nvSpPr>
          <p:cNvPr id="4" name="Zástupný objekt pre obsah 3"/>
          <p:cNvSpPr>
            <a:spLocks noGrp="1"/>
          </p:cNvSpPr>
          <p:nvPr>
            <p:ph idx="1"/>
          </p:nvPr>
        </p:nvSpPr>
        <p:spPr/>
        <p:txBody>
          <a:bodyPr>
            <a:normAutofit fontScale="92500" lnSpcReduction="20000"/>
          </a:bodyPr>
          <a:lstStyle/>
          <a:p>
            <a:pPr marL="0" indent="0">
              <a:buFont typeface="Wingdings" panose="05000000000000000000" pitchFamily="2" charset="2"/>
              <a:buNone/>
              <a:defRPr/>
            </a:pPr>
            <a:endParaRPr lang="en-US" sz="3200"/>
          </a:p>
          <a:p>
            <a:pPr marL="0" indent="0">
              <a:buFont typeface="Wingdings" panose="05000000000000000000" pitchFamily="2" charset="2"/>
              <a:buNone/>
              <a:defRPr/>
            </a:pPr>
            <a:r>
              <a:rPr lang="en-US" sz="3200" b="1"/>
              <a:t>select distinct </a:t>
            </a:r>
            <a:r>
              <a:rPr lang="en-US" sz="3200" b="1" err="1"/>
              <a:t>st_skupina</a:t>
            </a:r>
            <a:r>
              <a:rPr lang="en-US" sz="3200" b="1"/>
              <a:t> from  student</a:t>
            </a:r>
            <a:r>
              <a:rPr lang="sk-SK" sz="3200" b="1"/>
              <a:t> </a:t>
            </a:r>
          </a:p>
          <a:p>
            <a:pPr marL="0" indent="0">
              <a:buFont typeface="Wingdings" panose="05000000000000000000" pitchFamily="2" charset="2"/>
              <a:buNone/>
              <a:defRPr/>
            </a:pPr>
            <a:r>
              <a:rPr lang="en-US" sz="3200" b="1"/>
              <a:t>where </a:t>
            </a:r>
            <a:r>
              <a:rPr lang="en-US" sz="3200" b="1" err="1"/>
              <a:t>st_skupina</a:t>
            </a:r>
            <a:r>
              <a:rPr lang="en-US" sz="3200" b="1"/>
              <a:t> like ‚</a:t>
            </a:r>
            <a:r>
              <a:rPr lang="sk-SK" sz="3200" b="1">
                <a:solidFill>
                  <a:srgbClr val="C00000"/>
                </a:solidFill>
              </a:rPr>
              <a:t>____</a:t>
            </a:r>
            <a:r>
              <a:rPr lang="en-US" sz="3200" b="1">
                <a:solidFill>
                  <a:srgbClr val="C00000"/>
                </a:solidFill>
              </a:rPr>
              <a:t>3%';</a:t>
            </a:r>
            <a:r>
              <a:rPr lang="sk-SK" sz="3200"/>
              <a:t>	</a:t>
            </a:r>
          </a:p>
          <a:p>
            <a:pPr marL="0" indent="0">
              <a:buFont typeface="Wingdings" panose="05000000000000000000" pitchFamily="2" charset="2"/>
              <a:buNone/>
              <a:defRPr/>
            </a:pPr>
            <a:endParaRPr lang="sk-SK" sz="3200"/>
          </a:p>
          <a:p>
            <a:pPr marL="0" indent="0">
              <a:buFont typeface="Wingdings" panose="05000000000000000000" pitchFamily="2" charset="2"/>
              <a:buNone/>
              <a:defRPr/>
            </a:pPr>
            <a:r>
              <a:rPr lang="sk-SK" sz="3200"/>
              <a:t>ST_SKUPINA</a:t>
            </a:r>
          </a:p>
          <a:p>
            <a:pPr marL="0" indent="0">
              <a:buFont typeface="Wingdings" panose="05000000000000000000" pitchFamily="2" charset="2"/>
              <a:buNone/>
              <a:defRPr/>
            </a:pPr>
            <a:r>
              <a:rPr lang="sk-SK" sz="3200"/>
              <a:t>ZI031</a:t>
            </a:r>
          </a:p>
          <a:p>
            <a:pPr marL="0" indent="0">
              <a:buFont typeface="Wingdings" panose="05000000000000000000" pitchFamily="2" charset="2"/>
              <a:buNone/>
              <a:defRPr/>
            </a:pPr>
            <a:r>
              <a:rPr lang="sk-SK" sz="3200"/>
              <a:t>ZI030</a:t>
            </a:r>
          </a:p>
          <a:p>
            <a:pPr marL="0" indent="0">
              <a:buFont typeface="Wingdings" panose="05000000000000000000" pitchFamily="2" charset="2"/>
              <a:buNone/>
              <a:defRPr/>
            </a:pPr>
            <a:r>
              <a:rPr lang="sk-SK" sz="3200"/>
              <a:t>ZIN31</a:t>
            </a:r>
          </a:p>
          <a:p>
            <a:pPr marL="0" indent="0">
              <a:buFont typeface="Wingdings" panose="05000000000000000000" pitchFamily="2" charset="2"/>
              <a:buNone/>
              <a:defRPr/>
            </a:pPr>
            <a:r>
              <a:rPr lang="sk-SK" sz="3200"/>
              <a:t>ZIS31</a:t>
            </a:r>
          </a:p>
          <a:p>
            <a:pPr marL="0" indent="0">
              <a:buFont typeface="Wingdings" panose="05000000000000000000" pitchFamily="2" charset="2"/>
              <a:buNone/>
              <a:defRPr/>
            </a:pPr>
            <a:endParaRPr lang="sk-SK" sz="3200"/>
          </a:p>
          <a:p>
            <a:pPr marL="0" indent="0">
              <a:buFont typeface="Wingdings" panose="05000000000000000000" pitchFamily="2" charset="2"/>
              <a:buNone/>
              <a:defRPr/>
            </a:pPr>
            <a:endParaRPr lang="en-US" sz="3200"/>
          </a:p>
        </p:txBody>
      </p:sp>
    </p:spTree>
    <p:extLst>
      <p:ext uri="{BB962C8B-B14F-4D97-AF65-F5344CB8AC3E}">
        <p14:creationId xmlns:p14="http://schemas.microsoft.com/office/powerpoint/2010/main" val="22719650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pPr>
              <a:defRPr/>
            </a:pPr>
            <a:r>
              <a:rPr lang="sk-SK"/>
              <a:t>Funkcie pre dátumové dátové typy</a:t>
            </a:r>
            <a:endParaRPr lang="en-US"/>
          </a:p>
        </p:txBody>
      </p:sp>
      <p:sp>
        <p:nvSpPr>
          <p:cNvPr id="97283" name="Zástupný objekt pre obsah 2"/>
          <p:cNvSpPr>
            <a:spLocks noGrp="1"/>
          </p:cNvSpPr>
          <p:nvPr>
            <p:ph idx="1"/>
          </p:nvPr>
        </p:nvSpPr>
        <p:spPr/>
        <p:txBody>
          <a:bodyPr/>
          <a:lstStyle/>
          <a:p>
            <a:r>
              <a:rPr lang="sk-SK" altLang="en-US" sz="3200" b="1"/>
              <a:t>SYSDATE</a:t>
            </a:r>
          </a:p>
          <a:p>
            <a:r>
              <a:rPr lang="sk-SK" altLang="en-US" sz="3200" b="1"/>
              <a:t>TO_DATE</a:t>
            </a:r>
          </a:p>
          <a:p>
            <a:r>
              <a:rPr lang="sk-SK" altLang="en-US" sz="3200" b="1"/>
              <a:t>TO_CHAR</a:t>
            </a:r>
          </a:p>
          <a:p>
            <a:r>
              <a:rPr lang="sk-SK" altLang="en-US" sz="3200" b="1"/>
              <a:t>ADD_MONTHS</a:t>
            </a:r>
          </a:p>
          <a:p>
            <a:r>
              <a:rPr lang="sk-SK" altLang="en-US" sz="3200" b="1"/>
              <a:t>LAST_DAY</a:t>
            </a:r>
          </a:p>
          <a:p>
            <a:r>
              <a:rPr lang="sk-SK" altLang="en-US" sz="3200" b="1"/>
              <a:t>TRUNC</a:t>
            </a:r>
            <a:endParaRPr lang="en-US" altLang="en-US" sz="3200" b="1"/>
          </a:p>
        </p:txBody>
      </p:sp>
    </p:spTree>
    <p:extLst>
      <p:ext uri="{BB962C8B-B14F-4D97-AF65-F5344CB8AC3E}">
        <p14:creationId xmlns:p14="http://schemas.microsoft.com/office/powerpoint/2010/main" val="25844718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pPr>
              <a:defRPr/>
            </a:pPr>
            <a:r>
              <a:rPr lang="sk-SK"/>
              <a:t>Funkcie pre dátumové dátové typy SYSDATE</a:t>
            </a:r>
            <a:endParaRPr lang="en-US"/>
          </a:p>
        </p:txBody>
      </p:sp>
      <p:sp>
        <p:nvSpPr>
          <p:cNvPr id="3" name="Zástupný objekt pre obsah 2"/>
          <p:cNvSpPr>
            <a:spLocks noGrp="1"/>
          </p:cNvSpPr>
          <p:nvPr>
            <p:ph idx="1"/>
          </p:nvPr>
        </p:nvSpPr>
        <p:spPr/>
        <p:txBody>
          <a:bodyPr/>
          <a:lstStyle/>
          <a:p>
            <a:pPr marL="0" indent="0">
              <a:buFont typeface="Wingdings" panose="05000000000000000000" pitchFamily="2" charset="2"/>
              <a:buNone/>
              <a:defRPr/>
            </a:pPr>
            <a:r>
              <a:rPr lang="sk-SK" sz="3200" b="1"/>
              <a:t>SYSDATE – vráti aktuálny systémový dátum a čas</a:t>
            </a:r>
          </a:p>
          <a:p>
            <a:pPr marL="0" indent="0">
              <a:buFont typeface="Wingdings" panose="05000000000000000000" pitchFamily="2" charset="2"/>
              <a:buNone/>
              <a:defRPr/>
            </a:pPr>
            <a:endParaRPr lang="sk-SK" sz="3200" b="1"/>
          </a:p>
          <a:p>
            <a:pPr marL="0" indent="0">
              <a:buFont typeface="Wingdings" panose="05000000000000000000" pitchFamily="2" charset="2"/>
              <a:buNone/>
              <a:defRPr/>
            </a:pPr>
            <a:r>
              <a:rPr lang="sk-SK" sz="3200" b="1" err="1"/>
              <a:t>Select</a:t>
            </a:r>
            <a:r>
              <a:rPr lang="sk-SK" sz="3200" b="1"/>
              <a:t> </a:t>
            </a:r>
            <a:r>
              <a:rPr lang="sk-SK" sz="3200" b="1" err="1"/>
              <a:t>sysdate</a:t>
            </a:r>
            <a:r>
              <a:rPr lang="sk-SK" sz="3200" b="1"/>
              <a:t> </a:t>
            </a:r>
            <a:r>
              <a:rPr lang="sk-SK" sz="3200" b="1" err="1"/>
              <a:t>from</a:t>
            </a:r>
            <a:r>
              <a:rPr lang="sk-SK" sz="3200" b="1"/>
              <a:t> </a:t>
            </a:r>
            <a:r>
              <a:rPr lang="sk-SK" sz="3200" b="1" err="1"/>
              <a:t>dual</a:t>
            </a:r>
            <a:r>
              <a:rPr lang="sk-SK" sz="3200" b="1"/>
              <a:t>;</a:t>
            </a:r>
          </a:p>
          <a:p>
            <a:pPr marL="0" indent="0">
              <a:buFont typeface="Wingdings" panose="05000000000000000000" pitchFamily="2" charset="2"/>
              <a:buNone/>
              <a:defRPr/>
            </a:pPr>
            <a:endParaRPr lang="sk-SK" sz="3200" b="1"/>
          </a:p>
          <a:p>
            <a:pPr marL="0" indent="0">
              <a:buFont typeface="Wingdings" panose="05000000000000000000" pitchFamily="2" charset="2"/>
              <a:buNone/>
              <a:defRPr/>
            </a:pPr>
            <a:r>
              <a:rPr lang="sk-SK" sz="3200" b="1"/>
              <a:t>SYSDATE</a:t>
            </a:r>
          </a:p>
          <a:p>
            <a:pPr marL="0" indent="0">
              <a:buFont typeface="Wingdings" panose="05000000000000000000" pitchFamily="2" charset="2"/>
              <a:buNone/>
              <a:defRPr/>
            </a:pPr>
            <a:r>
              <a:rPr lang="sk-SK" sz="3200"/>
              <a:t>22-FEB-</a:t>
            </a:r>
            <a:r>
              <a:rPr lang="en-US" sz="3200"/>
              <a:t>20</a:t>
            </a:r>
            <a:endParaRPr lang="sk-SK" sz="3200"/>
          </a:p>
          <a:p>
            <a:pPr>
              <a:defRPr/>
            </a:pPr>
            <a:endParaRPr lang="sk-SK" sz="3200" b="1"/>
          </a:p>
        </p:txBody>
      </p:sp>
    </p:spTree>
    <p:extLst>
      <p:ext uri="{BB962C8B-B14F-4D97-AF65-F5344CB8AC3E}">
        <p14:creationId xmlns:p14="http://schemas.microsoft.com/office/powerpoint/2010/main" val="20793933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0525" y="193675"/>
            <a:ext cx="7934325" cy="600075"/>
          </a:xfrm>
        </p:spPr>
        <p:txBody>
          <a:bodyPr>
            <a:normAutofit fontScale="90000"/>
          </a:bodyPr>
          <a:lstStyle/>
          <a:p>
            <a:pPr>
              <a:defRPr/>
            </a:pPr>
            <a:r>
              <a:rPr lang="en-US"/>
              <a:t>TO_CHAR (datum, format) – </a:t>
            </a:r>
            <a:r>
              <a:rPr lang="en-US" err="1"/>
              <a:t>prevod</a:t>
            </a:r>
            <a:r>
              <a:rPr lang="en-US"/>
              <a:t> </a:t>
            </a:r>
            <a:r>
              <a:rPr lang="en-US" err="1"/>
              <a:t>casu</a:t>
            </a:r>
            <a:r>
              <a:rPr lang="en-US"/>
              <a:t> </a:t>
            </a:r>
            <a:r>
              <a:rPr lang="en-US" err="1"/>
              <a:t>na</a:t>
            </a:r>
            <a:r>
              <a:rPr lang="en-US"/>
              <a:t> </a:t>
            </a:r>
            <a:r>
              <a:rPr lang="en-US" err="1"/>
              <a:t>retazec</a:t>
            </a:r>
            <a:endParaRPr lang="en-US"/>
          </a:p>
        </p:txBody>
      </p:sp>
      <p:sp>
        <p:nvSpPr>
          <p:cNvPr id="3" name="Zástupný objekt pre obsah 2"/>
          <p:cNvSpPr>
            <a:spLocks noGrp="1"/>
          </p:cNvSpPr>
          <p:nvPr>
            <p:ph idx="1"/>
          </p:nvPr>
        </p:nvSpPr>
        <p:spPr/>
        <p:txBody>
          <a:bodyPr>
            <a:normAutofit fontScale="55000" lnSpcReduction="20000"/>
          </a:bodyPr>
          <a:lstStyle/>
          <a:p>
            <a:pPr marL="0" indent="0">
              <a:buFont typeface="Wingdings" panose="05000000000000000000" pitchFamily="2" charset="2"/>
              <a:buNone/>
              <a:defRPr/>
            </a:pPr>
            <a:r>
              <a:rPr lang="en-US"/>
              <a:t>select </a:t>
            </a:r>
            <a:r>
              <a:rPr lang="en-US" err="1"/>
              <a:t>to_char</a:t>
            </a:r>
            <a:r>
              <a:rPr lang="en-US"/>
              <a:t>(</a:t>
            </a:r>
            <a:r>
              <a:rPr lang="en-US" err="1"/>
              <a:t>sysdate</a:t>
            </a:r>
            <a:r>
              <a:rPr lang="en-US"/>
              <a:t>, 'DD.MM.YYYY') from dual;</a:t>
            </a:r>
          </a:p>
          <a:p>
            <a:pPr marL="0" indent="0">
              <a:buFont typeface="Wingdings" panose="05000000000000000000" pitchFamily="2" charset="2"/>
              <a:buNone/>
              <a:defRPr/>
            </a:pPr>
            <a:r>
              <a:rPr lang="en-US"/>
              <a:t>TO_CHAR(SY</a:t>
            </a:r>
          </a:p>
          <a:p>
            <a:pPr marL="0" indent="0">
              <a:buFont typeface="Wingdings" panose="05000000000000000000" pitchFamily="2" charset="2"/>
              <a:buNone/>
              <a:defRPr/>
            </a:pPr>
            <a:r>
              <a:rPr lang="en-US"/>
              <a:t>----------</a:t>
            </a:r>
          </a:p>
          <a:p>
            <a:pPr marL="0" indent="0">
              <a:buFont typeface="Wingdings" panose="05000000000000000000" pitchFamily="2" charset="2"/>
              <a:buNone/>
              <a:defRPr/>
            </a:pPr>
            <a:r>
              <a:rPr lang="sk-SK"/>
              <a:t>02</a:t>
            </a:r>
            <a:r>
              <a:rPr lang="en-US"/>
              <a:t>.0</a:t>
            </a:r>
            <a:r>
              <a:rPr lang="sk-SK"/>
              <a:t>3</a:t>
            </a:r>
            <a:r>
              <a:rPr lang="en-US"/>
              <a:t>.20</a:t>
            </a:r>
            <a:r>
              <a:rPr lang="sk-SK"/>
              <a:t>21</a:t>
            </a:r>
            <a:endParaRPr lang="en-US"/>
          </a:p>
          <a:p>
            <a:pPr marL="0" indent="0">
              <a:buFont typeface="Wingdings" panose="05000000000000000000" pitchFamily="2" charset="2"/>
              <a:buNone/>
              <a:defRPr/>
            </a:pPr>
            <a:endParaRPr lang="en-US"/>
          </a:p>
          <a:p>
            <a:pPr marL="0" indent="0">
              <a:buFont typeface="Wingdings" panose="05000000000000000000" pitchFamily="2" charset="2"/>
              <a:buNone/>
              <a:defRPr/>
            </a:pPr>
            <a:r>
              <a:rPr lang="en-US"/>
              <a:t>SQL&gt; select </a:t>
            </a:r>
            <a:r>
              <a:rPr lang="en-US" err="1"/>
              <a:t>to_char</a:t>
            </a:r>
            <a:r>
              <a:rPr lang="en-US"/>
              <a:t>(</a:t>
            </a:r>
            <a:r>
              <a:rPr lang="en-US" err="1"/>
              <a:t>sysdate</a:t>
            </a:r>
            <a:r>
              <a:rPr lang="en-US"/>
              <a:t>, 'DD.MM.YYYY HH:MI:SS')from dual;</a:t>
            </a:r>
          </a:p>
          <a:p>
            <a:pPr marL="0" indent="0">
              <a:buFont typeface="Wingdings" panose="05000000000000000000" pitchFamily="2" charset="2"/>
              <a:buNone/>
              <a:defRPr/>
            </a:pPr>
            <a:r>
              <a:rPr lang="en-US"/>
              <a:t>TO_CHAR(SYSDATE,'DD</a:t>
            </a:r>
          </a:p>
          <a:p>
            <a:pPr marL="0" indent="0">
              <a:buFont typeface="Wingdings" panose="05000000000000000000" pitchFamily="2" charset="2"/>
              <a:buNone/>
              <a:defRPr/>
            </a:pPr>
            <a:r>
              <a:rPr lang="en-US"/>
              <a:t>-------------------</a:t>
            </a:r>
          </a:p>
          <a:p>
            <a:pPr marL="0" indent="0">
              <a:buNone/>
              <a:defRPr/>
            </a:pPr>
            <a:r>
              <a:rPr lang="sk-SK"/>
              <a:t>02</a:t>
            </a:r>
            <a:r>
              <a:rPr lang="en-US"/>
              <a:t>.0</a:t>
            </a:r>
            <a:r>
              <a:rPr lang="sk-SK"/>
              <a:t>3</a:t>
            </a:r>
            <a:r>
              <a:rPr lang="en-US"/>
              <a:t>.20</a:t>
            </a:r>
            <a:r>
              <a:rPr lang="sk-SK"/>
              <a:t>21 </a:t>
            </a:r>
            <a:r>
              <a:rPr lang="en-US"/>
              <a:t>02:22:07</a:t>
            </a:r>
          </a:p>
          <a:p>
            <a:pPr marL="0" indent="0">
              <a:buFont typeface="Wingdings" panose="05000000000000000000" pitchFamily="2" charset="2"/>
              <a:buNone/>
              <a:defRPr/>
            </a:pPr>
            <a:endParaRPr lang="en-US"/>
          </a:p>
          <a:p>
            <a:pPr marL="0" indent="0">
              <a:buFont typeface="Wingdings" panose="05000000000000000000" pitchFamily="2" charset="2"/>
              <a:buNone/>
              <a:defRPr/>
            </a:pPr>
            <a:r>
              <a:rPr lang="en-US"/>
              <a:t>SQL&gt; select </a:t>
            </a:r>
            <a:r>
              <a:rPr lang="en-US" err="1"/>
              <a:t>sysdate</a:t>
            </a:r>
            <a:r>
              <a:rPr lang="en-US"/>
              <a:t>, </a:t>
            </a:r>
            <a:r>
              <a:rPr lang="en-US" err="1"/>
              <a:t>to_char</a:t>
            </a:r>
            <a:r>
              <a:rPr lang="en-US"/>
              <a:t>(</a:t>
            </a:r>
            <a:r>
              <a:rPr lang="en-US" err="1"/>
              <a:t>sysdate</a:t>
            </a:r>
            <a:r>
              <a:rPr lang="en-US"/>
              <a:t>, 'D'), </a:t>
            </a:r>
            <a:r>
              <a:rPr lang="en-US" err="1"/>
              <a:t>to_char</a:t>
            </a:r>
            <a:r>
              <a:rPr lang="en-US"/>
              <a:t>(</a:t>
            </a:r>
            <a:r>
              <a:rPr lang="en-US" err="1"/>
              <a:t>sysdate</a:t>
            </a:r>
            <a:r>
              <a:rPr lang="en-US"/>
              <a:t>,'DD') from dual;</a:t>
            </a:r>
          </a:p>
          <a:p>
            <a:pPr marL="0" indent="0">
              <a:buFont typeface="Wingdings" panose="05000000000000000000" pitchFamily="2" charset="2"/>
              <a:buNone/>
              <a:defRPr/>
            </a:pPr>
            <a:r>
              <a:rPr lang="en-US"/>
              <a:t>SYSDATE   T TO</a:t>
            </a:r>
          </a:p>
          <a:p>
            <a:pPr marL="0" indent="0">
              <a:buFont typeface="Wingdings" panose="05000000000000000000" pitchFamily="2" charset="2"/>
              <a:buNone/>
              <a:defRPr/>
            </a:pPr>
            <a:r>
              <a:rPr lang="en-US"/>
              <a:t>--------- - --</a:t>
            </a:r>
          </a:p>
          <a:p>
            <a:pPr marL="0" indent="0">
              <a:buFont typeface="Wingdings" panose="05000000000000000000" pitchFamily="2" charset="2"/>
              <a:buNone/>
              <a:defRPr/>
            </a:pPr>
            <a:r>
              <a:rPr lang="sk-SK"/>
              <a:t>02</a:t>
            </a:r>
            <a:r>
              <a:rPr lang="en-US"/>
              <a:t>-</a:t>
            </a:r>
            <a:r>
              <a:rPr lang="sk-SK"/>
              <a:t>MAR</a:t>
            </a:r>
            <a:r>
              <a:rPr lang="en-US"/>
              <a:t>-</a:t>
            </a:r>
            <a:r>
              <a:rPr lang="sk-SK"/>
              <a:t>21</a:t>
            </a:r>
            <a:r>
              <a:rPr lang="en-US"/>
              <a:t> </a:t>
            </a:r>
            <a:r>
              <a:rPr lang="sk-SK"/>
              <a:t>3</a:t>
            </a:r>
            <a:r>
              <a:rPr lang="en-US"/>
              <a:t> </a:t>
            </a:r>
            <a:r>
              <a:rPr lang="sk-SK"/>
              <a:t>02</a:t>
            </a:r>
            <a:endParaRPr lang="en-US"/>
          </a:p>
          <a:p>
            <a:pPr>
              <a:defRPr/>
            </a:pPr>
            <a:endParaRPr lang="en-US"/>
          </a:p>
          <a:p>
            <a:pPr>
              <a:defRPr/>
            </a:pPr>
            <a:endParaRPr lang="en-US"/>
          </a:p>
        </p:txBody>
      </p:sp>
    </p:spTree>
    <p:extLst>
      <p:ext uri="{BB962C8B-B14F-4D97-AF65-F5344CB8AC3E}">
        <p14:creationId xmlns:p14="http://schemas.microsoft.com/office/powerpoint/2010/main" val="32868398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pPr>
              <a:defRPr/>
            </a:pPr>
            <a:r>
              <a:rPr lang="en-US"/>
              <a:t>Form</a:t>
            </a:r>
            <a:r>
              <a:rPr lang="sk-SK" err="1"/>
              <a:t>át</a:t>
            </a:r>
            <a:endParaRPr lang="en-US"/>
          </a:p>
        </p:txBody>
      </p:sp>
      <p:sp>
        <p:nvSpPr>
          <p:cNvPr id="100355" name="Obdĺžnik 3"/>
          <p:cNvSpPr>
            <a:spLocks noChangeArrowheads="1"/>
          </p:cNvSpPr>
          <p:nvPr/>
        </p:nvSpPr>
        <p:spPr bwMode="auto">
          <a:xfrm>
            <a:off x="498475" y="1293813"/>
            <a:ext cx="7577138"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b="1"/>
              <a:t>Formát	Význam</a:t>
            </a:r>
          </a:p>
          <a:p>
            <a:r>
              <a:rPr lang="en-US" altLang="en-US"/>
              <a:t>D  	Poradové číslo dňa v týždni </a:t>
            </a:r>
          </a:p>
          <a:p>
            <a:r>
              <a:rPr lang="en-US" altLang="en-US"/>
              <a:t>DD	Číslo dňa v mesiaci </a:t>
            </a:r>
          </a:p>
          <a:p>
            <a:r>
              <a:rPr lang="en-US" altLang="en-US"/>
              <a:t>MM	Číslo mesiaca </a:t>
            </a:r>
          </a:p>
          <a:p>
            <a:r>
              <a:rPr lang="en-US" altLang="en-US"/>
              <a:t>YYYY	Rok - štyri číslice </a:t>
            </a:r>
          </a:p>
          <a:p>
            <a:r>
              <a:rPr lang="en-US" altLang="en-US"/>
              <a:t>RRRR	Rok - štyri číslice</a:t>
            </a:r>
          </a:p>
          <a:p>
            <a:endParaRPr lang="en-US" altLang="en-US"/>
          </a:p>
          <a:p>
            <a:r>
              <a:rPr lang="en-US" altLang="en-US"/>
              <a:t>HH  	Hodiny - 12 hodinový formát </a:t>
            </a:r>
          </a:p>
          <a:p>
            <a:r>
              <a:rPr lang="en-US" altLang="en-US"/>
              <a:t>HH24  	Hodiny - 24 hodinový formát </a:t>
            </a:r>
          </a:p>
          <a:p>
            <a:r>
              <a:rPr lang="en-US" altLang="en-US"/>
              <a:t>Ml  	Minúty</a:t>
            </a:r>
          </a:p>
          <a:p>
            <a:r>
              <a:rPr lang="en-US" altLang="en-US"/>
              <a:t>SS	Sekundy</a:t>
            </a:r>
          </a:p>
        </p:txBody>
      </p:sp>
    </p:spTree>
    <p:extLst>
      <p:ext uri="{BB962C8B-B14F-4D97-AF65-F5344CB8AC3E}">
        <p14:creationId xmlns:p14="http://schemas.microsoft.com/office/powerpoint/2010/main" val="25617691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ĺžnik 1"/>
          <p:cNvSpPr/>
          <p:nvPr/>
        </p:nvSpPr>
        <p:spPr>
          <a:xfrm>
            <a:off x="1043608" y="332656"/>
            <a:ext cx="4922837" cy="350838"/>
          </a:xfrm>
          <a:prstGeom prst="rect">
            <a:avLst/>
          </a:prstGeom>
          <a:solidFill>
            <a:srgbClr val="606060"/>
          </a:solidFill>
        </p:spPr>
        <p:txBody>
          <a:bodyPr wrap="none" lIns="0" tIns="0" rIns="0" bIns="0"/>
          <a:lstStyle/>
          <a:p>
            <a:pPr>
              <a:spcAft>
                <a:spcPts val="833"/>
              </a:spcAft>
              <a:defRPr/>
            </a:pPr>
            <a:r>
              <a:rPr lang="sk" sz="1984" b="1" i="1">
                <a:solidFill>
                  <a:srgbClr val="FFFFFF"/>
                </a:solidFill>
                <a:latin typeface="Century Schoolbook"/>
              </a:rPr>
              <a:t>TO DATE </a:t>
            </a:r>
            <a:r>
              <a:rPr lang="sk" sz="1984" i="1">
                <a:solidFill>
                  <a:srgbClr val="FFFFFF"/>
                </a:solidFill>
                <a:latin typeface="Palatino Linotype"/>
              </a:rPr>
              <a:t>- prevod z reťazca na dátum</a:t>
            </a:r>
          </a:p>
        </p:txBody>
      </p:sp>
      <p:sp>
        <p:nvSpPr>
          <p:cNvPr id="3" name="Obdĺžnik 2"/>
          <p:cNvSpPr/>
          <p:nvPr/>
        </p:nvSpPr>
        <p:spPr>
          <a:xfrm>
            <a:off x="251520" y="1628800"/>
            <a:ext cx="8149977" cy="3264247"/>
          </a:xfrm>
          <a:prstGeom prst="rect">
            <a:avLst/>
          </a:prstGeom>
        </p:spPr>
        <p:txBody>
          <a:bodyPr lIns="0" tIns="0" rIns="0" bIns="0"/>
          <a:lstStyle/>
          <a:p>
            <a:pPr marL="327591">
              <a:spcBef>
                <a:spcPts val="833"/>
              </a:spcBef>
              <a:spcAft>
                <a:spcPts val="833"/>
              </a:spcAft>
              <a:defRPr/>
            </a:pPr>
            <a:r>
              <a:rPr lang="sk" sz="1687" b="1">
                <a:latin typeface="Courier New"/>
              </a:rPr>
              <a:t>TO_DATE(reťazec, formát)</a:t>
            </a:r>
          </a:p>
          <a:p>
            <a:pPr algn="just">
              <a:lnSpc>
                <a:spcPts val="2762"/>
              </a:lnSpc>
              <a:defRPr/>
            </a:pPr>
            <a:r>
              <a:rPr lang="sk">
                <a:latin typeface="Courier New"/>
              </a:rPr>
              <a:t>SQL&gt; select to_date (</a:t>
            </a:r>
            <a:r>
              <a:rPr lang="en-US">
                <a:latin typeface="Courier New"/>
              </a:rPr>
              <a:t>’22</a:t>
            </a:r>
            <a:r>
              <a:rPr lang="sk">
                <a:latin typeface="Courier New"/>
              </a:rPr>
              <a:t>.2.2021</a:t>
            </a:r>
            <a:r>
              <a:rPr lang="en-US">
                <a:latin typeface="Courier New"/>
              </a:rPr>
              <a:t>’</a:t>
            </a:r>
            <a:r>
              <a:rPr lang="sk">
                <a:latin typeface="Courier New"/>
              </a:rPr>
              <a:t>,</a:t>
            </a:r>
            <a:r>
              <a:rPr lang="en-US">
                <a:latin typeface="Courier New"/>
              </a:rPr>
              <a:t>’</a:t>
            </a:r>
            <a:r>
              <a:rPr lang="sk">
                <a:latin typeface="Courier New"/>
              </a:rPr>
              <a:t>DD.MM.YYYY</a:t>
            </a:r>
            <a:r>
              <a:rPr lang="en-US">
                <a:latin typeface="Courier New"/>
              </a:rPr>
              <a:t>’</a:t>
            </a:r>
            <a:r>
              <a:rPr lang="sk">
                <a:latin typeface="Courier New"/>
              </a:rPr>
              <a:t>) from dual; </a:t>
            </a:r>
            <a:endParaRPr lang="en-US">
              <a:latin typeface="Courier New"/>
            </a:endParaRPr>
          </a:p>
          <a:p>
            <a:pPr algn="just">
              <a:lnSpc>
                <a:spcPts val="2762"/>
              </a:lnSpc>
              <a:defRPr/>
            </a:pPr>
            <a:r>
              <a:rPr lang="en-US">
                <a:latin typeface="Courier New"/>
              </a:rPr>
              <a:t>AK </a:t>
            </a:r>
          </a:p>
          <a:p>
            <a:pPr algn="just">
              <a:lnSpc>
                <a:spcPts val="2762"/>
              </a:lnSpc>
              <a:defRPr/>
            </a:pPr>
            <a:r>
              <a:rPr lang="en-US" b="1">
                <a:latin typeface="Courier New"/>
              </a:rPr>
              <a:t>ALTER SESSION SET NLS_TERRITORY = 'AMERICA';</a:t>
            </a:r>
          </a:p>
          <a:p>
            <a:pPr algn="just">
              <a:lnSpc>
                <a:spcPts val="2762"/>
              </a:lnSpc>
              <a:defRPr/>
            </a:pPr>
            <a:r>
              <a:rPr lang="sk">
                <a:latin typeface="Courier New"/>
              </a:rPr>
              <a:t>T</a:t>
            </a:r>
            <a:r>
              <a:rPr lang="en-US">
                <a:latin typeface="Courier New"/>
              </a:rPr>
              <a:t>O</a:t>
            </a:r>
            <a:r>
              <a:rPr lang="sk">
                <a:latin typeface="Courier New"/>
              </a:rPr>
              <a:t>_DATE(</a:t>
            </a:r>
            <a:r>
              <a:rPr lang="en-US">
                <a:latin typeface="Courier New"/>
              </a:rPr>
              <a:t>’</a:t>
            </a:r>
          </a:p>
          <a:p>
            <a:pPr algn="just">
              <a:lnSpc>
                <a:spcPts val="2762"/>
              </a:lnSpc>
              <a:defRPr/>
            </a:pPr>
            <a:r>
              <a:rPr lang="en-US">
                <a:latin typeface="Courier New"/>
              </a:rPr>
              <a:t>2</a:t>
            </a:r>
            <a:r>
              <a:rPr lang="sk-SK">
                <a:latin typeface="Courier New"/>
              </a:rPr>
              <a:t>2</a:t>
            </a:r>
            <a:r>
              <a:rPr lang="sk" b="1">
                <a:latin typeface="Courier New"/>
              </a:rPr>
              <a:t>-</a:t>
            </a:r>
            <a:r>
              <a:rPr lang="en-US" b="1">
                <a:latin typeface="Courier New"/>
              </a:rPr>
              <a:t>FEB</a:t>
            </a:r>
            <a:r>
              <a:rPr lang="sk" b="1">
                <a:latin typeface="Courier New"/>
              </a:rPr>
              <a:t>-2</a:t>
            </a:r>
            <a:r>
              <a:rPr lang="en-US" b="1">
                <a:latin typeface="Courier New"/>
              </a:rPr>
              <a:t>1</a:t>
            </a:r>
          </a:p>
          <a:p>
            <a:pPr algn="just">
              <a:lnSpc>
                <a:spcPts val="2762"/>
              </a:lnSpc>
              <a:defRPr/>
            </a:pPr>
            <a:r>
              <a:rPr lang="en-US" b="1">
                <a:latin typeface="Courier New"/>
              </a:rPr>
              <a:t>ALTER SESSION SET NLS_TERRITORY = 'SLOVAKIA’;</a:t>
            </a:r>
          </a:p>
          <a:p>
            <a:pPr algn="just">
              <a:lnSpc>
                <a:spcPts val="2762"/>
              </a:lnSpc>
              <a:defRPr/>
            </a:pPr>
            <a:r>
              <a:rPr lang="sk">
                <a:latin typeface="Courier New"/>
              </a:rPr>
              <a:t>T</a:t>
            </a:r>
            <a:r>
              <a:rPr lang="en-US">
                <a:latin typeface="Courier New"/>
              </a:rPr>
              <a:t>O</a:t>
            </a:r>
            <a:r>
              <a:rPr lang="sk">
                <a:latin typeface="Courier New"/>
              </a:rPr>
              <a:t>_DATE(</a:t>
            </a:r>
            <a:r>
              <a:rPr lang="en-US">
                <a:latin typeface="Courier New"/>
              </a:rPr>
              <a:t>’</a:t>
            </a:r>
          </a:p>
          <a:p>
            <a:pPr algn="just">
              <a:lnSpc>
                <a:spcPts val="2762"/>
              </a:lnSpc>
              <a:defRPr/>
            </a:pPr>
            <a:r>
              <a:rPr lang="en-US">
                <a:latin typeface="Courier New"/>
              </a:rPr>
              <a:t>2</a:t>
            </a:r>
            <a:r>
              <a:rPr lang="sk-SK">
                <a:latin typeface="Courier New"/>
              </a:rPr>
              <a:t>2</a:t>
            </a:r>
            <a:r>
              <a:rPr lang="en-US" b="1">
                <a:latin typeface="Courier New"/>
              </a:rPr>
              <a:t>.2.</a:t>
            </a:r>
            <a:r>
              <a:rPr lang="sk" b="1">
                <a:latin typeface="Courier New"/>
              </a:rPr>
              <a:t>2</a:t>
            </a:r>
            <a:r>
              <a:rPr lang="en-US" b="1">
                <a:latin typeface="Courier New"/>
              </a:rPr>
              <a:t>1</a:t>
            </a:r>
          </a:p>
          <a:p>
            <a:pPr algn="just">
              <a:lnSpc>
                <a:spcPts val="2762"/>
              </a:lnSpc>
              <a:defRPr/>
            </a:pPr>
            <a:endParaRPr lang="sk" b="1">
              <a:latin typeface="Courier New"/>
            </a:endParaRPr>
          </a:p>
        </p:txBody>
      </p:sp>
      <p:sp>
        <p:nvSpPr>
          <p:cNvPr id="4" name="Obdĺžnik 3"/>
          <p:cNvSpPr/>
          <p:nvPr/>
        </p:nvSpPr>
        <p:spPr>
          <a:xfrm>
            <a:off x="5848350" y="6423025"/>
            <a:ext cx="876300" cy="187325"/>
          </a:xfrm>
          <a:prstGeom prst="rect">
            <a:avLst/>
          </a:prstGeom>
        </p:spPr>
        <p:txBody>
          <a:bodyPr wrap="none" lIns="0" tIns="0" rIns="0" bIns="0"/>
          <a:lstStyle/>
          <a:p>
            <a:pPr>
              <a:defRPr/>
            </a:pPr>
            <a:r>
              <a:rPr lang="sk" sz="794" i="1">
                <a:solidFill>
                  <a:srgbClr val="D4D4D4"/>
                </a:solidFill>
                <a:latin typeface="SimHei"/>
              </a:rPr>
              <a:t>&lt;</a:t>
            </a:r>
            <a:r>
              <a:rPr lang="sk" sz="794">
                <a:solidFill>
                  <a:srgbClr val="D4D4D4"/>
                </a:solidFill>
                <a:latin typeface="Arial"/>
              </a:rPr>
              <a:t> □ ► -4 ifjP</a:t>
            </a:r>
          </a:p>
        </p:txBody>
      </p:sp>
      <p:sp>
        <p:nvSpPr>
          <p:cNvPr id="5" name="Obdĺžnik 4"/>
          <p:cNvSpPr/>
          <p:nvPr/>
        </p:nvSpPr>
        <p:spPr>
          <a:xfrm>
            <a:off x="8545513" y="6423025"/>
            <a:ext cx="217487" cy="187325"/>
          </a:xfrm>
          <a:prstGeom prst="rect">
            <a:avLst/>
          </a:prstGeom>
        </p:spPr>
        <p:txBody>
          <a:bodyPr wrap="none" lIns="0" tIns="0" rIns="0" bIns="0"/>
          <a:lstStyle/>
          <a:p>
            <a:pPr>
              <a:defRPr/>
            </a:pPr>
            <a:r>
              <a:rPr lang="sk" sz="992" spc="-99">
                <a:solidFill>
                  <a:srgbClr val="D4D4D4"/>
                </a:solidFill>
                <a:latin typeface="Arial"/>
              </a:rPr>
              <a:t>'O</a:t>
            </a:r>
          </a:p>
        </p:txBody>
      </p:sp>
    </p:spTree>
    <p:extLst>
      <p:ext uri="{BB962C8B-B14F-4D97-AF65-F5344CB8AC3E}">
        <p14:creationId xmlns:p14="http://schemas.microsoft.com/office/powerpoint/2010/main" val="3553052589"/>
      </p:ext>
    </p:extLst>
  </p:cSld>
  <p:clrMapOvr>
    <a:masterClrMapping/>
  </p:clrMapOvr>
  <p:transition spd="med">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ĺžnik 1"/>
          <p:cNvSpPr/>
          <p:nvPr/>
        </p:nvSpPr>
        <p:spPr>
          <a:xfrm>
            <a:off x="939800" y="481013"/>
            <a:ext cx="7008813" cy="331787"/>
          </a:xfrm>
          <a:prstGeom prst="rect">
            <a:avLst/>
          </a:prstGeom>
          <a:solidFill>
            <a:srgbClr val="606060"/>
          </a:solidFill>
        </p:spPr>
        <p:txBody>
          <a:bodyPr wrap="none" lIns="0" tIns="0" rIns="0" bIns="0"/>
          <a:lstStyle/>
          <a:p>
            <a:pPr>
              <a:defRPr/>
            </a:pPr>
            <a:r>
              <a:rPr lang="sk" sz="2183" i="1">
                <a:solidFill>
                  <a:srgbClr val="FFFFFF"/>
                </a:solidFill>
                <a:latin typeface="Palatino Linotype"/>
              </a:rPr>
              <a:t>ADD-MONTHS - pridaj k dátumu zadaný počet mesiacov</a:t>
            </a:r>
          </a:p>
        </p:txBody>
      </p:sp>
      <p:sp>
        <p:nvSpPr>
          <p:cNvPr id="3" name="Obdĺžnik 2"/>
          <p:cNvSpPr/>
          <p:nvPr/>
        </p:nvSpPr>
        <p:spPr>
          <a:xfrm>
            <a:off x="682625" y="1260475"/>
            <a:ext cx="7974013" cy="4216400"/>
          </a:xfrm>
          <a:prstGeom prst="rect">
            <a:avLst/>
          </a:prstGeom>
        </p:spPr>
        <p:txBody>
          <a:bodyPr lIns="0" tIns="0" rIns="0" bIns="0"/>
          <a:lstStyle/>
          <a:p>
            <a:pPr marL="327591">
              <a:spcAft>
                <a:spcPts val="1250"/>
              </a:spcAft>
              <a:defRPr/>
            </a:pPr>
            <a:r>
              <a:rPr lang="sk" sz="1687" b="1">
                <a:latin typeface="Courier New"/>
              </a:rPr>
              <a:t>ADD_MONTHS(dátum, pocet_mesiacov)</a:t>
            </a:r>
          </a:p>
          <a:p>
            <a:pPr>
              <a:lnSpc>
                <a:spcPts val="2762"/>
              </a:lnSpc>
              <a:defRPr/>
            </a:pPr>
            <a:r>
              <a:rPr lang="sk">
                <a:latin typeface="Courier New"/>
              </a:rPr>
              <a:t>SQL&gt; select sysdate, </a:t>
            </a:r>
            <a:endParaRPr lang="en-US">
              <a:latin typeface="Courier New"/>
            </a:endParaRPr>
          </a:p>
          <a:p>
            <a:pPr>
              <a:lnSpc>
                <a:spcPts val="2762"/>
              </a:lnSpc>
              <a:defRPr/>
            </a:pPr>
            <a:r>
              <a:rPr lang="en-US">
                <a:latin typeface="Courier New"/>
              </a:rPr>
              <a:t>            </a:t>
            </a:r>
            <a:r>
              <a:rPr lang="sk">
                <a:latin typeface="Courier New"/>
              </a:rPr>
              <a:t>add_months( sysdate, 2), </a:t>
            </a:r>
            <a:r>
              <a:rPr lang="en-US">
                <a:latin typeface="Courier New"/>
              </a:rPr>
              <a:t>          			</a:t>
            </a:r>
            <a:r>
              <a:rPr lang="sk">
                <a:latin typeface="Courier New"/>
              </a:rPr>
              <a:t>add_months(sysdate, -2) </a:t>
            </a:r>
            <a:endParaRPr lang="en-US">
              <a:latin typeface="Courier New"/>
            </a:endParaRPr>
          </a:p>
          <a:p>
            <a:pPr>
              <a:lnSpc>
                <a:spcPts val="2762"/>
              </a:lnSpc>
              <a:defRPr/>
            </a:pPr>
            <a:r>
              <a:rPr lang="en-US">
                <a:latin typeface="Courier New"/>
              </a:rPr>
              <a:t>	</a:t>
            </a:r>
            <a:r>
              <a:rPr lang="sk">
                <a:latin typeface="Courier New"/>
              </a:rPr>
              <a:t>from dual; </a:t>
            </a:r>
            <a:endParaRPr lang="en-US">
              <a:latin typeface="Courier New"/>
            </a:endParaRPr>
          </a:p>
          <a:p>
            <a:pPr>
              <a:lnSpc>
                <a:spcPts val="2762"/>
              </a:lnSpc>
              <a:defRPr/>
            </a:pPr>
            <a:endParaRPr lang="en-US">
              <a:latin typeface="Courier New"/>
            </a:endParaRPr>
          </a:p>
          <a:p>
            <a:pPr>
              <a:lnSpc>
                <a:spcPts val="2762"/>
              </a:lnSpc>
              <a:defRPr/>
            </a:pPr>
            <a:r>
              <a:rPr lang="sk">
                <a:latin typeface="Courier New"/>
              </a:rPr>
              <a:t>SYSDATE </a:t>
            </a:r>
            <a:r>
              <a:rPr lang="en-US">
                <a:latin typeface="Courier New"/>
              </a:rPr>
              <a:t>	</a:t>
            </a:r>
            <a:r>
              <a:rPr lang="sk">
                <a:latin typeface="Courier New"/>
              </a:rPr>
              <a:t>ADD_M</a:t>
            </a:r>
            <a:r>
              <a:rPr lang="en-US">
                <a:latin typeface="Courier New"/>
              </a:rPr>
              <a:t>O</a:t>
            </a:r>
            <a:r>
              <a:rPr lang="sk">
                <a:latin typeface="Courier New"/>
              </a:rPr>
              <a:t>NTH</a:t>
            </a:r>
            <a:r>
              <a:rPr lang="en-US">
                <a:latin typeface="Courier New"/>
              </a:rPr>
              <a:t>S</a:t>
            </a:r>
            <a:r>
              <a:rPr lang="sk">
                <a:latin typeface="Courier New"/>
              </a:rPr>
              <a:t> </a:t>
            </a:r>
            <a:r>
              <a:rPr lang="en-US">
                <a:latin typeface="Courier New"/>
              </a:rPr>
              <a:t>	</a:t>
            </a:r>
            <a:r>
              <a:rPr lang="sk">
                <a:latin typeface="Courier New"/>
              </a:rPr>
              <a:t>ADD_M</a:t>
            </a:r>
            <a:r>
              <a:rPr lang="en-US">
                <a:latin typeface="Courier New"/>
              </a:rPr>
              <a:t>O</a:t>
            </a:r>
            <a:r>
              <a:rPr lang="sk">
                <a:latin typeface="Courier New"/>
              </a:rPr>
              <a:t>NTH</a:t>
            </a:r>
            <a:r>
              <a:rPr lang="en-US">
                <a:latin typeface="Courier New"/>
              </a:rPr>
              <a:t>S</a:t>
            </a:r>
            <a:r>
              <a:rPr lang="sk">
                <a:latin typeface="Courier New"/>
              </a:rPr>
              <a:t> </a:t>
            </a:r>
            <a:endParaRPr lang="en-US">
              <a:latin typeface="Courier New"/>
            </a:endParaRPr>
          </a:p>
          <a:p>
            <a:pPr>
              <a:lnSpc>
                <a:spcPts val="2762"/>
              </a:lnSpc>
              <a:defRPr/>
            </a:pPr>
            <a:r>
              <a:rPr lang="en-US">
                <a:latin typeface="Courier New"/>
              </a:rPr>
              <a:t>____________________________________</a:t>
            </a:r>
          </a:p>
          <a:p>
            <a:pPr>
              <a:lnSpc>
                <a:spcPts val="2762"/>
              </a:lnSpc>
              <a:defRPr/>
            </a:pPr>
            <a:r>
              <a:rPr lang="sk">
                <a:latin typeface="Courier New"/>
              </a:rPr>
              <a:t>26.02.22	26.04.22	26.12.21</a:t>
            </a:r>
          </a:p>
        </p:txBody>
      </p:sp>
      <p:sp>
        <p:nvSpPr>
          <p:cNvPr id="4" name="Obdĺžnik 3"/>
          <p:cNvSpPr/>
          <p:nvPr/>
        </p:nvSpPr>
        <p:spPr>
          <a:xfrm>
            <a:off x="5848350" y="6423025"/>
            <a:ext cx="876300" cy="187325"/>
          </a:xfrm>
          <a:prstGeom prst="rect">
            <a:avLst/>
          </a:prstGeom>
        </p:spPr>
        <p:txBody>
          <a:bodyPr wrap="none" lIns="0" tIns="0" rIns="0" bIns="0"/>
          <a:lstStyle/>
          <a:p>
            <a:pPr>
              <a:defRPr/>
            </a:pPr>
            <a:r>
              <a:rPr lang="sk" sz="794" i="1">
                <a:solidFill>
                  <a:srgbClr val="D4D4D4"/>
                </a:solidFill>
                <a:latin typeface="SimHei"/>
              </a:rPr>
              <a:t>&lt;</a:t>
            </a:r>
            <a:r>
              <a:rPr lang="sk" sz="1290">
                <a:solidFill>
                  <a:srgbClr val="D4D4D4"/>
                </a:solidFill>
                <a:latin typeface="Constantia"/>
              </a:rPr>
              <a:t> □ ► </a:t>
            </a:r>
            <a:r>
              <a:rPr lang="sk" sz="794">
                <a:solidFill>
                  <a:srgbClr val="D4D4D4"/>
                </a:solidFill>
                <a:latin typeface="Palatino Linotype"/>
              </a:rPr>
              <a:t>-4</a:t>
            </a:r>
            <a:r>
              <a:rPr lang="sk" sz="1290">
                <a:solidFill>
                  <a:srgbClr val="D4D4D4"/>
                </a:solidFill>
                <a:latin typeface="Constantia"/>
              </a:rPr>
              <a:t> ©</a:t>
            </a:r>
          </a:p>
        </p:txBody>
      </p:sp>
    </p:spTree>
    <p:extLst>
      <p:ext uri="{BB962C8B-B14F-4D97-AF65-F5344CB8AC3E}">
        <p14:creationId xmlns:p14="http://schemas.microsoft.com/office/powerpoint/2010/main" val="4057969143"/>
      </p:ext>
    </p:extLst>
  </p:cSld>
  <p:clrMapOvr>
    <a:masterClrMapping/>
  </p:clrMapOvr>
  <p:transition spd="med">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Obrázok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39738"/>
            <a:ext cx="8035925"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7" name="Obdĺžnik 2"/>
          <p:cNvSpPr>
            <a:spLocks noChangeArrowheads="1"/>
          </p:cNvSpPr>
          <p:nvPr/>
        </p:nvSpPr>
        <p:spPr bwMode="auto">
          <a:xfrm>
            <a:off x="296863" y="1385888"/>
            <a:ext cx="8523287" cy="440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nSpc>
                <a:spcPts val="2763"/>
              </a:lnSpc>
            </a:pPr>
            <a:r>
              <a:rPr lang="en-US" altLang="en-US" b="1">
                <a:latin typeface="Courier New" panose="02070309020205020404" pitchFamily="49" charset="0"/>
              </a:rPr>
              <a:t>SQL&gt; select </a:t>
            </a:r>
            <a:r>
              <a:rPr lang="en-US" altLang="en-US" b="1" err="1">
                <a:latin typeface="Courier New" panose="02070309020205020404" pitchFamily="49" charset="0"/>
              </a:rPr>
              <a:t>sysdate</a:t>
            </a:r>
            <a:r>
              <a:rPr lang="en-US" altLang="en-US" b="1">
                <a:latin typeface="Courier New" panose="02070309020205020404" pitchFamily="49" charset="0"/>
              </a:rPr>
              <a:t>, </a:t>
            </a:r>
            <a:r>
              <a:rPr lang="en-US" altLang="en-US" b="1" err="1">
                <a:latin typeface="Courier New" panose="02070309020205020404" pitchFamily="49" charset="0"/>
              </a:rPr>
              <a:t>last_day</a:t>
            </a:r>
            <a:r>
              <a:rPr lang="en-US" altLang="en-US" b="1">
                <a:latin typeface="Courier New" panose="02070309020205020404" pitchFamily="49" charset="0"/>
              </a:rPr>
              <a:t>( </a:t>
            </a:r>
            <a:r>
              <a:rPr lang="en-US" altLang="en-US" b="1" err="1">
                <a:latin typeface="Courier New" panose="02070309020205020404" pitchFamily="49" charset="0"/>
              </a:rPr>
              <a:t>sysdate</a:t>
            </a:r>
            <a:r>
              <a:rPr lang="en-US" altLang="en-US" b="1">
                <a:latin typeface="Courier New" panose="02070309020205020404" pitchFamily="49" charset="0"/>
              </a:rPr>
              <a:t> ) from dual;</a:t>
            </a:r>
          </a:p>
          <a:p>
            <a:pPr>
              <a:lnSpc>
                <a:spcPts val="2763"/>
              </a:lnSpc>
            </a:pPr>
            <a:r>
              <a:rPr lang="en-US" altLang="en-US">
                <a:latin typeface="Courier New" panose="02070309020205020404" pitchFamily="49" charset="0"/>
              </a:rPr>
              <a:t>SYSDATE 	LAST_DAY(</a:t>
            </a:r>
          </a:p>
          <a:p>
            <a:pPr>
              <a:lnSpc>
                <a:spcPts val="2763"/>
              </a:lnSpc>
            </a:pPr>
            <a:r>
              <a:rPr lang="en-US" altLang="en-US">
                <a:latin typeface="Courier New" panose="02070309020205020404" pitchFamily="49" charset="0"/>
              </a:rPr>
              <a:t>---------  ------------</a:t>
            </a:r>
          </a:p>
          <a:p>
            <a:pPr>
              <a:lnSpc>
                <a:spcPts val="2763"/>
              </a:lnSpc>
            </a:pPr>
            <a:r>
              <a:rPr lang="en-US" altLang="en-US">
                <a:latin typeface="Courier New" panose="02070309020205020404" pitchFamily="49" charset="0"/>
              </a:rPr>
              <a:t>22-FEB-</a:t>
            </a:r>
            <a:r>
              <a:rPr lang="sk-SK" altLang="en-US">
                <a:latin typeface="Courier New" panose="02070309020205020404" pitchFamily="49" charset="0"/>
              </a:rPr>
              <a:t>19</a:t>
            </a:r>
            <a:r>
              <a:rPr lang="en-US" altLang="en-US">
                <a:latin typeface="Courier New" panose="02070309020205020404" pitchFamily="49" charset="0"/>
              </a:rPr>
              <a:t>  28-FEB-</a:t>
            </a:r>
            <a:r>
              <a:rPr lang="sk-SK" altLang="en-US">
                <a:latin typeface="Courier New" panose="02070309020205020404" pitchFamily="49" charset="0"/>
              </a:rPr>
              <a:t>19</a:t>
            </a:r>
          </a:p>
          <a:p>
            <a:pPr>
              <a:lnSpc>
                <a:spcPts val="2763"/>
              </a:lnSpc>
            </a:pPr>
            <a:r>
              <a:rPr lang="en-US" altLang="en-US" b="1">
                <a:latin typeface="Courier New" panose="02070309020205020404" pitchFamily="49" charset="0"/>
              </a:rPr>
              <a:t>SQL&gt; select </a:t>
            </a:r>
            <a:r>
              <a:rPr lang="en-US" altLang="en-US" b="1" err="1">
                <a:latin typeface="Courier New" panose="02070309020205020404" pitchFamily="49" charset="0"/>
              </a:rPr>
              <a:t>sysdate</a:t>
            </a:r>
            <a:r>
              <a:rPr lang="en-US" altLang="en-US" b="1">
                <a:latin typeface="Courier New" panose="02070309020205020404" pitchFamily="49" charset="0"/>
              </a:rPr>
              <a:t>, </a:t>
            </a:r>
            <a:r>
              <a:rPr lang="en-US" altLang="en-US" b="1" err="1">
                <a:latin typeface="Courier New" panose="02070309020205020404" pitchFamily="49" charset="0"/>
              </a:rPr>
              <a:t>last_day</a:t>
            </a:r>
            <a:r>
              <a:rPr lang="en-US" altLang="en-US" b="1">
                <a:latin typeface="Courier New" panose="02070309020205020404" pitchFamily="49" charset="0"/>
              </a:rPr>
              <a:t>( </a:t>
            </a:r>
            <a:r>
              <a:rPr lang="en-US" altLang="en-US" b="1" err="1">
                <a:latin typeface="Courier New" panose="02070309020205020404" pitchFamily="49" charset="0"/>
              </a:rPr>
              <a:t>sysdate</a:t>
            </a:r>
            <a:r>
              <a:rPr lang="en-US" altLang="en-US" b="1">
                <a:latin typeface="Courier New" panose="02070309020205020404" pitchFamily="49" charset="0"/>
              </a:rPr>
              <a:t> ) from dual;</a:t>
            </a:r>
          </a:p>
          <a:p>
            <a:pPr>
              <a:lnSpc>
                <a:spcPts val="2763"/>
              </a:lnSpc>
            </a:pPr>
            <a:r>
              <a:rPr lang="en-US" altLang="en-US">
                <a:latin typeface="Courier New" panose="02070309020205020404" pitchFamily="49" charset="0"/>
              </a:rPr>
              <a:t>SYSDATE 	LAST_DAY(</a:t>
            </a:r>
          </a:p>
          <a:p>
            <a:pPr>
              <a:lnSpc>
                <a:spcPts val="2763"/>
              </a:lnSpc>
            </a:pPr>
            <a:r>
              <a:rPr lang="en-US" altLang="en-US">
                <a:latin typeface="Courier New" panose="02070309020205020404" pitchFamily="49" charset="0"/>
              </a:rPr>
              <a:t>---------  ------------</a:t>
            </a:r>
          </a:p>
          <a:p>
            <a:pPr>
              <a:lnSpc>
                <a:spcPts val="2763"/>
              </a:lnSpc>
            </a:pPr>
            <a:r>
              <a:rPr lang="en-US" altLang="en-US">
                <a:latin typeface="Courier New" panose="02070309020205020404" pitchFamily="49" charset="0"/>
              </a:rPr>
              <a:t>22-FEB-</a:t>
            </a:r>
            <a:r>
              <a:rPr lang="sk-SK" altLang="en-US">
                <a:latin typeface="Courier New" panose="02070309020205020404" pitchFamily="49" charset="0"/>
              </a:rPr>
              <a:t>20</a:t>
            </a:r>
            <a:r>
              <a:rPr lang="en-US" altLang="en-US">
                <a:latin typeface="Courier New" panose="02070309020205020404" pitchFamily="49" charset="0"/>
              </a:rPr>
              <a:t>  2</a:t>
            </a:r>
            <a:r>
              <a:rPr lang="sk-SK" altLang="en-US">
                <a:latin typeface="Courier New" panose="02070309020205020404" pitchFamily="49" charset="0"/>
              </a:rPr>
              <a:t>9</a:t>
            </a:r>
            <a:r>
              <a:rPr lang="en-US" altLang="en-US">
                <a:latin typeface="Courier New" panose="02070309020205020404" pitchFamily="49" charset="0"/>
              </a:rPr>
              <a:t>-FEB-</a:t>
            </a:r>
            <a:r>
              <a:rPr lang="sk-SK" altLang="en-US">
                <a:latin typeface="Courier New" panose="02070309020205020404" pitchFamily="49" charset="0"/>
              </a:rPr>
              <a:t>20</a:t>
            </a:r>
            <a:endParaRPr lang="en-US" altLang="en-US">
              <a:latin typeface="Courier New" panose="02070309020205020404" pitchFamily="49" charset="0"/>
            </a:endParaRPr>
          </a:p>
        </p:txBody>
      </p:sp>
      <p:sp>
        <p:nvSpPr>
          <p:cNvPr id="4" name="Obdĺžnik 3"/>
          <p:cNvSpPr/>
          <p:nvPr/>
        </p:nvSpPr>
        <p:spPr>
          <a:xfrm>
            <a:off x="5848350" y="6423025"/>
            <a:ext cx="876300" cy="187325"/>
          </a:xfrm>
          <a:prstGeom prst="rect">
            <a:avLst/>
          </a:prstGeom>
        </p:spPr>
        <p:txBody>
          <a:bodyPr wrap="none" lIns="0" tIns="0" rIns="0" bIns="0"/>
          <a:lstStyle/>
          <a:p>
            <a:pPr>
              <a:defRPr/>
            </a:pPr>
            <a:r>
              <a:rPr lang="sk" sz="794" i="1">
                <a:solidFill>
                  <a:srgbClr val="D4D4D4"/>
                </a:solidFill>
                <a:latin typeface="SimHei"/>
              </a:rPr>
              <a:t>&lt;</a:t>
            </a:r>
            <a:r>
              <a:rPr lang="sk" sz="794">
                <a:solidFill>
                  <a:srgbClr val="D4D4D4"/>
                </a:solidFill>
                <a:latin typeface="Arial"/>
              </a:rPr>
              <a:t> □ ► -4 ifjP</a:t>
            </a:r>
          </a:p>
        </p:txBody>
      </p:sp>
    </p:spTree>
    <p:extLst>
      <p:ext uri="{BB962C8B-B14F-4D97-AF65-F5344CB8AC3E}">
        <p14:creationId xmlns:p14="http://schemas.microsoft.com/office/powerpoint/2010/main" val="1273787940"/>
      </p:ext>
    </p:extLst>
  </p:cSld>
  <p:clrMapOvr>
    <a:masterClrMapping/>
  </p:clrMapOvr>
  <p:transition spd="med">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Obrázok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39738"/>
            <a:ext cx="8035925"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7" name="Obdĺžnik 2"/>
          <p:cNvSpPr>
            <a:spLocks noChangeArrowheads="1"/>
          </p:cNvSpPr>
          <p:nvPr/>
        </p:nvSpPr>
        <p:spPr bwMode="auto">
          <a:xfrm>
            <a:off x="251520" y="1604169"/>
            <a:ext cx="8523287" cy="440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nSpc>
                <a:spcPts val="2763"/>
              </a:lnSpc>
            </a:pPr>
            <a:r>
              <a:rPr lang="en-US" altLang="en-US">
                <a:latin typeface="Courier New" panose="02070309020205020404" pitchFamily="49" charset="0"/>
              </a:rPr>
              <a:t>SQL&gt; </a:t>
            </a:r>
            <a:r>
              <a:rPr lang="en-US" altLang="en-US" b="1">
                <a:latin typeface="Courier New" panose="02070309020205020404" pitchFamily="49" charset="0"/>
              </a:rPr>
              <a:t>select </a:t>
            </a:r>
          </a:p>
          <a:p>
            <a:pPr>
              <a:lnSpc>
                <a:spcPts val="2763"/>
              </a:lnSpc>
            </a:pPr>
            <a:r>
              <a:rPr lang="en-US" altLang="en-US" b="1" err="1">
                <a:latin typeface="Courier New" panose="02070309020205020404" pitchFamily="49" charset="0"/>
              </a:rPr>
              <a:t>last_day</a:t>
            </a:r>
            <a:r>
              <a:rPr lang="en-US" altLang="en-US" b="1">
                <a:latin typeface="Courier New" panose="02070309020205020404" pitchFamily="49" charset="0"/>
              </a:rPr>
              <a:t>(</a:t>
            </a:r>
            <a:r>
              <a:rPr lang="en-US" altLang="en-US" b="1" err="1">
                <a:latin typeface="Courier New" panose="02070309020205020404" pitchFamily="49" charset="0"/>
              </a:rPr>
              <a:t>to_date</a:t>
            </a:r>
            <a:r>
              <a:rPr lang="en-US" altLang="en-US" b="1">
                <a:latin typeface="Courier New" panose="02070309020205020404" pitchFamily="49" charset="0"/>
              </a:rPr>
              <a:t>( </a:t>
            </a:r>
            <a:r>
              <a:rPr lang="sk-SK" altLang="en-US" b="1">
                <a:latin typeface="Courier New" panose="02070309020205020404" pitchFamily="49" charset="0"/>
              </a:rPr>
              <a:t>´</a:t>
            </a:r>
            <a:r>
              <a:rPr lang="en-US" altLang="en-US" b="1">
                <a:latin typeface="Courier New" panose="02070309020205020404" pitchFamily="49" charset="0"/>
              </a:rPr>
              <a:t>15.5.20</a:t>
            </a:r>
            <a:r>
              <a:rPr lang="sk-SK" altLang="en-US" b="1">
                <a:latin typeface="Courier New" panose="02070309020205020404" pitchFamily="49" charset="0"/>
              </a:rPr>
              <a:t>20</a:t>
            </a:r>
            <a:r>
              <a:rPr lang="en-US" altLang="en-US" b="1">
                <a:latin typeface="Courier New" panose="02070309020205020404" pitchFamily="49" charset="0"/>
              </a:rPr>
              <a:t>´, ´DD.MM.YYYY´)) </a:t>
            </a:r>
          </a:p>
          <a:p>
            <a:pPr>
              <a:lnSpc>
                <a:spcPts val="2763"/>
              </a:lnSpc>
            </a:pPr>
            <a:r>
              <a:rPr lang="en-US" altLang="en-US" b="1">
                <a:latin typeface="Courier New" panose="02070309020205020404" pitchFamily="49" charset="0"/>
              </a:rPr>
              <a:t>from dual; </a:t>
            </a:r>
          </a:p>
          <a:p>
            <a:pPr>
              <a:lnSpc>
                <a:spcPts val="2763"/>
              </a:lnSpc>
            </a:pPr>
            <a:r>
              <a:rPr lang="en-US" altLang="en-US">
                <a:latin typeface="Courier New" panose="02070309020205020404" pitchFamily="49" charset="0"/>
              </a:rPr>
              <a:t>LAST_DAY(</a:t>
            </a:r>
          </a:p>
          <a:p>
            <a:pPr>
              <a:lnSpc>
                <a:spcPts val="2763"/>
              </a:lnSpc>
            </a:pPr>
            <a:r>
              <a:rPr lang="en-US" altLang="en-US">
                <a:latin typeface="Courier New" panose="02070309020205020404" pitchFamily="49" charset="0"/>
              </a:rPr>
              <a:t>----------</a:t>
            </a:r>
          </a:p>
          <a:p>
            <a:pPr>
              <a:lnSpc>
                <a:spcPts val="2763"/>
              </a:lnSpc>
            </a:pPr>
            <a:r>
              <a:rPr lang="en-US" altLang="en-US">
                <a:latin typeface="Courier New" panose="02070309020205020404" pitchFamily="49" charset="0"/>
              </a:rPr>
              <a:t>31-MAY-</a:t>
            </a:r>
            <a:r>
              <a:rPr lang="sk-SK" altLang="en-US">
                <a:latin typeface="Courier New" panose="02070309020205020404" pitchFamily="49" charset="0"/>
              </a:rPr>
              <a:t>20</a:t>
            </a:r>
            <a:endParaRPr lang="en-US" altLang="en-US">
              <a:latin typeface="Courier New" panose="02070309020205020404" pitchFamily="49" charset="0"/>
            </a:endParaRPr>
          </a:p>
        </p:txBody>
      </p:sp>
      <p:sp>
        <p:nvSpPr>
          <p:cNvPr id="4" name="Obdĺžnik 3"/>
          <p:cNvSpPr/>
          <p:nvPr/>
        </p:nvSpPr>
        <p:spPr>
          <a:xfrm>
            <a:off x="5848350" y="6423025"/>
            <a:ext cx="876300" cy="187325"/>
          </a:xfrm>
          <a:prstGeom prst="rect">
            <a:avLst/>
          </a:prstGeom>
        </p:spPr>
        <p:txBody>
          <a:bodyPr wrap="none" lIns="0" tIns="0" rIns="0" bIns="0"/>
          <a:lstStyle/>
          <a:p>
            <a:pPr>
              <a:defRPr/>
            </a:pPr>
            <a:r>
              <a:rPr lang="sk" sz="794" i="1">
                <a:solidFill>
                  <a:srgbClr val="D4D4D4"/>
                </a:solidFill>
                <a:latin typeface="SimHei"/>
              </a:rPr>
              <a:t>&lt;</a:t>
            </a:r>
            <a:r>
              <a:rPr lang="sk" sz="794">
                <a:solidFill>
                  <a:srgbClr val="D4D4D4"/>
                </a:solidFill>
                <a:latin typeface="Arial"/>
              </a:rPr>
              <a:t> □ ► -4 ifjP</a:t>
            </a:r>
          </a:p>
        </p:txBody>
      </p:sp>
    </p:spTree>
    <p:extLst>
      <p:ext uri="{BB962C8B-B14F-4D97-AF65-F5344CB8AC3E}">
        <p14:creationId xmlns:p14="http://schemas.microsoft.com/office/powerpoint/2010/main" val="1319010481"/>
      </p:ext>
    </p:extLst>
  </p:cSld>
  <p:clrMapOvr>
    <a:masterClrMapping/>
  </p:clrMapOvr>
  <p:transition spd="med">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Obrázok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4650" y="157163"/>
            <a:ext cx="8037513"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1" name="Obdĺžnik 2"/>
          <p:cNvSpPr>
            <a:spLocks noChangeArrowheads="1"/>
          </p:cNvSpPr>
          <p:nvPr/>
        </p:nvSpPr>
        <p:spPr bwMode="auto">
          <a:xfrm>
            <a:off x="242281" y="1071574"/>
            <a:ext cx="76819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00025">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just">
              <a:spcAft>
                <a:spcPts val="413"/>
              </a:spcAft>
            </a:pPr>
            <a:r>
              <a:rPr lang="en-US" altLang="en-US" sz="1400" b="1">
                <a:latin typeface="Courier New" panose="02070309020205020404" pitchFamily="49" charset="0"/>
              </a:rPr>
              <a:t>select </a:t>
            </a:r>
            <a:r>
              <a:rPr lang="en-US" altLang="en-US" sz="1400" b="1" err="1">
                <a:latin typeface="Courier New" panose="02070309020205020404" pitchFamily="49" charset="0"/>
              </a:rPr>
              <a:t>to_char</a:t>
            </a:r>
            <a:r>
              <a:rPr lang="en-US" altLang="en-US" sz="1400" b="1">
                <a:latin typeface="Courier New" panose="02070309020205020404" pitchFamily="49" charset="0"/>
              </a:rPr>
              <a:t>( </a:t>
            </a:r>
            <a:r>
              <a:rPr lang="en-US" altLang="en-US" sz="1400" b="1" err="1">
                <a:latin typeface="Courier New" panose="02070309020205020404" pitchFamily="49" charset="0"/>
              </a:rPr>
              <a:t>sysdate</a:t>
            </a:r>
            <a:r>
              <a:rPr lang="en-US" altLang="en-US" sz="1400" b="1">
                <a:latin typeface="Courier New" panose="02070309020205020404" pitchFamily="49" charset="0"/>
              </a:rPr>
              <a:t> , ’DD.MM.YYYY HH24:MI:SS´) as dl,</a:t>
            </a:r>
          </a:p>
          <a:p>
            <a:pPr algn="just"/>
            <a:r>
              <a:rPr lang="en-US" altLang="en-US" sz="1400" b="1">
                <a:latin typeface="Courier New" panose="02070309020205020404" pitchFamily="49" charset="0"/>
              </a:rPr>
              <a:t>   </a:t>
            </a:r>
            <a:r>
              <a:rPr lang="en-US" altLang="en-US" sz="1400" b="1" err="1">
                <a:latin typeface="Courier New" panose="02070309020205020404" pitchFamily="49" charset="0"/>
              </a:rPr>
              <a:t>to_char</a:t>
            </a:r>
            <a:r>
              <a:rPr lang="en-US" altLang="en-US" sz="1400" b="1">
                <a:latin typeface="Courier New" panose="02070309020205020404" pitchFamily="49" charset="0"/>
              </a:rPr>
              <a:t>( </a:t>
            </a:r>
            <a:r>
              <a:rPr lang="en-US" altLang="en-US" sz="1400" b="1" err="1">
                <a:solidFill>
                  <a:srgbClr val="C00000"/>
                </a:solidFill>
                <a:latin typeface="Courier New" panose="02070309020205020404" pitchFamily="49" charset="0"/>
              </a:rPr>
              <a:t>trunc</a:t>
            </a:r>
            <a:r>
              <a:rPr lang="en-US" altLang="en-US" sz="1400" b="1">
                <a:solidFill>
                  <a:srgbClr val="C00000"/>
                </a:solidFill>
                <a:latin typeface="Courier New" panose="02070309020205020404" pitchFamily="49" charset="0"/>
              </a:rPr>
              <a:t>(</a:t>
            </a:r>
            <a:r>
              <a:rPr lang="en-US" altLang="en-US" sz="1400" b="1" err="1">
                <a:solidFill>
                  <a:srgbClr val="C00000"/>
                </a:solidFill>
                <a:latin typeface="Courier New" panose="02070309020205020404" pitchFamily="49" charset="0"/>
              </a:rPr>
              <a:t>sysdate</a:t>
            </a:r>
            <a:r>
              <a:rPr lang="en-US" altLang="en-US" sz="1400" b="1">
                <a:solidFill>
                  <a:srgbClr val="C00000"/>
                </a:solidFill>
                <a:latin typeface="Courier New" panose="02070309020205020404" pitchFamily="49" charset="0"/>
              </a:rPr>
              <a:t>) </a:t>
            </a:r>
            <a:r>
              <a:rPr lang="en-US" altLang="en-US" sz="1400" b="1">
                <a:latin typeface="Courier New" panose="02070309020205020404" pitchFamily="49" charset="0"/>
              </a:rPr>
              <a:t>,’DD.MM.YYYY HH24:MI:SS</a:t>
            </a:r>
            <a:r>
              <a:rPr lang="en-US" altLang="en-US" sz="1400" b="1" baseline="30000">
                <a:latin typeface="Courier New" panose="02070309020205020404" pitchFamily="49" charset="0"/>
              </a:rPr>
              <a:t>´</a:t>
            </a:r>
            <a:r>
              <a:rPr lang="en-US" altLang="en-US" sz="1400" b="1">
                <a:latin typeface="Courier New" panose="02070309020205020404" pitchFamily="49" charset="0"/>
              </a:rPr>
              <a:t>) as d2,</a:t>
            </a:r>
          </a:p>
        </p:txBody>
      </p:sp>
      <p:sp>
        <p:nvSpPr>
          <p:cNvPr id="4" name="Obdĺžnik 3"/>
          <p:cNvSpPr/>
          <p:nvPr/>
        </p:nvSpPr>
        <p:spPr>
          <a:xfrm>
            <a:off x="239712" y="1666081"/>
            <a:ext cx="8307388" cy="3959225"/>
          </a:xfrm>
          <a:prstGeom prst="rect">
            <a:avLst/>
          </a:prstGeom>
        </p:spPr>
        <p:txBody>
          <a:bodyPr lIns="0" tIns="0" rIns="0" bIns="0"/>
          <a:lstStyle/>
          <a:p>
            <a:pPr marL="201595">
              <a:lnSpc>
                <a:spcPts val="1762"/>
              </a:lnSpc>
              <a:defRPr/>
            </a:pPr>
            <a:r>
              <a:rPr lang="sk" sz="1400" b="1">
                <a:latin typeface="Courier New"/>
              </a:rPr>
              <a:t>   to_char</a:t>
            </a:r>
            <a:r>
              <a:rPr lang="sk" sz="1400" b="1">
                <a:solidFill>
                  <a:srgbClr val="C00000"/>
                </a:solidFill>
                <a:latin typeface="Courier New"/>
              </a:rPr>
              <a:t>( trunc(sysdate, ’DD’)</a:t>
            </a:r>
            <a:r>
              <a:rPr lang="sk" sz="1400" b="1">
                <a:latin typeface="Courier New"/>
              </a:rPr>
              <a:t> , ’DD.MM.YYYY HH24:MI:SS´) as d3</a:t>
            </a:r>
          </a:p>
          <a:p>
            <a:pPr marL="201595">
              <a:lnSpc>
                <a:spcPts val="1762"/>
              </a:lnSpc>
              <a:defRPr/>
            </a:pPr>
            <a:r>
              <a:rPr lang="sk" sz="1400" b="1">
                <a:latin typeface="Courier New"/>
              </a:rPr>
              <a:t>from dual</a:t>
            </a:r>
          </a:p>
          <a:p>
            <a:pPr algn="just">
              <a:lnSpc>
                <a:spcPts val="2762"/>
              </a:lnSpc>
              <a:defRPr/>
            </a:pPr>
            <a:r>
              <a:rPr lang="sk" sz="1400" b="1">
                <a:latin typeface="Courier New"/>
              </a:rPr>
              <a:t>SQL&gt; /</a:t>
            </a:r>
          </a:p>
          <a:p>
            <a:pPr algn="just">
              <a:lnSpc>
                <a:spcPts val="2762"/>
              </a:lnSpc>
              <a:defRPr/>
            </a:pPr>
            <a:r>
              <a:rPr lang="sk" sz="1400" b="1">
                <a:latin typeface="Courier New"/>
              </a:rPr>
              <a:t>Dl    			D2    			D3</a:t>
            </a:r>
          </a:p>
          <a:p>
            <a:pPr algn="just">
              <a:lnSpc>
                <a:spcPts val="2762"/>
              </a:lnSpc>
              <a:defRPr/>
            </a:pPr>
            <a:r>
              <a:rPr lang="sk" sz="1400" b="1">
                <a:latin typeface="Courier New"/>
              </a:rPr>
              <a:t>----------------------------------------------------------------</a:t>
            </a:r>
          </a:p>
          <a:p>
            <a:pPr algn="just">
              <a:lnSpc>
                <a:spcPts val="2762"/>
              </a:lnSpc>
              <a:defRPr/>
            </a:pPr>
            <a:r>
              <a:rPr lang="sk" sz="1400" b="1">
                <a:latin typeface="Courier New"/>
              </a:rPr>
              <a:t>10.02.2020    13:16:34 10.02.2020 </a:t>
            </a:r>
            <a:r>
              <a:rPr lang="sk" sz="1400" b="1">
                <a:solidFill>
                  <a:srgbClr val="C00000"/>
                </a:solidFill>
                <a:latin typeface="Courier New"/>
              </a:rPr>
              <a:t>00:00:00</a:t>
            </a:r>
            <a:r>
              <a:rPr lang="sk" sz="1400" b="1">
                <a:latin typeface="Courier New"/>
              </a:rPr>
              <a:t>    10.02.2020 </a:t>
            </a:r>
            <a:r>
              <a:rPr lang="sk" sz="1400" b="1">
                <a:solidFill>
                  <a:srgbClr val="C00000"/>
                </a:solidFill>
                <a:latin typeface="Courier New"/>
              </a:rPr>
              <a:t>00:00:00</a:t>
            </a:r>
          </a:p>
          <a:p>
            <a:pPr algn="just">
              <a:lnSpc>
                <a:spcPts val="2762"/>
              </a:lnSpc>
              <a:defRPr/>
            </a:pPr>
            <a:r>
              <a:rPr lang="sk" sz="1400" b="1">
                <a:latin typeface="Courier New"/>
              </a:rPr>
              <a:t>select to_char( sysdate , ’DD.MM.YYYY HH24:MI:SS´) as dl,</a:t>
            </a:r>
          </a:p>
          <a:p>
            <a:pPr marL="201595" algn="just">
              <a:spcAft>
                <a:spcPts val="417"/>
              </a:spcAft>
              <a:defRPr/>
            </a:pPr>
            <a:r>
              <a:rPr lang="sk" sz="1400" b="1">
                <a:solidFill>
                  <a:schemeClr val="bg2">
                    <a:lumMod val="50000"/>
                  </a:schemeClr>
                </a:solidFill>
                <a:latin typeface="Courier New"/>
              </a:rPr>
              <a:t>to_char( trunc(sysdate,´MI´),</a:t>
            </a:r>
            <a:r>
              <a:rPr lang="sk" sz="1400" b="1">
                <a:latin typeface="Courier New"/>
              </a:rPr>
              <a:t>’DD.MM.YYYY HH24:MI:SS´) as d4,</a:t>
            </a:r>
          </a:p>
          <a:p>
            <a:pPr marL="201595">
              <a:lnSpc>
                <a:spcPts val="1762"/>
              </a:lnSpc>
              <a:defRPr/>
            </a:pPr>
            <a:r>
              <a:rPr lang="sk" sz="1400" b="1">
                <a:latin typeface="Courier New"/>
              </a:rPr>
              <a:t>to_char</a:t>
            </a:r>
            <a:r>
              <a:rPr lang="sk" sz="1400" b="1">
                <a:solidFill>
                  <a:srgbClr val="7030A0"/>
                </a:solidFill>
                <a:latin typeface="Courier New"/>
              </a:rPr>
              <a:t>( trunc(sysdate, ´YYYY´) </a:t>
            </a:r>
            <a:r>
              <a:rPr lang="sk" sz="1400" b="1">
                <a:latin typeface="Courier New"/>
              </a:rPr>
              <a:t>, ’DD.MM.YYYY HH24:MI:SS</a:t>
            </a:r>
            <a:r>
              <a:rPr lang="en-US" sz="1400" b="1">
                <a:latin typeface="Courier New"/>
              </a:rPr>
              <a:t>’</a:t>
            </a:r>
            <a:r>
              <a:rPr lang="sk" sz="1400" b="1">
                <a:latin typeface="Courier New"/>
              </a:rPr>
              <a:t>) as d5</a:t>
            </a:r>
          </a:p>
          <a:p>
            <a:pPr marL="201595">
              <a:lnSpc>
                <a:spcPts val="1762"/>
              </a:lnSpc>
              <a:defRPr/>
            </a:pPr>
            <a:r>
              <a:rPr lang="sk" sz="1400" b="1">
                <a:latin typeface="Courier New"/>
              </a:rPr>
              <a:t>from dual</a:t>
            </a:r>
          </a:p>
          <a:p>
            <a:pPr algn="just">
              <a:lnSpc>
                <a:spcPts val="2762"/>
              </a:lnSpc>
              <a:defRPr/>
            </a:pPr>
            <a:r>
              <a:rPr lang="sk" sz="1400" b="1">
                <a:latin typeface="Courier New"/>
              </a:rPr>
              <a:t>SQL&gt; /</a:t>
            </a:r>
          </a:p>
          <a:p>
            <a:pPr algn="just">
              <a:lnSpc>
                <a:spcPts val="2762"/>
              </a:lnSpc>
              <a:defRPr/>
            </a:pPr>
            <a:r>
              <a:rPr lang="sk" sz="1400" b="1">
                <a:latin typeface="Courier New"/>
              </a:rPr>
              <a:t>Dl    			D4    			D5</a:t>
            </a:r>
          </a:p>
          <a:p>
            <a:pPr algn="just">
              <a:lnSpc>
                <a:spcPts val="2762"/>
              </a:lnSpc>
              <a:defRPr/>
            </a:pPr>
            <a:r>
              <a:rPr lang="sk" sz="1400" b="1">
                <a:latin typeface="Courier New"/>
              </a:rPr>
              <a:t>-------------------------------------------------------------------</a:t>
            </a:r>
          </a:p>
          <a:p>
            <a:pPr algn="just">
              <a:lnSpc>
                <a:spcPts val="2762"/>
              </a:lnSpc>
              <a:defRPr/>
            </a:pPr>
            <a:r>
              <a:rPr lang="sk" sz="1400" b="1">
                <a:latin typeface="Courier New"/>
              </a:rPr>
              <a:t>10.02.2020    13:17:17 19.02.2020 13:17:</a:t>
            </a:r>
            <a:r>
              <a:rPr lang="sk" sz="1400" b="1">
                <a:solidFill>
                  <a:schemeClr val="bg2">
                    <a:lumMod val="50000"/>
                  </a:schemeClr>
                </a:solidFill>
                <a:latin typeface="Courier New"/>
              </a:rPr>
              <a:t>00</a:t>
            </a:r>
            <a:r>
              <a:rPr lang="sk" sz="1400" b="1">
                <a:latin typeface="Courier New"/>
              </a:rPr>
              <a:t>    </a:t>
            </a:r>
            <a:r>
              <a:rPr lang="sk" sz="1400" b="1">
                <a:solidFill>
                  <a:srgbClr val="7030A0"/>
                </a:solidFill>
                <a:latin typeface="Courier New"/>
              </a:rPr>
              <a:t>01.01.2020 00:00:00</a:t>
            </a:r>
          </a:p>
        </p:txBody>
      </p:sp>
    </p:spTree>
    <p:extLst>
      <p:ext uri="{BB962C8B-B14F-4D97-AF65-F5344CB8AC3E}">
        <p14:creationId xmlns:p14="http://schemas.microsoft.com/office/powerpoint/2010/main" val="1782328275"/>
      </p:ext>
    </p:extLst>
  </p:cSld>
  <p:clrMapOvr>
    <a:masterClrMapping/>
  </p:clrMapOvr>
  <p:transition spd="med">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Obrázok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471488"/>
            <a:ext cx="8035925"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dĺžnik 2"/>
          <p:cNvSpPr/>
          <p:nvPr/>
        </p:nvSpPr>
        <p:spPr>
          <a:xfrm>
            <a:off x="808038" y="1754188"/>
            <a:ext cx="7951787" cy="1944687"/>
          </a:xfrm>
          <a:prstGeom prst="rect">
            <a:avLst/>
          </a:prstGeom>
        </p:spPr>
        <p:txBody>
          <a:bodyPr lIns="0" tIns="0" rIns="0" bIns="0"/>
          <a:lstStyle/>
          <a:p>
            <a:pPr indent="201595">
              <a:lnSpc>
                <a:spcPts val="1429"/>
              </a:lnSpc>
              <a:spcAft>
                <a:spcPts val="417"/>
              </a:spcAft>
              <a:defRPr/>
            </a:pPr>
            <a:endParaRPr lang="en-US" b="1">
              <a:latin typeface="Courier New"/>
            </a:endParaRPr>
          </a:p>
          <a:p>
            <a:pPr indent="201595">
              <a:lnSpc>
                <a:spcPts val="1429"/>
              </a:lnSpc>
              <a:spcAft>
                <a:spcPts val="417"/>
              </a:spcAft>
              <a:defRPr/>
            </a:pPr>
            <a:r>
              <a:rPr lang="sk" b="1">
                <a:latin typeface="Courier New"/>
              </a:rPr>
              <a:t>select sysdate, extract( month from sysdate ) </a:t>
            </a:r>
            <a:endParaRPr lang="en-US" b="1">
              <a:latin typeface="Courier New"/>
            </a:endParaRPr>
          </a:p>
          <a:p>
            <a:pPr indent="201595">
              <a:lnSpc>
                <a:spcPts val="1429"/>
              </a:lnSpc>
              <a:spcAft>
                <a:spcPts val="417"/>
              </a:spcAft>
              <a:defRPr/>
            </a:pPr>
            <a:r>
              <a:rPr lang="sk" b="1">
                <a:latin typeface="Courier New"/>
              </a:rPr>
              <a:t>from dual</a:t>
            </a:r>
            <a:r>
              <a:rPr lang="en-US" b="1">
                <a:latin typeface="Courier New"/>
              </a:rPr>
              <a:t>;</a:t>
            </a:r>
          </a:p>
          <a:p>
            <a:pPr indent="201595">
              <a:lnSpc>
                <a:spcPts val="1429"/>
              </a:lnSpc>
              <a:spcAft>
                <a:spcPts val="417"/>
              </a:spcAft>
              <a:defRPr/>
            </a:pPr>
            <a:endParaRPr lang="en-US">
              <a:latin typeface="Courier New"/>
            </a:endParaRPr>
          </a:p>
          <a:p>
            <a:pPr indent="201595">
              <a:lnSpc>
                <a:spcPts val="1429"/>
              </a:lnSpc>
              <a:spcAft>
                <a:spcPts val="417"/>
              </a:spcAft>
              <a:defRPr/>
            </a:pPr>
            <a:endParaRPr lang="en-US">
              <a:latin typeface="Courier New"/>
            </a:endParaRPr>
          </a:p>
          <a:p>
            <a:pPr indent="201595">
              <a:lnSpc>
                <a:spcPts val="1429"/>
              </a:lnSpc>
              <a:spcAft>
                <a:spcPts val="417"/>
              </a:spcAft>
              <a:defRPr/>
            </a:pPr>
            <a:endParaRPr lang="en-US">
              <a:latin typeface="Courier New"/>
            </a:endParaRPr>
          </a:p>
          <a:p>
            <a:pPr indent="201595">
              <a:lnSpc>
                <a:spcPts val="1429"/>
              </a:lnSpc>
              <a:spcAft>
                <a:spcPts val="417"/>
              </a:spcAft>
              <a:defRPr/>
            </a:pPr>
            <a:endParaRPr lang="en-US">
              <a:latin typeface="Courier New"/>
            </a:endParaRPr>
          </a:p>
          <a:p>
            <a:pPr indent="201595">
              <a:lnSpc>
                <a:spcPts val="1429"/>
              </a:lnSpc>
              <a:spcAft>
                <a:spcPts val="417"/>
              </a:spcAft>
              <a:defRPr/>
            </a:pPr>
            <a:r>
              <a:rPr lang="sk">
                <a:latin typeface="Courier New"/>
              </a:rPr>
              <a:t>SQL&gt; /</a:t>
            </a:r>
          </a:p>
          <a:p>
            <a:pPr>
              <a:defRPr/>
            </a:pPr>
            <a:endParaRPr lang="en-US">
              <a:latin typeface="Courier New"/>
            </a:endParaRPr>
          </a:p>
          <a:p>
            <a:pPr>
              <a:defRPr/>
            </a:pPr>
            <a:r>
              <a:rPr lang="sk">
                <a:latin typeface="Courier New"/>
              </a:rPr>
              <a:t>SYSDATE EXTRACT(MONTHFROMSYSDATE)</a:t>
            </a:r>
          </a:p>
          <a:p>
            <a:pPr>
              <a:defRPr/>
            </a:pPr>
            <a:r>
              <a:rPr lang="en-US">
                <a:latin typeface="Courier New"/>
              </a:rPr>
              <a:t>---------------------------------</a:t>
            </a:r>
            <a:endParaRPr lang="sk">
              <a:latin typeface="Courier New"/>
            </a:endParaRPr>
          </a:p>
        </p:txBody>
      </p:sp>
      <p:sp>
        <p:nvSpPr>
          <p:cNvPr id="105476" name="Obdĺžnik 3"/>
          <p:cNvSpPr>
            <a:spLocks noChangeArrowheads="1"/>
          </p:cNvSpPr>
          <p:nvPr/>
        </p:nvSpPr>
        <p:spPr bwMode="auto">
          <a:xfrm>
            <a:off x="822325" y="5027613"/>
            <a:ext cx="7683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a:latin typeface="Palatino Linotype" panose="02040502050505030304" pitchFamily="18" charset="0"/>
              </a:rPr>
              <a:t>10-FEB-</a:t>
            </a:r>
            <a:r>
              <a:rPr lang="sk-SK" altLang="en-US">
                <a:latin typeface="Palatino Linotype" panose="02040502050505030304" pitchFamily="18" charset="0"/>
              </a:rPr>
              <a:t>20</a:t>
            </a:r>
            <a:r>
              <a:rPr lang="en-US" altLang="en-US">
                <a:latin typeface="Palatino Linotype" panose="02040502050505030304" pitchFamily="18" charset="0"/>
              </a:rPr>
              <a:t>		2</a:t>
            </a:r>
          </a:p>
        </p:txBody>
      </p:sp>
    </p:spTree>
    <p:extLst>
      <p:ext uri="{BB962C8B-B14F-4D97-AF65-F5344CB8AC3E}">
        <p14:creationId xmlns:p14="http://schemas.microsoft.com/office/powerpoint/2010/main" val="4031095957"/>
      </p:ext>
    </p:extLst>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ĺžnik 1"/>
          <p:cNvSpPr/>
          <p:nvPr/>
        </p:nvSpPr>
        <p:spPr>
          <a:xfrm>
            <a:off x="314325" y="76200"/>
            <a:ext cx="4832350" cy="404813"/>
          </a:xfrm>
          <a:prstGeom prst="rect">
            <a:avLst/>
          </a:prstGeom>
          <a:solidFill>
            <a:srgbClr val="808080"/>
          </a:solidFill>
        </p:spPr>
        <p:txBody>
          <a:bodyPr wrap="none" lIns="0" tIns="0" rIns="0" bIns="0"/>
          <a:lstStyle/>
          <a:p>
            <a:pPr>
              <a:spcAft>
                <a:spcPts val="2917"/>
              </a:spcAft>
              <a:defRPr/>
            </a:pPr>
            <a:r>
              <a:rPr lang="sk" sz="2778" i="1">
                <a:solidFill>
                  <a:srgbClr val="FFFFFF"/>
                </a:solidFill>
                <a:latin typeface="Palatino Linotype"/>
              </a:rPr>
              <a:t>Podmienky s NULL hodnotami</a:t>
            </a:r>
          </a:p>
        </p:txBody>
      </p:sp>
      <p:sp>
        <p:nvSpPr>
          <p:cNvPr id="3" name="Obdĺžnik 2"/>
          <p:cNvSpPr/>
          <p:nvPr/>
        </p:nvSpPr>
        <p:spPr>
          <a:xfrm>
            <a:off x="682625" y="668338"/>
            <a:ext cx="2927350" cy="339725"/>
          </a:xfrm>
          <a:prstGeom prst="rect">
            <a:avLst/>
          </a:prstGeom>
          <a:solidFill>
            <a:srgbClr val="97D5D2"/>
          </a:solidFill>
        </p:spPr>
        <p:txBody>
          <a:bodyPr wrap="none" lIns="0" tIns="0" rIns="0" bIns="0"/>
          <a:lstStyle/>
          <a:p>
            <a:pPr>
              <a:spcBef>
                <a:spcPts val="2917"/>
              </a:spcBef>
              <a:spcAft>
                <a:spcPts val="1250"/>
              </a:spcAft>
              <a:defRPr/>
            </a:pPr>
            <a:r>
              <a:rPr lang="sk" sz="1687" b="1">
                <a:latin typeface="Courier New"/>
              </a:rPr>
              <a:t>vyraz IS [NOT] NULL</a:t>
            </a:r>
          </a:p>
        </p:txBody>
      </p:sp>
      <p:sp>
        <p:nvSpPr>
          <p:cNvPr id="4" name="Obdĺžnik 3"/>
          <p:cNvSpPr/>
          <p:nvPr/>
        </p:nvSpPr>
        <p:spPr>
          <a:xfrm>
            <a:off x="363538" y="1195388"/>
            <a:ext cx="8383587" cy="919162"/>
          </a:xfrm>
          <a:prstGeom prst="rect">
            <a:avLst/>
          </a:prstGeom>
        </p:spPr>
        <p:txBody>
          <a:bodyPr lIns="0" tIns="0" rIns="0" bIns="0"/>
          <a:lstStyle/>
          <a:p>
            <a:pPr>
              <a:spcBef>
                <a:spcPts val="1250"/>
              </a:spcBef>
              <a:defRPr/>
            </a:pPr>
            <a:r>
              <a:rPr lang="sk" sz="1091">
                <a:latin typeface="Courier New"/>
              </a:rPr>
              <a:t>SQL&gt;</a:t>
            </a:r>
            <a:r>
              <a:rPr lang="sk" sz="1600" b="1">
                <a:latin typeface="Courier New"/>
              </a:rPr>
              <a:t> select os_cislo, meno, priezvisko</a:t>
            </a:r>
          </a:p>
          <a:p>
            <a:pPr marL="197563" algn="just">
              <a:defRPr/>
            </a:pPr>
            <a:r>
              <a:rPr lang="sk" sz="1600" b="1">
                <a:latin typeface="Courier New"/>
              </a:rPr>
              <a:t>from os_udaje ou JOIN student st USING ( rod_cislo</a:t>
            </a:r>
            <a:r>
              <a:rPr lang="en-US" sz="1600" b="1">
                <a:latin typeface="Courier New"/>
              </a:rPr>
              <a:t> )</a:t>
            </a:r>
          </a:p>
          <a:p>
            <a:pPr marL="197563" algn="just">
              <a:defRPr/>
            </a:pPr>
            <a:r>
              <a:rPr lang="sk" sz="1600" b="1">
                <a:latin typeface="Courier New"/>
              </a:rPr>
              <a:t>where </a:t>
            </a:r>
            <a:r>
              <a:rPr lang="sk" sz="1600" b="1">
                <a:solidFill>
                  <a:srgbClr val="FF0000"/>
                </a:solidFill>
                <a:latin typeface="Courier New"/>
              </a:rPr>
              <a:t>ukoncenie IS NULL </a:t>
            </a:r>
            <a:r>
              <a:rPr lang="sk" sz="1600" b="1">
                <a:latin typeface="Courier New"/>
              </a:rPr>
              <a:t>;</a:t>
            </a:r>
            <a:endParaRPr lang="en-US" sz="1600" b="1">
              <a:latin typeface="Courier New"/>
            </a:endParaRPr>
          </a:p>
          <a:p>
            <a:pPr marL="197563" algn="just">
              <a:defRPr/>
            </a:pPr>
            <a:endParaRPr lang="en-US" sz="1091">
              <a:latin typeface="Courier New"/>
            </a:endParaRPr>
          </a:p>
          <a:p>
            <a:pPr marL="197563" algn="just">
              <a:defRPr/>
            </a:pPr>
            <a:r>
              <a:rPr lang="en-US" sz="1091">
                <a:latin typeface="Courier New"/>
              </a:rPr>
              <a:t>O</a:t>
            </a:r>
            <a:r>
              <a:rPr lang="sk" sz="1091">
                <a:latin typeface="Courier New"/>
              </a:rPr>
              <a:t>S_CISL</a:t>
            </a:r>
            <a:r>
              <a:rPr lang="en-US" sz="1091">
                <a:latin typeface="Courier New"/>
              </a:rPr>
              <a:t>O</a:t>
            </a:r>
            <a:r>
              <a:rPr lang="sk" sz="1091">
                <a:latin typeface="Courier New"/>
              </a:rPr>
              <a:t> </a:t>
            </a:r>
            <a:r>
              <a:rPr lang="en-US" sz="1091">
                <a:latin typeface="Courier New"/>
              </a:rPr>
              <a:t>  </a:t>
            </a:r>
            <a:r>
              <a:rPr lang="sk" sz="1091">
                <a:latin typeface="Courier New"/>
              </a:rPr>
              <a:t>MENO    PRIEZVISKO</a:t>
            </a:r>
          </a:p>
          <a:p>
            <a:pPr marL="197563" algn="just">
              <a:defRPr/>
            </a:pPr>
            <a:endParaRPr lang="sk" sz="1091">
              <a:latin typeface="Courier New"/>
            </a:endParaRPr>
          </a:p>
        </p:txBody>
      </p:sp>
      <p:sp>
        <p:nvSpPr>
          <p:cNvPr id="5" name="Obdĺžnik 4"/>
          <p:cNvSpPr/>
          <p:nvPr/>
        </p:nvSpPr>
        <p:spPr>
          <a:xfrm>
            <a:off x="557213" y="2330450"/>
            <a:ext cx="1363662" cy="1046163"/>
          </a:xfrm>
          <a:prstGeom prst="rect">
            <a:avLst/>
          </a:prstGeom>
        </p:spPr>
        <p:txBody>
          <a:bodyPr lIns="0" tIns="0" rIns="0" bIns="0"/>
          <a:lstStyle/>
          <a:p>
            <a:pPr algn="just">
              <a:lnSpc>
                <a:spcPts val="1381"/>
              </a:lnSpc>
              <a:spcBef>
                <a:spcPts val="1250"/>
              </a:spcBef>
              <a:defRPr/>
            </a:pPr>
            <a:r>
              <a:rPr lang="sk" sz="1091">
                <a:latin typeface="Courier New"/>
              </a:rPr>
              <a:t>550020 </a:t>
            </a:r>
            <a:r>
              <a:rPr lang="en-US" sz="1091">
                <a:latin typeface="Courier New"/>
              </a:rPr>
              <a:t>	</a:t>
            </a:r>
            <a:r>
              <a:rPr lang="sk" sz="1091">
                <a:latin typeface="Courier New"/>
              </a:rPr>
              <a:t>Peter 501333 Martin 501402 Marek 501555 Marek 501319 Branislav 501469 Stanislav</a:t>
            </a:r>
          </a:p>
        </p:txBody>
      </p:sp>
      <p:sp>
        <p:nvSpPr>
          <p:cNvPr id="6" name="Obdĺžnik 5"/>
          <p:cNvSpPr/>
          <p:nvPr/>
        </p:nvSpPr>
        <p:spPr>
          <a:xfrm>
            <a:off x="2123728" y="2348880"/>
            <a:ext cx="950913" cy="1046163"/>
          </a:xfrm>
          <a:prstGeom prst="rect">
            <a:avLst/>
          </a:prstGeom>
        </p:spPr>
        <p:txBody>
          <a:bodyPr lIns="0" tIns="0" rIns="0" bIns="0"/>
          <a:lstStyle/>
          <a:p>
            <a:pPr>
              <a:lnSpc>
                <a:spcPts val="1381"/>
              </a:lnSpc>
              <a:defRPr/>
            </a:pPr>
            <a:r>
              <a:rPr lang="sk" sz="1091">
                <a:latin typeface="Courier New"/>
              </a:rPr>
              <a:t>Kapustný</a:t>
            </a:r>
          </a:p>
          <a:p>
            <a:pPr>
              <a:lnSpc>
                <a:spcPts val="1381"/>
              </a:lnSpc>
              <a:defRPr/>
            </a:pPr>
            <a:r>
              <a:rPr lang="sk" sz="1091">
                <a:latin typeface="Courier New"/>
              </a:rPr>
              <a:t>Kluciar</a:t>
            </a:r>
          </a:p>
          <a:p>
            <a:pPr>
              <a:lnSpc>
                <a:spcPts val="1381"/>
              </a:lnSpc>
              <a:defRPr/>
            </a:pPr>
            <a:r>
              <a:rPr lang="sk" sz="1091">
                <a:latin typeface="Courier New"/>
              </a:rPr>
              <a:t>Durica</a:t>
            </a:r>
          </a:p>
          <a:p>
            <a:pPr>
              <a:lnSpc>
                <a:spcPts val="1381"/>
              </a:lnSpc>
              <a:defRPr/>
            </a:pPr>
            <a:r>
              <a:rPr lang="sk" sz="1091">
                <a:latin typeface="Courier New"/>
              </a:rPr>
              <a:t>Durica</a:t>
            </a:r>
          </a:p>
          <a:p>
            <a:pPr>
              <a:lnSpc>
                <a:spcPts val="1381"/>
              </a:lnSpc>
              <a:defRPr/>
            </a:pPr>
            <a:r>
              <a:rPr lang="sk" sz="1091">
                <a:latin typeface="Courier New"/>
              </a:rPr>
              <a:t>Balaz</a:t>
            </a:r>
          </a:p>
          <a:p>
            <a:pPr>
              <a:lnSpc>
                <a:spcPts val="1381"/>
              </a:lnSpc>
              <a:defRPr/>
            </a:pPr>
            <a:r>
              <a:rPr lang="sk" sz="1091">
                <a:latin typeface="Courier New"/>
              </a:rPr>
              <a:t>Steinmuller</a:t>
            </a:r>
          </a:p>
        </p:txBody>
      </p:sp>
      <p:sp>
        <p:nvSpPr>
          <p:cNvPr id="7" name="Obdĺžnik 6"/>
          <p:cNvSpPr/>
          <p:nvPr/>
        </p:nvSpPr>
        <p:spPr>
          <a:xfrm>
            <a:off x="174625" y="3592513"/>
            <a:ext cx="7588250" cy="1122362"/>
          </a:xfrm>
          <a:prstGeom prst="rect">
            <a:avLst/>
          </a:prstGeom>
        </p:spPr>
        <p:txBody>
          <a:bodyPr lIns="0" tIns="0" rIns="0" bIns="0"/>
          <a:lstStyle/>
          <a:p>
            <a:pPr marL="197563" algn="just">
              <a:defRPr/>
            </a:pPr>
            <a:r>
              <a:rPr lang="sk" sz="1600" b="1">
                <a:latin typeface="Courier New"/>
              </a:rPr>
              <a:t>select os_cislo, meno, priezvisko</a:t>
            </a:r>
          </a:p>
          <a:p>
            <a:pPr marL="197563" algn="just">
              <a:lnSpc>
                <a:spcPts val="1810"/>
              </a:lnSpc>
              <a:defRPr/>
            </a:pPr>
            <a:r>
              <a:rPr lang="sk" sz="1600" b="1">
                <a:latin typeface="Courier New"/>
              </a:rPr>
              <a:t>from os_udaje ou JOIN student st USING ( rod_cislo </a:t>
            </a:r>
            <a:r>
              <a:rPr lang="en-US" sz="1600" b="1">
                <a:latin typeface="Courier New"/>
              </a:rPr>
              <a:t>)</a:t>
            </a:r>
          </a:p>
          <a:p>
            <a:pPr marL="197563" algn="just">
              <a:lnSpc>
                <a:spcPts val="1810"/>
              </a:lnSpc>
              <a:defRPr/>
            </a:pPr>
            <a:r>
              <a:rPr lang="sk" sz="1600" b="1">
                <a:latin typeface="Courier New"/>
              </a:rPr>
              <a:t>where </a:t>
            </a:r>
            <a:r>
              <a:rPr lang="sk" sz="1600" b="1">
                <a:solidFill>
                  <a:srgbClr val="FF0000"/>
                </a:solidFill>
                <a:latin typeface="Courier New"/>
              </a:rPr>
              <a:t>ukoncenie IS NOT NULL</a:t>
            </a:r>
          </a:p>
          <a:p>
            <a:pPr>
              <a:defRPr/>
            </a:pPr>
            <a:endParaRPr lang="sk" sz="1091">
              <a:latin typeface="Courier New"/>
            </a:endParaRPr>
          </a:p>
        </p:txBody>
      </p:sp>
      <p:graphicFrame>
        <p:nvGraphicFramePr>
          <p:cNvPr id="8" name="Tabuľka 7"/>
          <p:cNvGraphicFramePr>
            <a:graphicFrameLocks noGrp="1"/>
          </p:cNvGraphicFramePr>
          <p:nvPr>
            <p:extLst>
              <p:ext uri="{D42A27DB-BD31-4B8C-83A1-F6EECF244321}">
                <p14:modId xmlns:p14="http://schemas.microsoft.com/office/powerpoint/2010/main" val="1769840248"/>
              </p:ext>
            </p:extLst>
          </p:nvPr>
        </p:nvGraphicFramePr>
        <p:xfrm>
          <a:off x="4067944" y="4172245"/>
          <a:ext cx="3361988" cy="1828832"/>
        </p:xfrm>
        <a:graphic>
          <a:graphicData uri="http://schemas.openxmlformats.org/drawingml/2006/table">
            <a:tbl>
              <a:tblPr/>
              <a:tblGrid>
                <a:gridCol w="757238">
                  <a:extLst>
                    <a:ext uri="{9D8B030D-6E8A-4147-A177-3AD203B41FA5}">
                      <a16:colId xmlns:a16="http://schemas.microsoft.com/office/drawing/2014/main" val="20000"/>
                    </a:ext>
                  </a:extLst>
                </a:gridCol>
                <a:gridCol w="1258475">
                  <a:extLst>
                    <a:ext uri="{9D8B030D-6E8A-4147-A177-3AD203B41FA5}">
                      <a16:colId xmlns:a16="http://schemas.microsoft.com/office/drawing/2014/main" val="20001"/>
                    </a:ext>
                  </a:extLst>
                </a:gridCol>
                <a:gridCol w="1346275">
                  <a:extLst>
                    <a:ext uri="{9D8B030D-6E8A-4147-A177-3AD203B41FA5}">
                      <a16:colId xmlns:a16="http://schemas.microsoft.com/office/drawing/2014/main" val="20002"/>
                    </a:ext>
                  </a:extLst>
                </a:gridCol>
              </a:tblGrid>
              <a:tr h="260011">
                <a:tc>
                  <a:txBody>
                    <a:bodyPr/>
                    <a:lstStyle/>
                    <a:p>
                      <a:pPr indent="0"/>
                      <a:r>
                        <a:rPr lang="en-US" sz="1100">
                          <a:latin typeface="Courier New"/>
                        </a:rPr>
                        <a:t>OS_</a:t>
                      </a:r>
                      <a:r>
                        <a:rPr lang="sk" sz="1100">
                          <a:latin typeface="Courier New"/>
                        </a:rPr>
                        <a:t>CISL0</a:t>
                      </a:r>
                    </a:p>
                  </a:txBody>
                  <a:tcPr marL="0" marR="0" marT="0" marB="0"/>
                </a:tc>
                <a:tc>
                  <a:txBody>
                    <a:bodyPr/>
                    <a:lstStyle/>
                    <a:p>
                      <a:pPr indent="0"/>
                      <a:r>
                        <a:rPr lang="sk" sz="1100">
                          <a:latin typeface="Courier New"/>
                        </a:rPr>
                        <a:t>MENO</a:t>
                      </a:r>
                    </a:p>
                  </a:txBody>
                  <a:tcPr marL="0" marR="0" marT="0" marB="0"/>
                </a:tc>
                <a:tc>
                  <a:txBody>
                    <a:bodyPr/>
                    <a:lstStyle/>
                    <a:p>
                      <a:pPr marL="139700" indent="0"/>
                      <a:r>
                        <a:rPr lang="sk" sz="1100">
                          <a:latin typeface="Courier New"/>
                        </a:rPr>
                        <a:t>PRIEZVISKO</a:t>
                      </a:r>
                    </a:p>
                  </a:txBody>
                  <a:tcPr marL="0" marR="0" marT="0" marB="0"/>
                </a:tc>
                <a:extLst>
                  <a:ext uri="{0D108BD9-81ED-4DB2-BD59-A6C34878D82A}">
                    <a16:rowId xmlns:a16="http://schemas.microsoft.com/office/drawing/2014/main" val="10000"/>
                  </a:ext>
                </a:extLst>
              </a:tr>
              <a:tr h="58679">
                <a:tc>
                  <a:txBody>
                    <a:bodyPr/>
                    <a:lstStyle/>
                    <a:p>
                      <a:pPr indent="0"/>
                      <a:r>
                        <a:rPr lang="sk" sz="1100">
                          <a:latin typeface="Courier New"/>
                        </a:rPr>
                        <a:t>501103</a:t>
                      </a:r>
                    </a:p>
                  </a:txBody>
                  <a:tcPr marL="0" marR="0" marT="0" marB="0" anchor="b"/>
                </a:tc>
                <a:tc>
                  <a:txBody>
                    <a:bodyPr/>
                    <a:lstStyle/>
                    <a:p>
                      <a:pPr indent="0"/>
                      <a:r>
                        <a:rPr lang="sk" sz="1100">
                          <a:latin typeface="Courier New"/>
                        </a:rPr>
                        <a:t>M</a:t>
                      </a:r>
                      <a:r>
                        <a:rPr lang="en-US" sz="1100">
                          <a:latin typeface="Courier New"/>
                        </a:rPr>
                        <a:t>a</a:t>
                      </a:r>
                      <a:r>
                        <a:rPr lang="sk" sz="1100">
                          <a:latin typeface="Courier New"/>
                        </a:rPr>
                        <a:t>rtin</a:t>
                      </a:r>
                    </a:p>
                  </a:txBody>
                  <a:tcPr marL="0" marR="0" marT="0" marB="0" anchor="b"/>
                </a:tc>
                <a:tc>
                  <a:txBody>
                    <a:bodyPr/>
                    <a:lstStyle/>
                    <a:p>
                      <a:pPr marL="139700" indent="0"/>
                      <a:r>
                        <a:rPr lang="sk" sz="1100">
                          <a:latin typeface="Courier New"/>
                        </a:rPr>
                        <a:t>Kluciar</a:t>
                      </a:r>
                    </a:p>
                  </a:txBody>
                  <a:tcPr marL="0" marR="0" marT="0" marB="0" anchor="b"/>
                </a:tc>
                <a:extLst>
                  <a:ext uri="{0D108BD9-81ED-4DB2-BD59-A6C34878D82A}">
                    <a16:rowId xmlns:a16="http://schemas.microsoft.com/office/drawing/2014/main" val="10001"/>
                  </a:ext>
                </a:extLst>
              </a:tr>
              <a:tr h="169310">
                <a:tc>
                  <a:txBody>
                    <a:bodyPr/>
                    <a:lstStyle/>
                    <a:p>
                      <a:pPr indent="0"/>
                      <a:r>
                        <a:rPr lang="sk" sz="1100">
                          <a:latin typeface="Courier New"/>
                        </a:rPr>
                        <a:t>501096</a:t>
                      </a:r>
                    </a:p>
                  </a:txBody>
                  <a:tcPr marL="0" marR="0" marT="0" marB="0"/>
                </a:tc>
                <a:tc>
                  <a:txBody>
                    <a:bodyPr/>
                    <a:lstStyle/>
                    <a:p>
                      <a:pPr indent="0"/>
                      <a:r>
                        <a:rPr lang="sk" sz="1100">
                          <a:latin typeface="Courier New"/>
                        </a:rPr>
                        <a:t>M</a:t>
                      </a:r>
                      <a:r>
                        <a:rPr lang="en-US" sz="1100">
                          <a:latin typeface="Courier New"/>
                        </a:rPr>
                        <a:t>a</a:t>
                      </a:r>
                      <a:r>
                        <a:rPr lang="sk" sz="1100">
                          <a:latin typeface="Courier New"/>
                        </a:rPr>
                        <a:t>rtin</a:t>
                      </a:r>
                    </a:p>
                  </a:txBody>
                  <a:tcPr marL="0" marR="0" marT="0" marB="0"/>
                </a:tc>
                <a:tc>
                  <a:txBody>
                    <a:bodyPr/>
                    <a:lstStyle/>
                    <a:p>
                      <a:pPr marL="139700" indent="0"/>
                      <a:r>
                        <a:rPr lang="sk" sz="1100">
                          <a:latin typeface="Courier New"/>
                        </a:rPr>
                        <a:t>Kluciar</a:t>
                      </a:r>
                    </a:p>
                  </a:txBody>
                  <a:tcPr marL="0" marR="0" marT="0" marB="0"/>
                </a:tc>
                <a:extLst>
                  <a:ext uri="{0D108BD9-81ED-4DB2-BD59-A6C34878D82A}">
                    <a16:rowId xmlns:a16="http://schemas.microsoft.com/office/drawing/2014/main" val="10002"/>
                  </a:ext>
                </a:extLst>
              </a:tr>
              <a:tr h="181403">
                <a:tc>
                  <a:txBody>
                    <a:bodyPr/>
                    <a:lstStyle/>
                    <a:p>
                      <a:pPr indent="0"/>
                      <a:r>
                        <a:rPr lang="sk" sz="1100">
                          <a:latin typeface="Courier New"/>
                        </a:rPr>
                        <a:t>500438</a:t>
                      </a:r>
                    </a:p>
                  </a:txBody>
                  <a:tcPr marL="0" marR="0" marT="0" marB="0"/>
                </a:tc>
                <a:tc>
                  <a:txBody>
                    <a:bodyPr/>
                    <a:lstStyle/>
                    <a:p>
                      <a:pPr indent="0"/>
                      <a:r>
                        <a:rPr lang="sk" sz="1100">
                          <a:latin typeface="Courier New"/>
                        </a:rPr>
                        <a:t>Miroslav</a:t>
                      </a:r>
                    </a:p>
                  </a:txBody>
                  <a:tcPr marL="0" marR="0" marT="0" marB="0"/>
                </a:tc>
                <a:tc>
                  <a:txBody>
                    <a:bodyPr/>
                    <a:lstStyle/>
                    <a:p>
                      <a:pPr marL="139700" indent="0"/>
                      <a:r>
                        <a:rPr lang="sk" sz="1100">
                          <a:latin typeface="Courier New"/>
                        </a:rPr>
                        <a:t>Gmuca</a:t>
                      </a:r>
                    </a:p>
                  </a:txBody>
                  <a:tcPr marL="0" marR="0" marT="0" marB="0"/>
                </a:tc>
                <a:extLst>
                  <a:ext uri="{0D108BD9-81ED-4DB2-BD59-A6C34878D82A}">
                    <a16:rowId xmlns:a16="http://schemas.microsoft.com/office/drawing/2014/main" val="10003"/>
                  </a:ext>
                </a:extLst>
              </a:tr>
              <a:tr h="181403">
                <a:tc>
                  <a:txBody>
                    <a:bodyPr/>
                    <a:lstStyle/>
                    <a:p>
                      <a:pPr indent="0"/>
                      <a:r>
                        <a:rPr lang="sk" sz="1100">
                          <a:latin typeface="Courier New"/>
                        </a:rPr>
                        <a:t>500433</a:t>
                      </a:r>
                    </a:p>
                  </a:txBody>
                  <a:tcPr marL="0" marR="0" marT="0" marB="0"/>
                </a:tc>
                <a:tc>
                  <a:txBody>
                    <a:bodyPr/>
                    <a:lstStyle/>
                    <a:p>
                      <a:pPr indent="0"/>
                      <a:r>
                        <a:rPr lang="sk" sz="1100">
                          <a:latin typeface="Courier New"/>
                        </a:rPr>
                        <a:t>Juraj</a:t>
                      </a:r>
                    </a:p>
                  </a:txBody>
                  <a:tcPr marL="0" marR="0" marT="0" marB="0"/>
                </a:tc>
                <a:tc>
                  <a:txBody>
                    <a:bodyPr/>
                    <a:lstStyle/>
                    <a:p>
                      <a:pPr marL="139700" indent="0"/>
                      <a:r>
                        <a:rPr lang="sk" sz="1100">
                          <a:latin typeface="Courier New"/>
                        </a:rPr>
                        <a:t>Tuma</a:t>
                      </a:r>
                    </a:p>
                  </a:txBody>
                  <a:tcPr marL="0" marR="0" marT="0" marB="0"/>
                </a:tc>
                <a:extLst>
                  <a:ext uri="{0D108BD9-81ED-4DB2-BD59-A6C34878D82A}">
                    <a16:rowId xmlns:a16="http://schemas.microsoft.com/office/drawing/2014/main" val="10004"/>
                  </a:ext>
                </a:extLst>
              </a:tr>
              <a:tr h="169310">
                <a:tc>
                  <a:txBody>
                    <a:bodyPr/>
                    <a:lstStyle/>
                    <a:p>
                      <a:pPr indent="0"/>
                      <a:r>
                        <a:rPr lang="sk" sz="1100">
                          <a:latin typeface="Courier New"/>
                        </a:rPr>
                        <a:t>500422</a:t>
                      </a:r>
                    </a:p>
                  </a:txBody>
                  <a:tcPr marL="0" marR="0" marT="0" marB="0"/>
                </a:tc>
                <a:tc>
                  <a:txBody>
                    <a:bodyPr/>
                    <a:lstStyle/>
                    <a:p>
                      <a:pPr indent="0"/>
                      <a:r>
                        <a:rPr lang="sk" sz="1100">
                          <a:latin typeface="Courier New"/>
                        </a:rPr>
                        <a:t>M</a:t>
                      </a:r>
                      <a:r>
                        <a:rPr lang="en-US" sz="1100">
                          <a:latin typeface="Courier New"/>
                        </a:rPr>
                        <a:t>a</a:t>
                      </a:r>
                      <a:r>
                        <a:rPr lang="sk" sz="1100">
                          <a:latin typeface="Courier New"/>
                        </a:rPr>
                        <a:t>rtin</a:t>
                      </a:r>
                    </a:p>
                  </a:txBody>
                  <a:tcPr marL="0" marR="0" marT="0" marB="0"/>
                </a:tc>
                <a:tc>
                  <a:txBody>
                    <a:bodyPr/>
                    <a:lstStyle/>
                    <a:p>
                      <a:pPr marL="139700" indent="0"/>
                      <a:r>
                        <a:rPr lang="sk" sz="1100">
                          <a:latin typeface="Courier New"/>
                        </a:rPr>
                        <a:t>Skuta</a:t>
                      </a:r>
                    </a:p>
                  </a:txBody>
                  <a:tcPr marL="0" marR="0" marT="0" marB="0"/>
                </a:tc>
                <a:extLst>
                  <a:ext uri="{0D108BD9-81ED-4DB2-BD59-A6C34878D82A}">
                    <a16:rowId xmlns:a16="http://schemas.microsoft.com/office/drawing/2014/main" val="10005"/>
                  </a:ext>
                </a:extLst>
              </a:tr>
              <a:tr h="181403">
                <a:tc>
                  <a:txBody>
                    <a:bodyPr/>
                    <a:lstStyle/>
                    <a:p>
                      <a:pPr indent="0"/>
                      <a:r>
                        <a:rPr lang="sk" sz="1100">
                          <a:latin typeface="Courier New"/>
                        </a:rPr>
                        <a:t>500428</a:t>
                      </a:r>
                    </a:p>
                  </a:txBody>
                  <a:tcPr marL="0" marR="0" marT="0" marB="0"/>
                </a:tc>
                <a:tc>
                  <a:txBody>
                    <a:bodyPr/>
                    <a:lstStyle/>
                    <a:p>
                      <a:pPr indent="0"/>
                      <a:r>
                        <a:rPr lang="sk" sz="1100">
                          <a:latin typeface="Courier New"/>
                        </a:rPr>
                        <a:t>Peter</a:t>
                      </a:r>
                    </a:p>
                  </a:txBody>
                  <a:tcPr marL="0" marR="0" marT="0" marB="0"/>
                </a:tc>
                <a:tc>
                  <a:txBody>
                    <a:bodyPr/>
                    <a:lstStyle/>
                    <a:p>
                      <a:pPr marL="139700" indent="0"/>
                      <a:r>
                        <a:rPr lang="sk" sz="1100">
                          <a:latin typeface="Courier New"/>
                        </a:rPr>
                        <a:t>Stelbasky</a:t>
                      </a:r>
                    </a:p>
                  </a:txBody>
                  <a:tcPr marL="0" marR="0" marT="0" marB="0"/>
                </a:tc>
                <a:extLst>
                  <a:ext uri="{0D108BD9-81ED-4DB2-BD59-A6C34878D82A}">
                    <a16:rowId xmlns:a16="http://schemas.microsoft.com/office/drawing/2014/main" val="10006"/>
                  </a:ext>
                </a:extLst>
              </a:tr>
              <a:tr h="167614">
                <a:tc>
                  <a:txBody>
                    <a:bodyPr/>
                    <a:lstStyle/>
                    <a:p>
                      <a:pPr indent="0"/>
                      <a:r>
                        <a:rPr lang="sk" sz="1100">
                          <a:latin typeface="Courier New"/>
                        </a:rPr>
                        <a:t>500432</a:t>
                      </a:r>
                    </a:p>
                  </a:txBody>
                  <a:tcPr marL="0" marR="0" marT="0" marB="0"/>
                </a:tc>
                <a:tc>
                  <a:txBody>
                    <a:bodyPr/>
                    <a:lstStyle/>
                    <a:p>
                      <a:pPr indent="0"/>
                      <a:r>
                        <a:rPr lang="sk" sz="1100">
                          <a:latin typeface="Courier New"/>
                        </a:rPr>
                        <a:t>Zdenko</a:t>
                      </a:r>
                    </a:p>
                  </a:txBody>
                  <a:tcPr marL="0" marR="0" marT="0" marB="0"/>
                </a:tc>
                <a:tc>
                  <a:txBody>
                    <a:bodyPr/>
                    <a:lstStyle/>
                    <a:p>
                      <a:pPr marL="139700" indent="0"/>
                      <a:r>
                        <a:rPr lang="sk" sz="1100">
                          <a:latin typeface="Courier New"/>
                        </a:rPr>
                        <a:t>Olzbut</a:t>
                      </a:r>
                    </a:p>
                  </a:txBody>
                  <a:tcPr marL="0" marR="0" marT="0" marB="0"/>
                </a:tc>
                <a:extLst>
                  <a:ext uri="{0D108BD9-81ED-4DB2-BD59-A6C34878D82A}">
                    <a16:rowId xmlns:a16="http://schemas.microsoft.com/office/drawing/2014/main" val="10007"/>
                  </a:ext>
                </a:extLst>
              </a:tr>
              <a:tr h="175356">
                <a:tc>
                  <a:txBody>
                    <a:bodyPr/>
                    <a:lstStyle/>
                    <a:p>
                      <a:pPr indent="0"/>
                      <a:r>
                        <a:rPr lang="sk" sz="1100">
                          <a:latin typeface="Courier New"/>
                        </a:rPr>
                        <a:t>501567</a:t>
                      </a:r>
                    </a:p>
                  </a:txBody>
                  <a:tcPr marL="0" marR="0" marT="0" marB="0"/>
                </a:tc>
                <a:tc>
                  <a:txBody>
                    <a:bodyPr/>
                    <a:lstStyle/>
                    <a:p>
                      <a:pPr indent="0"/>
                      <a:r>
                        <a:rPr lang="sk" sz="1100">
                          <a:latin typeface="Courier New"/>
                        </a:rPr>
                        <a:t>Branislav</a:t>
                      </a:r>
                    </a:p>
                  </a:txBody>
                  <a:tcPr marL="0" marR="0" marT="0" marB="0"/>
                </a:tc>
                <a:tc>
                  <a:txBody>
                    <a:bodyPr/>
                    <a:lstStyle/>
                    <a:p>
                      <a:pPr marL="139700" indent="0"/>
                      <a:r>
                        <a:rPr lang="sk" sz="1100">
                          <a:latin typeface="Courier New"/>
                        </a:rPr>
                        <a:t>Balaz</a:t>
                      </a:r>
                    </a:p>
                  </a:txBody>
                  <a:tcPr marL="0" marR="0" marT="0" marB="0"/>
                </a:tc>
                <a:extLst>
                  <a:ext uri="{0D108BD9-81ED-4DB2-BD59-A6C34878D82A}">
                    <a16:rowId xmlns:a16="http://schemas.microsoft.com/office/drawing/2014/main" val="10008"/>
                  </a:ext>
                </a:extLst>
              </a:tr>
              <a:tr h="175356">
                <a:tc>
                  <a:txBody>
                    <a:bodyPr/>
                    <a:lstStyle/>
                    <a:p>
                      <a:pPr indent="0"/>
                      <a:r>
                        <a:rPr lang="sk" sz="1100">
                          <a:latin typeface="Courier New"/>
                        </a:rPr>
                        <a:t>500429</a:t>
                      </a:r>
                    </a:p>
                  </a:txBody>
                  <a:tcPr marL="0" marR="0" marT="0" marB="0"/>
                </a:tc>
                <a:tc>
                  <a:txBody>
                    <a:bodyPr/>
                    <a:lstStyle/>
                    <a:p>
                      <a:pPr indent="0"/>
                      <a:r>
                        <a:rPr lang="sk" sz="1100">
                          <a:latin typeface="Courier New"/>
                        </a:rPr>
                        <a:t>Peter</a:t>
                      </a:r>
                    </a:p>
                  </a:txBody>
                  <a:tcPr marL="0" marR="0" marT="0" marB="0"/>
                </a:tc>
                <a:tc>
                  <a:txBody>
                    <a:bodyPr/>
                    <a:lstStyle/>
                    <a:p>
                      <a:pPr marL="139700" indent="0"/>
                      <a:r>
                        <a:rPr lang="sk" sz="1100">
                          <a:latin typeface="Courier New"/>
                        </a:rPr>
                        <a:t>Minarik</a:t>
                      </a:r>
                    </a:p>
                  </a:txBody>
                  <a:tcPr marL="0" marR="0" marT="0" marB="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554700031"/>
      </p:ext>
    </p:extLst>
  </p:cSld>
  <p:clrMapOvr>
    <a:masterClrMapping/>
  </p:clrMapOvr>
  <p:transition spd="med">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ĺžnik 1"/>
          <p:cNvSpPr/>
          <p:nvPr/>
        </p:nvSpPr>
        <p:spPr>
          <a:xfrm>
            <a:off x="333375" y="327025"/>
            <a:ext cx="7400925" cy="852488"/>
          </a:xfrm>
          <a:prstGeom prst="rect">
            <a:avLst/>
          </a:prstGeom>
          <a:solidFill>
            <a:srgbClr val="808080"/>
          </a:solidFill>
        </p:spPr>
        <p:txBody>
          <a:bodyPr lIns="0" tIns="0" rIns="0" bIns="0"/>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just">
              <a:lnSpc>
                <a:spcPts val="3525"/>
              </a:lnSpc>
              <a:spcAft>
                <a:spcPts val="5838"/>
              </a:spcAft>
            </a:pPr>
            <a:r>
              <a:rPr lang="en-US" altLang="en-US" sz="2700" i="1">
                <a:solidFill>
                  <a:srgbClr val="FFFFFF"/>
                </a:solidFill>
                <a:latin typeface="Palatino Linotype" panose="02040502050505030304" pitchFamily="18" charset="0"/>
              </a:rPr>
              <a:t>S NULL hodnotami nikdy nepoužívajte relačné operátory, pretože výsledkom bude vždy FALSE.</a:t>
            </a:r>
          </a:p>
        </p:txBody>
      </p:sp>
      <p:sp>
        <p:nvSpPr>
          <p:cNvPr id="3" name="Obdĺžnik 2"/>
          <p:cNvSpPr/>
          <p:nvPr/>
        </p:nvSpPr>
        <p:spPr>
          <a:xfrm>
            <a:off x="677863" y="1503363"/>
            <a:ext cx="6942137" cy="3413125"/>
          </a:xfrm>
          <a:prstGeom prst="rect">
            <a:avLst/>
          </a:prstGeom>
        </p:spPr>
        <p:txBody>
          <a:bodyPr lIns="0" tIns="0" rIns="0" bIns="0"/>
          <a:lstStyle/>
          <a:p>
            <a:pPr marL="209659" algn="just">
              <a:spcBef>
                <a:spcPts val="5834"/>
              </a:spcBef>
              <a:defRPr/>
            </a:pPr>
            <a:r>
              <a:rPr lang="sk" sz="1600" b="1">
                <a:latin typeface="Courier New"/>
              </a:rPr>
              <a:t>select os_cislo, meno, priezvisko</a:t>
            </a:r>
          </a:p>
          <a:p>
            <a:pPr marL="209659">
              <a:lnSpc>
                <a:spcPts val="1667"/>
              </a:lnSpc>
              <a:defRPr/>
            </a:pPr>
            <a:r>
              <a:rPr lang="sk" sz="1600" b="1">
                <a:latin typeface="Courier New"/>
              </a:rPr>
              <a:t>    from os_udaje ou JOIN </a:t>
            </a:r>
            <a:r>
              <a:rPr lang="en-US" sz="1600" b="1">
                <a:latin typeface="Courier New"/>
              </a:rPr>
              <a:t>s</a:t>
            </a:r>
            <a:r>
              <a:rPr lang="sk" sz="1600" b="1">
                <a:latin typeface="Courier New"/>
              </a:rPr>
              <a:t>tudent st USING( rod_cislo</a:t>
            </a:r>
            <a:r>
              <a:rPr lang="en-US" sz="1600" b="1">
                <a:latin typeface="Courier New"/>
              </a:rPr>
              <a:t>)</a:t>
            </a:r>
            <a:r>
              <a:rPr lang="sk" sz="1600" b="1">
                <a:latin typeface="Courier New"/>
              </a:rPr>
              <a:t> </a:t>
            </a:r>
            <a:r>
              <a:rPr lang="en-US" sz="1600" b="1">
                <a:latin typeface="Courier New"/>
              </a:rPr>
              <a:t>           	</a:t>
            </a:r>
            <a:r>
              <a:rPr lang="sk" sz="1600" b="1">
                <a:latin typeface="Courier New"/>
              </a:rPr>
              <a:t>where ukon</a:t>
            </a:r>
            <a:r>
              <a:rPr lang="en-US" sz="1600" b="1">
                <a:latin typeface="Courier New"/>
              </a:rPr>
              <a:t>c</a:t>
            </a:r>
            <a:r>
              <a:rPr lang="sk" sz="1600" b="1">
                <a:latin typeface="Courier New"/>
              </a:rPr>
              <a:t>enie = NULL</a:t>
            </a:r>
          </a:p>
          <a:p>
            <a:pPr>
              <a:lnSpc>
                <a:spcPts val="1667"/>
              </a:lnSpc>
              <a:defRPr/>
            </a:pPr>
            <a:r>
              <a:rPr lang="sk" sz="1600" b="1">
                <a:latin typeface="Courier New"/>
              </a:rPr>
              <a:t>SQL&gt; /</a:t>
            </a:r>
          </a:p>
          <a:p>
            <a:pPr>
              <a:spcAft>
                <a:spcPts val="833"/>
              </a:spcAft>
              <a:defRPr/>
            </a:pPr>
            <a:r>
              <a:rPr lang="sk" sz="1600" b="1">
                <a:solidFill>
                  <a:srgbClr val="FF0000"/>
                </a:solidFill>
                <a:latin typeface="Courier New"/>
              </a:rPr>
              <a:t>no rows selected</a:t>
            </a:r>
          </a:p>
          <a:p>
            <a:pPr marL="209659" algn="just">
              <a:defRPr/>
            </a:pPr>
            <a:r>
              <a:rPr lang="sk" sz="1600" b="1">
                <a:latin typeface="Courier New"/>
              </a:rPr>
              <a:t>select os_cislo, meno, priezvisko</a:t>
            </a:r>
          </a:p>
          <a:p>
            <a:pPr marL="209659">
              <a:lnSpc>
                <a:spcPts val="1810"/>
              </a:lnSpc>
              <a:defRPr/>
            </a:pPr>
            <a:r>
              <a:rPr lang="en-US" sz="1600" b="1">
                <a:latin typeface="Courier New"/>
              </a:rPr>
              <a:t>    </a:t>
            </a:r>
            <a:r>
              <a:rPr lang="sk" sz="1600" b="1">
                <a:latin typeface="Courier New"/>
              </a:rPr>
              <a:t>from os_udaje ou JOIN študent st USING </a:t>
            </a:r>
            <a:r>
              <a:rPr lang="en-US" sz="1600" b="1">
                <a:latin typeface="Courier New"/>
              </a:rPr>
              <a:t>(</a:t>
            </a:r>
            <a:r>
              <a:rPr lang="sk" sz="1600" b="1">
                <a:latin typeface="Courier New"/>
              </a:rPr>
              <a:t>rod_cislo</a:t>
            </a:r>
            <a:r>
              <a:rPr lang="en-US" sz="1600" b="1">
                <a:latin typeface="Courier New"/>
              </a:rPr>
              <a:t>)</a:t>
            </a:r>
            <a:r>
              <a:rPr lang="sk" sz="1600" b="1">
                <a:latin typeface="Courier New"/>
              </a:rPr>
              <a:t> </a:t>
            </a:r>
            <a:r>
              <a:rPr lang="en-US" sz="1600" b="1">
                <a:latin typeface="Courier New"/>
              </a:rPr>
              <a:t>	</a:t>
            </a:r>
            <a:r>
              <a:rPr lang="sk" sz="1600" b="1">
                <a:latin typeface="Courier New"/>
              </a:rPr>
              <a:t>where ukon</a:t>
            </a:r>
            <a:r>
              <a:rPr lang="en-US" sz="1600" b="1">
                <a:latin typeface="Courier New"/>
              </a:rPr>
              <a:t>c</a:t>
            </a:r>
            <a:r>
              <a:rPr lang="sk" sz="1600" b="1">
                <a:latin typeface="Courier New"/>
              </a:rPr>
              <a:t>enie &lt;&gt; NULL</a:t>
            </a:r>
          </a:p>
          <a:p>
            <a:pPr>
              <a:spcAft>
                <a:spcPts val="833"/>
              </a:spcAft>
              <a:defRPr/>
            </a:pPr>
            <a:r>
              <a:rPr lang="sk" sz="1600" b="1">
                <a:latin typeface="Courier New"/>
              </a:rPr>
              <a:t>SQL&gt; /</a:t>
            </a:r>
          </a:p>
          <a:p>
            <a:pPr>
              <a:defRPr/>
            </a:pPr>
            <a:r>
              <a:rPr lang="sk" sz="1600" b="1">
                <a:solidFill>
                  <a:srgbClr val="FF0000"/>
                </a:solidFill>
                <a:latin typeface="Courier New"/>
              </a:rPr>
              <a:t>no rows selected</a:t>
            </a:r>
          </a:p>
        </p:txBody>
      </p:sp>
      <p:sp>
        <p:nvSpPr>
          <p:cNvPr id="4" name="Obdĺžnik 3"/>
          <p:cNvSpPr/>
          <p:nvPr/>
        </p:nvSpPr>
        <p:spPr>
          <a:xfrm>
            <a:off x="5848350" y="6423025"/>
            <a:ext cx="876300" cy="187325"/>
          </a:xfrm>
          <a:prstGeom prst="rect">
            <a:avLst/>
          </a:prstGeom>
        </p:spPr>
        <p:txBody>
          <a:bodyPr wrap="none" lIns="0" tIns="0" rIns="0" bIns="0"/>
          <a:lstStyle/>
          <a:p>
            <a:pPr>
              <a:defRPr/>
            </a:pPr>
            <a:r>
              <a:rPr lang="sk" sz="794" i="1">
                <a:solidFill>
                  <a:srgbClr val="D4D4D4"/>
                </a:solidFill>
                <a:latin typeface="SimHei"/>
              </a:rPr>
              <a:t>&lt;</a:t>
            </a:r>
            <a:r>
              <a:rPr lang="sk" sz="794">
                <a:solidFill>
                  <a:srgbClr val="D4D4D4"/>
                </a:solidFill>
                <a:latin typeface="Arial"/>
              </a:rPr>
              <a:t> □ ► -4 ifjP</a:t>
            </a:r>
          </a:p>
        </p:txBody>
      </p:sp>
    </p:spTree>
    <p:extLst>
      <p:ext uri="{BB962C8B-B14F-4D97-AF65-F5344CB8AC3E}">
        <p14:creationId xmlns:p14="http://schemas.microsoft.com/office/powerpoint/2010/main" val="3679715128"/>
      </p:ext>
    </p:extLst>
  </p:cSld>
  <p:clrMapOvr>
    <a:masterClrMapping/>
  </p:clrMapOvr>
  <p:transition spd="med">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ĺžnik 1"/>
          <p:cNvSpPr/>
          <p:nvPr/>
        </p:nvSpPr>
        <p:spPr>
          <a:xfrm>
            <a:off x="327025" y="327025"/>
            <a:ext cx="6240463" cy="404813"/>
          </a:xfrm>
          <a:prstGeom prst="rect">
            <a:avLst/>
          </a:prstGeom>
          <a:solidFill>
            <a:srgbClr val="808080"/>
          </a:solidFill>
        </p:spPr>
        <p:txBody>
          <a:bodyPr wrap="none" lIns="0" tIns="0" rIns="0" bIns="0"/>
          <a:lstStyle/>
          <a:p>
            <a:pPr>
              <a:spcAft>
                <a:spcPts val="8334"/>
              </a:spcAft>
              <a:defRPr/>
            </a:pPr>
            <a:r>
              <a:rPr lang="sk" sz="2778" i="1">
                <a:solidFill>
                  <a:srgbClr val="FFFFFF"/>
                </a:solidFill>
                <a:latin typeface="Palatino Linotype"/>
              </a:rPr>
              <a:t>Funkcia NVL - nahradenie null hodnoty</a:t>
            </a:r>
          </a:p>
        </p:txBody>
      </p:sp>
      <p:sp>
        <p:nvSpPr>
          <p:cNvPr id="108547" name="Obdĺžnik 2"/>
          <p:cNvSpPr>
            <a:spLocks noChangeArrowheads="1"/>
          </p:cNvSpPr>
          <p:nvPr/>
        </p:nvSpPr>
        <p:spPr bwMode="auto">
          <a:xfrm>
            <a:off x="682625" y="2184400"/>
            <a:ext cx="71913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73050" indent="-225425">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nSpc>
                <a:spcPts val="1813"/>
              </a:lnSpc>
              <a:spcBef>
                <a:spcPts val="8338"/>
              </a:spcBef>
              <a:spcAft>
                <a:spcPts val="413"/>
              </a:spcAft>
            </a:pPr>
            <a:r>
              <a:rPr lang="en-US" altLang="en-US" sz="1600" b="1">
                <a:latin typeface="Courier New" panose="02070309020205020404" pitchFamily="49" charset="0"/>
              </a:rPr>
              <a:t>select </a:t>
            </a:r>
            <a:r>
              <a:rPr lang="en-US" altLang="en-US" sz="1600" b="1" err="1">
                <a:latin typeface="Courier New" panose="02070309020205020404" pitchFamily="49" charset="0"/>
              </a:rPr>
              <a:t>vysledok</a:t>
            </a:r>
            <a:r>
              <a:rPr lang="en-US" altLang="en-US" sz="1600" b="1">
                <a:latin typeface="Courier New" panose="02070309020205020404" pitchFamily="49" charset="0"/>
              </a:rPr>
              <a:t>, </a:t>
            </a:r>
            <a:r>
              <a:rPr lang="en-US" altLang="en-US" sz="1600" b="1" err="1">
                <a:latin typeface="Courier New" panose="02070309020205020404" pitchFamily="49" charset="0"/>
              </a:rPr>
              <a:t>nvl</a:t>
            </a:r>
            <a:r>
              <a:rPr lang="en-US" altLang="en-US" sz="1600" b="1">
                <a:latin typeface="Courier New" panose="02070309020205020404" pitchFamily="49" charset="0"/>
              </a:rPr>
              <a:t>(</a:t>
            </a:r>
            <a:r>
              <a:rPr lang="en-US" altLang="en-US" sz="1600" b="1" err="1">
                <a:latin typeface="Courier New" panose="02070309020205020404" pitchFamily="49" charset="0"/>
              </a:rPr>
              <a:t>vysledok</a:t>
            </a:r>
            <a:r>
              <a:rPr lang="en-US" altLang="en-US" sz="1600" b="1">
                <a:latin typeface="Courier New" panose="02070309020205020404" pitchFamily="49" charset="0"/>
              </a:rPr>
              <a:t>, ’F’) from </a:t>
            </a:r>
            <a:r>
              <a:rPr lang="en-US" altLang="en-US" sz="1600" b="1" err="1">
                <a:latin typeface="Courier New" panose="02070309020205020404" pitchFamily="49" charset="0"/>
              </a:rPr>
              <a:t>zap_predmety</a:t>
            </a:r>
            <a:r>
              <a:rPr lang="en-US" altLang="en-US" sz="1600" b="1">
                <a:latin typeface="Courier New" panose="02070309020205020404" pitchFamily="49" charset="0"/>
              </a:rPr>
              <a:t>;</a:t>
            </a:r>
          </a:p>
        </p:txBody>
      </p:sp>
      <p:sp>
        <p:nvSpPr>
          <p:cNvPr id="4" name="Obdĺžnik 3"/>
          <p:cNvSpPr/>
          <p:nvPr/>
        </p:nvSpPr>
        <p:spPr>
          <a:xfrm>
            <a:off x="682625" y="2776538"/>
            <a:ext cx="309563" cy="1922462"/>
          </a:xfrm>
          <a:prstGeom prst="rect">
            <a:avLst/>
          </a:prstGeom>
        </p:spPr>
        <p:txBody>
          <a:bodyPr lIns="0" tIns="0" rIns="0" bIns="0"/>
          <a:lstStyle/>
          <a:p>
            <a:pPr marL="273161" indent="-226794">
              <a:spcBef>
                <a:spcPts val="417"/>
              </a:spcBef>
              <a:spcAft>
                <a:spcPts val="833"/>
              </a:spcAft>
              <a:defRPr/>
            </a:pPr>
            <a:r>
              <a:rPr lang="sk" sz="1091">
                <a:latin typeface="Courier New"/>
              </a:rPr>
              <a:t>V N</a:t>
            </a:r>
          </a:p>
          <a:p>
            <a:pPr marL="197563" indent="-151196" algn="just">
              <a:lnSpc>
                <a:spcPts val="1381"/>
              </a:lnSpc>
              <a:defRPr/>
            </a:pPr>
            <a:r>
              <a:rPr lang="en-US" sz="1091">
                <a:latin typeface="Courier New"/>
              </a:rPr>
              <a:t>- -</a:t>
            </a:r>
          </a:p>
          <a:p>
            <a:pPr marL="197563" indent="-151196" algn="just">
              <a:lnSpc>
                <a:spcPts val="1381"/>
              </a:lnSpc>
              <a:defRPr/>
            </a:pPr>
            <a:r>
              <a:rPr lang="sk" sz="1091">
                <a:latin typeface="Courier New"/>
              </a:rPr>
              <a:t>C C </a:t>
            </a:r>
            <a:r>
              <a:rPr lang="sk" sz="1091">
                <a:solidFill>
                  <a:srgbClr val="FF0000"/>
                </a:solidFill>
                <a:latin typeface="Courier New"/>
              </a:rPr>
              <a:t>F F</a:t>
            </a:r>
          </a:p>
          <a:p>
            <a:pPr algn="r">
              <a:lnSpc>
                <a:spcPts val="1381"/>
              </a:lnSpc>
              <a:defRPr/>
            </a:pPr>
            <a:r>
              <a:rPr lang="sk" sz="1091">
                <a:latin typeface="Courier New"/>
              </a:rPr>
              <a:t>A A C C D D </a:t>
            </a:r>
            <a:r>
              <a:rPr lang="sk" sz="1091">
                <a:solidFill>
                  <a:srgbClr val="FF0000"/>
                </a:solidFill>
                <a:latin typeface="Courier New"/>
              </a:rPr>
              <a:t>F </a:t>
            </a:r>
            <a:endParaRPr lang="en-US" sz="1091">
              <a:solidFill>
                <a:srgbClr val="FF0000"/>
              </a:solidFill>
              <a:latin typeface="Courier New"/>
            </a:endParaRPr>
          </a:p>
          <a:p>
            <a:pPr algn="r">
              <a:lnSpc>
                <a:spcPts val="1381"/>
              </a:lnSpc>
              <a:defRPr/>
            </a:pPr>
            <a:r>
              <a:rPr lang="sk" sz="1091">
                <a:solidFill>
                  <a:srgbClr val="FF0000"/>
                </a:solidFill>
                <a:latin typeface="Courier New"/>
              </a:rPr>
              <a:t>F</a:t>
            </a:r>
          </a:p>
          <a:p>
            <a:pPr marL="273161" indent="-226794">
              <a:lnSpc>
                <a:spcPts val="1381"/>
              </a:lnSpc>
              <a:defRPr/>
            </a:pPr>
            <a:r>
              <a:rPr lang="sk" sz="1091">
                <a:latin typeface="Courier New"/>
              </a:rPr>
              <a:t>A A</a:t>
            </a:r>
          </a:p>
        </p:txBody>
      </p:sp>
      <p:sp>
        <p:nvSpPr>
          <p:cNvPr id="5" name="Obdĺžnik 4"/>
          <p:cNvSpPr/>
          <p:nvPr/>
        </p:nvSpPr>
        <p:spPr>
          <a:xfrm>
            <a:off x="5848350" y="6423025"/>
            <a:ext cx="876300" cy="187325"/>
          </a:xfrm>
          <a:prstGeom prst="rect">
            <a:avLst/>
          </a:prstGeom>
        </p:spPr>
        <p:txBody>
          <a:bodyPr wrap="none" lIns="0" tIns="0" rIns="0" bIns="0"/>
          <a:lstStyle/>
          <a:p>
            <a:pPr>
              <a:defRPr/>
            </a:pPr>
            <a:r>
              <a:rPr lang="sk" sz="794" i="1">
                <a:solidFill>
                  <a:srgbClr val="D4D4D4"/>
                </a:solidFill>
                <a:latin typeface="SimHei"/>
              </a:rPr>
              <a:t>&lt;</a:t>
            </a:r>
            <a:r>
              <a:rPr lang="sk" sz="1290">
                <a:solidFill>
                  <a:srgbClr val="D4D4D4"/>
                </a:solidFill>
                <a:latin typeface="Constantia"/>
              </a:rPr>
              <a:t> □ ► </a:t>
            </a:r>
            <a:r>
              <a:rPr lang="sk" sz="794">
                <a:solidFill>
                  <a:srgbClr val="D4D4D4"/>
                </a:solidFill>
                <a:latin typeface="Palatino Linotype"/>
              </a:rPr>
              <a:t>-4</a:t>
            </a:r>
            <a:r>
              <a:rPr lang="sk" sz="1290">
                <a:solidFill>
                  <a:srgbClr val="D4D4D4"/>
                </a:solidFill>
                <a:latin typeface="Constantia"/>
              </a:rPr>
              <a:t> ©</a:t>
            </a:r>
          </a:p>
        </p:txBody>
      </p:sp>
    </p:spTree>
    <p:extLst>
      <p:ext uri="{BB962C8B-B14F-4D97-AF65-F5344CB8AC3E}">
        <p14:creationId xmlns:p14="http://schemas.microsoft.com/office/powerpoint/2010/main" val="2642995106"/>
      </p:ext>
    </p:extLst>
  </p:cSld>
  <p:clrMapOvr>
    <a:masterClrMapping/>
  </p:clrMapOvr>
  <p:transition spd="med">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Obrázok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8488" y="1566863"/>
            <a:ext cx="8037512"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1" name="Obdĺžnik 2"/>
          <p:cNvSpPr>
            <a:spLocks noChangeArrowheads="1"/>
          </p:cNvSpPr>
          <p:nvPr/>
        </p:nvSpPr>
        <p:spPr bwMode="auto">
          <a:xfrm>
            <a:off x="682625" y="2533650"/>
            <a:ext cx="78628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600">
                <a:latin typeface="Courier New" panose="02070309020205020404" pitchFamily="49" charset="0"/>
              </a:rPr>
              <a:t> </a:t>
            </a:r>
            <a:r>
              <a:rPr lang="en-US" altLang="en-US" sz="1600" b="1">
                <a:latin typeface="Courier New" panose="02070309020205020404" pitchFamily="49" charset="0"/>
              </a:rPr>
              <a:t>select </a:t>
            </a:r>
            <a:r>
              <a:rPr lang="en-US" altLang="en-US" sz="1600" b="1" err="1">
                <a:latin typeface="Courier New" panose="02070309020205020404" pitchFamily="49" charset="0"/>
              </a:rPr>
              <a:t>vysledok</a:t>
            </a:r>
            <a:r>
              <a:rPr lang="en-US" altLang="en-US" sz="1600" b="1">
                <a:latin typeface="Courier New" panose="02070309020205020404" pitchFamily="49" charset="0"/>
              </a:rPr>
              <a:t>, coalesce(</a:t>
            </a:r>
            <a:r>
              <a:rPr lang="en-US" altLang="en-US" sz="1600" b="1" err="1">
                <a:latin typeface="Courier New" panose="02070309020205020404" pitchFamily="49" charset="0"/>
              </a:rPr>
              <a:t>vysledok</a:t>
            </a:r>
            <a:r>
              <a:rPr lang="en-US" altLang="en-US" sz="1600" b="1">
                <a:latin typeface="Courier New" panose="02070309020205020404" pitchFamily="49" charset="0"/>
              </a:rPr>
              <a:t>, ´F´) from </a:t>
            </a:r>
            <a:r>
              <a:rPr lang="en-US" altLang="en-US" sz="1600" b="1" err="1">
                <a:latin typeface="Courier New" panose="02070309020205020404" pitchFamily="49" charset="0"/>
              </a:rPr>
              <a:t>zap_predmety</a:t>
            </a:r>
            <a:r>
              <a:rPr lang="en-US" altLang="en-US" sz="1600" b="1">
                <a:latin typeface="Courier New" panose="02070309020205020404" pitchFamily="49" charset="0"/>
              </a:rPr>
              <a:t>;</a:t>
            </a:r>
          </a:p>
        </p:txBody>
      </p:sp>
      <p:sp>
        <p:nvSpPr>
          <p:cNvPr id="4" name="Obdĺžnik 3"/>
          <p:cNvSpPr/>
          <p:nvPr/>
        </p:nvSpPr>
        <p:spPr>
          <a:xfrm>
            <a:off x="2244725" y="3570288"/>
            <a:ext cx="5700713" cy="2463800"/>
          </a:xfrm>
          <a:prstGeom prst="rect">
            <a:avLst/>
          </a:prstGeom>
        </p:spPr>
        <p:txBody>
          <a:bodyPr lIns="0" tIns="0" rIns="0" bIns="0"/>
          <a:lstStyle>
            <a:lvl1pPr marL="196850" indent="-150813">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just">
              <a:spcAft>
                <a:spcPts val="838"/>
              </a:spcAft>
            </a:pPr>
            <a:r>
              <a:rPr lang="en-US" altLang="en-US" sz="1000">
                <a:latin typeface="Courier New" panose="02070309020205020404" pitchFamily="49" charset="0"/>
              </a:rPr>
              <a:t>V C</a:t>
            </a:r>
          </a:p>
          <a:p>
            <a:pPr algn="just">
              <a:spcAft>
                <a:spcPts val="838"/>
              </a:spcAft>
            </a:pPr>
            <a:r>
              <a:rPr lang="en-US" altLang="en-US" sz="1000">
                <a:latin typeface="Courier New" panose="02070309020205020404" pitchFamily="49" charset="0"/>
              </a:rPr>
              <a:t>- -</a:t>
            </a:r>
          </a:p>
          <a:p>
            <a:pPr algn="just">
              <a:lnSpc>
                <a:spcPts val="1375"/>
              </a:lnSpc>
            </a:pPr>
            <a:r>
              <a:rPr lang="en-US" altLang="en-US" sz="1000">
                <a:latin typeface="Courier New" panose="02070309020205020404" pitchFamily="49" charset="0"/>
              </a:rPr>
              <a:t>C C</a:t>
            </a:r>
          </a:p>
          <a:p>
            <a:pPr algn="just">
              <a:lnSpc>
                <a:spcPts val="1375"/>
              </a:lnSpc>
            </a:pPr>
            <a:r>
              <a:rPr lang="en-US" altLang="en-US" sz="1000">
                <a:latin typeface="Courier New" panose="02070309020205020404" pitchFamily="49" charset="0"/>
              </a:rPr>
              <a:t>  F</a:t>
            </a:r>
          </a:p>
          <a:p>
            <a:pPr algn="just">
              <a:lnSpc>
                <a:spcPts val="1375"/>
              </a:lnSpc>
            </a:pPr>
            <a:r>
              <a:rPr lang="en-US" altLang="en-US" sz="1000">
                <a:latin typeface="Courier New" panose="02070309020205020404" pitchFamily="49" charset="0"/>
              </a:rPr>
              <a:t>  F</a:t>
            </a:r>
          </a:p>
          <a:p>
            <a:pPr algn="just">
              <a:lnSpc>
                <a:spcPts val="1375"/>
              </a:lnSpc>
            </a:pPr>
            <a:r>
              <a:rPr lang="en-US" altLang="en-US" sz="1000">
                <a:latin typeface="Courier New" panose="02070309020205020404" pitchFamily="49" charset="0"/>
              </a:rPr>
              <a:t>A A</a:t>
            </a:r>
          </a:p>
          <a:p>
            <a:pPr algn="just">
              <a:lnSpc>
                <a:spcPts val="1375"/>
              </a:lnSpc>
            </a:pPr>
            <a:r>
              <a:rPr lang="en-US" altLang="en-US" sz="1000">
                <a:latin typeface="Courier New" panose="02070309020205020404" pitchFamily="49" charset="0"/>
              </a:rPr>
              <a:t>C C </a:t>
            </a:r>
          </a:p>
          <a:p>
            <a:pPr algn="just">
              <a:lnSpc>
                <a:spcPts val="1375"/>
              </a:lnSpc>
            </a:pPr>
            <a:r>
              <a:rPr lang="en-US" altLang="en-US" sz="1000">
                <a:latin typeface="Courier New" panose="02070309020205020404" pitchFamily="49" charset="0"/>
              </a:rPr>
              <a:t>D D </a:t>
            </a:r>
          </a:p>
          <a:p>
            <a:pPr algn="just">
              <a:lnSpc>
                <a:spcPts val="1375"/>
              </a:lnSpc>
            </a:pPr>
            <a:r>
              <a:rPr lang="en-US" altLang="en-US" sz="1000">
                <a:latin typeface="Courier New" panose="02070309020205020404" pitchFamily="49" charset="0"/>
              </a:rPr>
              <a:t>  F </a:t>
            </a:r>
          </a:p>
          <a:p>
            <a:pPr algn="just">
              <a:lnSpc>
                <a:spcPts val="1375"/>
              </a:lnSpc>
            </a:pPr>
            <a:r>
              <a:rPr lang="en-US" altLang="en-US" sz="1000">
                <a:latin typeface="Courier New" panose="02070309020205020404" pitchFamily="49" charset="0"/>
              </a:rPr>
              <a:t>  F</a:t>
            </a:r>
          </a:p>
          <a:p>
            <a:pPr algn="just">
              <a:lnSpc>
                <a:spcPts val="1375"/>
              </a:lnSpc>
            </a:pPr>
            <a:r>
              <a:rPr lang="en-US" altLang="en-US" sz="1000">
                <a:latin typeface="Courier New" panose="02070309020205020404" pitchFamily="49" charset="0"/>
              </a:rPr>
              <a:t>A A</a:t>
            </a:r>
          </a:p>
        </p:txBody>
      </p:sp>
      <p:sp>
        <p:nvSpPr>
          <p:cNvPr id="5" name="Obdĺžnik 4"/>
          <p:cNvSpPr/>
          <p:nvPr/>
        </p:nvSpPr>
        <p:spPr>
          <a:xfrm>
            <a:off x="5848350" y="6423025"/>
            <a:ext cx="876300" cy="187325"/>
          </a:xfrm>
          <a:prstGeom prst="rect">
            <a:avLst/>
          </a:prstGeom>
        </p:spPr>
        <p:txBody>
          <a:bodyPr wrap="none" lIns="0" tIns="0" rIns="0" bIns="0"/>
          <a:lstStyle/>
          <a:p>
            <a:pPr>
              <a:defRPr/>
            </a:pPr>
            <a:r>
              <a:rPr lang="sk" sz="794" spc="-99">
                <a:solidFill>
                  <a:srgbClr val="D4D4D4"/>
                </a:solidFill>
                <a:latin typeface="Century Schoolbook"/>
              </a:rPr>
              <a:t>-í □ ► -4 ©</a:t>
            </a:r>
          </a:p>
        </p:txBody>
      </p:sp>
    </p:spTree>
    <p:extLst>
      <p:ext uri="{BB962C8B-B14F-4D97-AF65-F5344CB8AC3E}">
        <p14:creationId xmlns:p14="http://schemas.microsoft.com/office/powerpoint/2010/main" val="496775914"/>
      </p:ext>
    </p:extLst>
  </p:cSld>
  <p:clrMapOvr>
    <a:masterClrMapping/>
  </p:clrMapOvr>
  <p:transition spd="med">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ĺžnik 1"/>
          <p:cNvSpPr/>
          <p:nvPr/>
        </p:nvSpPr>
        <p:spPr>
          <a:xfrm>
            <a:off x="688975" y="2413000"/>
            <a:ext cx="4694238" cy="690563"/>
          </a:xfrm>
          <a:prstGeom prst="rect">
            <a:avLst/>
          </a:prstGeom>
          <a:solidFill>
            <a:srgbClr val="E5E5E5"/>
          </a:solidFill>
        </p:spPr>
        <p:txBody>
          <a:bodyPr lIns="0" tIns="0" rIns="0" bIns="0"/>
          <a:lstStyle>
            <a:lvl1pPr indent="276225">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nSpc>
                <a:spcPts val="2713"/>
              </a:lnSpc>
            </a:pPr>
            <a:r>
              <a:rPr lang="en-US" altLang="en-US" sz="1600" b="1">
                <a:latin typeface="Courier New" panose="02070309020205020404" pitchFamily="49" charset="0"/>
              </a:rPr>
              <a:t>vyraz [ NOT ] IN ( mnozina ) alebo</a:t>
            </a:r>
          </a:p>
        </p:txBody>
      </p:sp>
      <p:sp>
        <p:nvSpPr>
          <p:cNvPr id="3" name="Obdĺžnik 2"/>
          <p:cNvSpPr/>
          <p:nvPr/>
        </p:nvSpPr>
        <p:spPr>
          <a:xfrm>
            <a:off x="1100138" y="3175000"/>
            <a:ext cx="2298700" cy="290513"/>
          </a:xfrm>
          <a:prstGeom prst="rect">
            <a:avLst/>
          </a:prstGeom>
          <a:solidFill>
            <a:srgbClr val="97D5D2"/>
          </a:solidFill>
        </p:spPr>
        <p:txBody>
          <a:bodyPr wrap="none" lIns="0" tIns="0" rIns="0" bIns="0"/>
          <a:lstStyle/>
          <a:p>
            <a:pPr>
              <a:defRPr/>
            </a:pPr>
            <a:r>
              <a:rPr lang="sk" sz="1687" b="1">
                <a:latin typeface="Courier New"/>
              </a:rPr>
              <a:t>[ NOT ] EXISTS (</a:t>
            </a:r>
          </a:p>
        </p:txBody>
      </p:sp>
      <p:sp>
        <p:nvSpPr>
          <p:cNvPr id="4" name="Obdĺžnik 3"/>
          <p:cNvSpPr/>
          <p:nvPr/>
        </p:nvSpPr>
        <p:spPr>
          <a:xfrm>
            <a:off x="3573463" y="3200400"/>
            <a:ext cx="2662237" cy="301625"/>
          </a:xfrm>
          <a:prstGeom prst="rect">
            <a:avLst/>
          </a:prstGeom>
          <a:solidFill>
            <a:srgbClr val="E5E5E5"/>
          </a:solidFill>
        </p:spPr>
        <p:txBody>
          <a:bodyPr wrap="none" lIns="0" tIns="0" rIns="0" bIns="0"/>
          <a:lstStyle/>
          <a:p>
            <a:pPr>
              <a:defRPr/>
            </a:pPr>
            <a:r>
              <a:rPr lang="sk" sz="1687" b="1">
                <a:latin typeface="Courier New"/>
              </a:rPr>
              <a:t>vymenovana_mnozina)</a:t>
            </a:r>
          </a:p>
        </p:txBody>
      </p:sp>
      <p:sp>
        <p:nvSpPr>
          <p:cNvPr id="5" name="Obdĺžnik 4"/>
          <p:cNvSpPr/>
          <p:nvPr/>
        </p:nvSpPr>
        <p:spPr>
          <a:xfrm>
            <a:off x="5848350" y="6440488"/>
            <a:ext cx="454025" cy="157162"/>
          </a:xfrm>
          <a:prstGeom prst="rect">
            <a:avLst/>
          </a:prstGeom>
        </p:spPr>
        <p:txBody>
          <a:bodyPr wrap="none" lIns="0" tIns="0" rIns="0" bIns="0"/>
          <a:lstStyle/>
          <a:p>
            <a:pPr>
              <a:defRPr/>
            </a:pPr>
            <a:r>
              <a:rPr lang="sk" sz="1984" i="1">
                <a:solidFill>
                  <a:srgbClr val="D4D4D4"/>
                </a:solidFill>
                <a:latin typeface="Microsoft Sans Serif"/>
              </a:rPr>
              <a:t>&lt;</a:t>
            </a:r>
            <a:r>
              <a:rPr lang="sk" sz="1885" b="1" spc="-99">
                <a:solidFill>
                  <a:srgbClr val="D4D4D4"/>
                </a:solidFill>
                <a:latin typeface="Microsoft Sans Serif"/>
              </a:rPr>
              <a:t> □ ►</a:t>
            </a:r>
          </a:p>
        </p:txBody>
      </p:sp>
    </p:spTree>
    <p:extLst>
      <p:ext uri="{BB962C8B-B14F-4D97-AF65-F5344CB8AC3E}">
        <p14:creationId xmlns:p14="http://schemas.microsoft.com/office/powerpoint/2010/main" val="398950301"/>
      </p:ext>
    </p:extLst>
  </p:cSld>
  <p:clrMapOvr>
    <a:masterClrMapping/>
  </p:clrMapOvr>
  <p:transition spd="med">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ĺžnik 1"/>
          <p:cNvSpPr/>
          <p:nvPr/>
        </p:nvSpPr>
        <p:spPr>
          <a:xfrm>
            <a:off x="363538" y="327025"/>
            <a:ext cx="2025650" cy="404813"/>
          </a:xfrm>
          <a:prstGeom prst="rect">
            <a:avLst/>
          </a:prstGeom>
          <a:solidFill>
            <a:srgbClr val="808080"/>
          </a:solidFill>
        </p:spPr>
        <p:txBody>
          <a:bodyPr wrap="none" lIns="0" tIns="0" rIns="0" bIns="0"/>
          <a:lstStyle/>
          <a:p>
            <a:pPr>
              <a:spcAft>
                <a:spcPts val="12500"/>
              </a:spcAft>
              <a:defRPr/>
            </a:pPr>
            <a:r>
              <a:rPr lang="sk" sz="2778" i="1">
                <a:solidFill>
                  <a:srgbClr val="FFFFFF"/>
                </a:solidFill>
                <a:latin typeface="Palatino Linotype"/>
              </a:rPr>
              <a:t>Typy množín</a:t>
            </a:r>
          </a:p>
        </p:txBody>
      </p:sp>
      <p:sp>
        <p:nvSpPr>
          <p:cNvPr id="3" name="Obdĺžnik 2"/>
          <p:cNvSpPr/>
          <p:nvPr/>
        </p:nvSpPr>
        <p:spPr>
          <a:xfrm>
            <a:off x="979488" y="2927350"/>
            <a:ext cx="6634162" cy="738188"/>
          </a:xfrm>
          <a:prstGeom prst="rect">
            <a:avLst/>
          </a:prstGeom>
        </p:spPr>
        <p:txBody>
          <a:bodyPr lIns="0" tIns="0" rIns="0" bIns="0"/>
          <a:lstStyle/>
          <a:p>
            <a:pPr marL="304408">
              <a:spcBef>
                <a:spcPts val="12500"/>
              </a:spcBef>
              <a:spcAft>
                <a:spcPts val="833"/>
              </a:spcAft>
              <a:defRPr/>
            </a:pPr>
            <a:r>
              <a:rPr lang="sk" sz="1885">
                <a:latin typeface="Microsoft Sans Serif"/>
              </a:rPr>
              <a:t>Vymenovaná množina</a:t>
            </a:r>
          </a:p>
          <a:p>
            <a:pPr marL="304408">
              <a:defRPr/>
            </a:pPr>
            <a:r>
              <a:rPr lang="sk" sz="1885">
                <a:latin typeface="Microsoft Sans Serif"/>
              </a:rPr>
              <a:t>Množina vytvorená pomocou vnoreného selectu.</a:t>
            </a:r>
          </a:p>
        </p:txBody>
      </p:sp>
      <p:sp>
        <p:nvSpPr>
          <p:cNvPr id="4" name="Obdĺžnik 3"/>
          <p:cNvSpPr/>
          <p:nvPr/>
        </p:nvSpPr>
        <p:spPr>
          <a:xfrm>
            <a:off x="5848350" y="6423025"/>
            <a:ext cx="1765300" cy="187325"/>
          </a:xfrm>
          <a:prstGeom prst="rect">
            <a:avLst/>
          </a:prstGeom>
        </p:spPr>
        <p:txBody>
          <a:bodyPr wrap="none" lIns="0" tIns="0" rIns="0" bIns="0"/>
          <a:lstStyle/>
          <a:p>
            <a:pPr algn="just">
              <a:defRPr/>
            </a:pPr>
            <a:r>
              <a:rPr lang="sk" sz="1091" cap="small">
                <a:solidFill>
                  <a:srgbClr val="D4D4D4"/>
                </a:solidFill>
                <a:latin typeface="Courier New"/>
              </a:rPr>
              <a:t>► &lt; š ► «</a:t>
            </a:r>
          </a:p>
        </p:txBody>
      </p:sp>
    </p:spTree>
    <p:extLst>
      <p:ext uri="{BB962C8B-B14F-4D97-AF65-F5344CB8AC3E}">
        <p14:creationId xmlns:p14="http://schemas.microsoft.com/office/powerpoint/2010/main" val="277010839"/>
      </p:ext>
    </p:extLst>
  </p:cSld>
  <p:clrMapOvr>
    <a:masterClrMapping/>
  </p:clrMapOvr>
  <p:transition spd="med">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Obdĺžnik 1"/>
          <p:cNvSpPr>
            <a:spLocks noChangeArrowheads="1"/>
          </p:cNvSpPr>
          <p:nvPr/>
        </p:nvSpPr>
        <p:spPr bwMode="auto">
          <a:xfrm>
            <a:off x="228600" y="327025"/>
            <a:ext cx="3568700" cy="404813"/>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Aft>
                <a:spcPts val="11250"/>
              </a:spcAft>
            </a:pPr>
            <a:r>
              <a:rPr lang="en-US" altLang="en-US" sz="1600" i="1">
                <a:solidFill>
                  <a:srgbClr val="FFFFFF"/>
                </a:solidFill>
                <a:latin typeface="Palatino Linotype" panose="02040502050505030304" pitchFamily="18" charset="0"/>
              </a:rPr>
              <a:t>Vymenovaná množina</a:t>
            </a:r>
          </a:p>
        </p:txBody>
      </p:sp>
      <p:sp>
        <p:nvSpPr>
          <p:cNvPr id="112643" name="Obdĺžnik 2"/>
          <p:cNvSpPr>
            <a:spLocks noChangeArrowheads="1"/>
          </p:cNvSpPr>
          <p:nvPr/>
        </p:nvSpPr>
        <p:spPr bwMode="auto">
          <a:xfrm>
            <a:off x="355600" y="2686050"/>
            <a:ext cx="8005763"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just">
              <a:lnSpc>
                <a:spcPts val="1375"/>
              </a:lnSpc>
              <a:spcBef>
                <a:spcPts val="11250"/>
              </a:spcBef>
            </a:pPr>
            <a:r>
              <a:rPr lang="en-US" altLang="en-US" sz="1600" b="1">
                <a:latin typeface="Courier New" panose="02070309020205020404" pitchFamily="49" charset="0"/>
              </a:rPr>
              <a:t>select </a:t>
            </a:r>
            <a:r>
              <a:rPr lang="en-US" altLang="en-US" sz="1600" b="1" err="1">
                <a:latin typeface="Courier New" panose="02070309020205020404" pitchFamily="49" charset="0"/>
              </a:rPr>
              <a:t>meno</a:t>
            </a:r>
            <a:r>
              <a:rPr lang="en-US" altLang="en-US" sz="1600" b="1">
                <a:latin typeface="Courier New" panose="02070309020205020404" pitchFamily="49" charset="0"/>
              </a:rPr>
              <a:t>, </a:t>
            </a:r>
            <a:r>
              <a:rPr lang="en-US" altLang="en-US" sz="1600" b="1" err="1">
                <a:latin typeface="Courier New" panose="02070309020205020404" pitchFamily="49" charset="0"/>
              </a:rPr>
              <a:t>priezvisko</a:t>
            </a:r>
            <a:endParaRPr lang="en-US" altLang="en-US" sz="1600" b="1">
              <a:latin typeface="Courier New" panose="02070309020205020404" pitchFamily="49" charset="0"/>
            </a:endParaRPr>
          </a:p>
          <a:p>
            <a:pPr algn="just">
              <a:lnSpc>
                <a:spcPts val="1375"/>
              </a:lnSpc>
              <a:spcAft>
                <a:spcPts val="413"/>
              </a:spcAft>
            </a:pPr>
            <a:r>
              <a:rPr lang="en-US" altLang="en-US" sz="1600" b="1">
                <a:latin typeface="Courier New" panose="02070309020205020404" pitchFamily="49" charset="0"/>
              </a:rPr>
              <a:t>from </a:t>
            </a:r>
            <a:r>
              <a:rPr lang="en-US" altLang="en-US" sz="1600" b="1" err="1">
                <a:latin typeface="Courier New" panose="02070309020205020404" pitchFamily="49" charset="0"/>
              </a:rPr>
              <a:t>os_udaje</a:t>
            </a:r>
            <a:r>
              <a:rPr lang="en-US" altLang="en-US" sz="1600" b="1">
                <a:latin typeface="Courier New" panose="02070309020205020404" pitchFamily="49" charset="0"/>
              </a:rPr>
              <a:t> JOIN student USING (</a:t>
            </a:r>
            <a:r>
              <a:rPr lang="en-US" altLang="en-US" sz="1600" b="1" err="1">
                <a:latin typeface="Courier New" panose="02070309020205020404" pitchFamily="49" charset="0"/>
              </a:rPr>
              <a:t>rod_cislo</a:t>
            </a:r>
            <a:r>
              <a:rPr lang="en-US" altLang="en-US" sz="1600" b="1">
                <a:latin typeface="Courier New" panose="02070309020205020404" pitchFamily="49" charset="0"/>
              </a:rPr>
              <a:t>) </a:t>
            </a:r>
          </a:p>
          <a:p>
            <a:pPr algn="just">
              <a:lnSpc>
                <a:spcPts val="1375"/>
              </a:lnSpc>
              <a:spcAft>
                <a:spcPts val="413"/>
              </a:spcAft>
            </a:pPr>
            <a:r>
              <a:rPr lang="en-US" altLang="en-US" sz="1600" b="1">
                <a:latin typeface="Courier New" panose="02070309020205020404" pitchFamily="49" charset="0"/>
              </a:rPr>
              <a:t>where </a:t>
            </a:r>
            <a:r>
              <a:rPr lang="en-US" altLang="en-US" sz="1600" b="1" err="1">
                <a:latin typeface="Courier New" panose="02070309020205020404" pitchFamily="49" charset="0"/>
              </a:rPr>
              <a:t>rocnik</a:t>
            </a:r>
            <a:r>
              <a:rPr lang="en-US" altLang="en-US" sz="1600" b="1">
                <a:latin typeface="Courier New" panose="02070309020205020404" pitchFamily="49" charset="0"/>
              </a:rPr>
              <a:t> </a:t>
            </a:r>
            <a:r>
              <a:rPr lang="en-US" altLang="en-US" sz="1600" b="1">
                <a:solidFill>
                  <a:srgbClr val="FF0000"/>
                </a:solidFill>
                <a:latin typeface="Courier New" panose="02070309020205020404" pitchFamily="49" charset="0"/>
              </a:rPr>
              <a:t>IN</a:t>
            </a:r>
            <a:r>
              <a:rPr lang="en-US" altLang="en-US" sz="1600" b="1">
                <a:latin typeface="Courier New" panose="02070309020205020404" pitchFamily="49" charset="0"/>
              </a:rPr>
              <a:t> ( 1, 2);</a:t>
            </a:r>
          </a:p>
          <a:p>
            <a:pPr algn="just">
              <a:lnSpc>
                <a:spcPts val="1375"/>
              </a:lnSpc>
              <a:spcAft>
                <a:spcPts val="413"/>
              </a:spcAft>
            </a:pPr>
            <a:endParaRPr lang="en-US" altLang="en-US" sz="1600" b="1">
              <a:latin typeface="Courier New" panose="02070309020205020404" pitchFamily="49" charset="0"/>
            </a:endParaRPr>
          </a:p>
          <a:p>
            <a:pPr algn="just">
              <a:lnSpc>
                <a:spcPts val="1375"/>
              </a:lnSpc>
              <a:spcAft>
                <a:spcPts val="413"/>
              </a:spcAft>
            </a:pPr>
            <a:endParaRPr lang="en-US" altLang="en-US" sz="1600" b="1">
              <a:latin typeface="Courier New" panose="02070309020205020404" pitchFamily="49" charset="0"/>
            </a:endParaRPr>
          </a:p>
          <a:p>
            <a:pPr algn="just">
              <a:lnSpc>
                <a:spcPts val="1375"/>
              </a:lnSpc>
            </a:pPr>
            <a:r>
              <a:rPr lang="en-US" altLang="en-US" sz="1600" b="1">
                <a:latin typeface="Courier New" panose="02070309020205020404" pitchFamily="49" charset="0"/>
              </a:rPr>
              <a:t>select </a:t>
            </a:r>
            <a:r>
              <a:rPr lang="en-US" altLang="en-US" sz="1600" b="1" err="1">
                <a:latin typeface="Courier New" panose="02070309020205020404" pitchFamily="49" charset="0"/>
              </a:rPr>
              <a:t>meno</a:t>
            </a:r>
            <a:r>
              <a:rPr lang="en-US" altLang="en-US" sz="1600" b="1">
                <a:latin typeface="Courier New" panose="02070309020205020404" pitchFamily="49" charset="0"/>
              </a:rPr>
              <a:t>, </a:t>
            </a:r>
            <a:r>
              <a:rPr lang="en-US" altLang="en-US" sz="1600" b="1" err="1">
                <a:latin typeface="Courier New" panose="02070309020205020404" pitchFamily="49" charset="0"/>
              </a:rPr>
              <a:t>priezvisko</a:t>
            </a:r>
            <a:endParaRPr lang="en-US" altLang="en-US" sz="1600" b="1">
              <a:latin typeface="Courier New" panose="02070309020205020404" pitchFamily="49" charset="0"/>
            </a:endParaRPr>
          </a:p>
          <a:p>
            <a:pPr algn="just">
              <a:lnSpc>
                <a:spcPts val="1375"/>
              </a:lnSpc>
            </a:pPr>
            <a:r>
              <a:rPr lang="en-US" altLang="en-US" sz="1600" b="1">
                <a:latin typeface="Courier New" panose="02070309020205020404" pitchFamily="49" charset="0"/>
              </a:rPr>
              <a:t>from </a:t>
            </a:r>
            <a:r>
              <a:rPr lang="en-US" altLang="en-US" sz="1600" b="1" err="1">
                <a:latin typeface="Courier New" panose="02070309020205020404" pitchFamily="49" charset="0"/>
              </a:rPr>
              <a:t>os_udaje</a:t>
            </a:r>
            <a:r>
              <a:rPr lang="en-US" altLang="en-US" sz="1600" b="1">
                <a:latin typeface="Courier New" panose="02070309020205020404" pitchFamily="49" charset="0"/>
              </a:rPr>
              <a:t> JOIN student USING (</a:t>
            </a:r>
            <a:r>
              <a:rPr lang="en-US" altLang="en-US" sz="1600" b="1" err="1">
                <a:latin typeface="Courier New" panose="02070309020205020404" pitchFamily="49" charset="0"/>
              </a:rPr>
              <a:t>rod_cislo</a:t>
            </a:r>
            <a:r>
              <a:rPr lang="en-US" altLang="en-US" sz="1600" b="1">
                <a:latin typeface="Courier New" panose="02070309020205020404" pitchFamily="49" charset="0"/>
              </a:rPr>
              <a:t>) </a:t>
            </a:r>
          </a:p>
          <a:p>
            <a:pPr algn="just">
              <a:lnSpc>
                <a:spcPts val="1375"/>
              </a:lnSpc>
            </a:pPr>
            <a:r>
              <a:rPr lang="en-US" altLang="en-US" sz="1600" b="1">
                <a:latin typeface="Courier New" panose="02070309020205020404" pitchFamily="49" charset="0"/>
              </a:rPr>
              <a:t>where </a:t>
            </a:r>
            <a:r>
              <a:rPr lang="en-US" altLang="en-US" sz="1600" b="1" err="1">
                <a:latin typeface="Courier New" panose="02070309020205020404" pitchFamily="49" charset="0"/>
              </a:rPr>
              <a:t>rocnik</a:t>
            </a:r>
            <a:r>
              <a:rPr lang="en-US" altLang="en-US" sz="1600" b="1">
                <a:latin typeface="Courier New" panose="02070309020205020404" pitchFamily="49" charset="0"/>
              </a:rPr>
              <a:t> </a:t>
            </a:r>
            <a:r>
              <a:rPr lang="en-US" altLang="en-US" sz="1600" b="1">
                <a:solidFill>
                  <a:srgbClr val="FF0000"/>
                </a:solidFill>
                <a:latin typeface="Courier New" panose="02070309020205020404" pitchFamily="49" charset="0"/>
              </a:rPr>
              <a:t>NOT IN </a:t>
            </a:r>
            <a:r>
              <a:rPr lang="en-US" altLang="en-US" sz="1600" b="1">
                <a:latin typeface="Courier New" panose="02070309020205020404" pitchFamily="49" charset="0"/>
              </a:rPr>
              <a:t>( 1, 2);</a:t>
            </a:r>
          </a:p>
        </p:txBody>
      </p:sp>
    </p:spTree>
    <p:extLst>
      <p:ext uri="{BB962C8B-B14F-4D97-AF65-F5344CB8AC3E}">
        <p14:creationId xmlns:p14="http://schemas.microsoft.com/office/powerpoint/2010/main" val="2477202783"/>
      </p:ext>
    </p:extLst>
  </p:cSld>
  <p:clrMapOvr>
    <a:masterClrMapping/>
  </p:clrMapOvr>
  <p:transition spd="med">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ĺžnik 1"/>
          <p:cNvSpPr/>
          <p:nvPr/>
        </p:nvSpPr>
        <p:spPr>
          <a:xfrm>
            <a:off x="327025" y="284163"/>
            <a:ext cx="7618413" cy="441325"/>
          </a:xfrm>
          <a:prstGeom prst="rect">
            <a:avLst/>
          </a:prstGeom>
          <a:solidFill>
            <a:srgbClr val="808080"/>
          </a:solidFill>
        </p:spPr>
        <p:txBody>
          <a:bodyPr wrap="none" lIns="0" tIns="0" rIns="0" bIns="0"/>
          <a:lstStyle/>
          <a:p>
            <a:pPr>
              <a:spcAft>
                <a:spcPts val="5834"/>
              </a:spcAft>
              <a:defRPr/>
            </a:pPr>
            <a:r>
              <a:rPr lang="sk" sz="2778" i="1">
                <a:solidFill>
                  <a:srgbClr val="FFFFFF"/>
                </a:solidFill>
                <a:latin typeface="Palatino Linotype"/>
              </a:rPr>
              <a:t>Množina vytvorená pomocou vnoreného selectu.</a:t>
            </a:r>
          </a:p>
        </p:txBody>
      </p:sp>
      <p:sp>
        <p:nvSpPr>
          <p:cNvPr id="3" name="Obdĺžnik 2"/>
          <p:cNvSpPr/>
          <p:nvPr/>
        </p:nvSpPr>
        <p:spPr>
          <a:xfrm>
            <a:off x="768350" y="1239838"/>
            <a:ext cx="193675" cy="180975"/>
          </a:xfrm>
          <a:prstGeom prst="rect">
            <a:avLst/>
          </a:prstGeom>
        </p:spPr>
        <p:txBody>
          <a:bodyPr wrap="none" lIns="0" tIns="0" rIns="0" bIns="0"/>
          <a:lstStyle/>
          <a:p>
            <a:pPr>
              <a:spcBef>
                <a:spcPts val="5834"/>
              </a:spcBef>
              <a:spcAft>
                <a:spcPts val="1250"/>
              </a:spcAft>
              <a:defRPr/>
            </a:pPr>
            <a:r>
              <a:rPr lang="sk" sz="992" b="1">
                <a:latin typeface="Microsoft Sans Serif"/>
              </a:rPr>
              <a:t>IN</a:t>
            </a:r>
          </a:p>
        </p:txBody>
      </p:sp>
      <p:sp>
        <p:nvSpPr>
          <p:cNvPr id="4" name="Obdĺžnik 3"/>
          <p:cNvSpPr/>
          <p:nvPr/>
        </p:nvSpPr>
        <p:spPr>
          <a:xfrm>
            <a:off x="1147763" y="1597025"/>
            <a:ext cx="6594475" cy="574675"/>
          </a:xfrm>
          <a:prstGeom prst="rect">
            <a:avLst/>
          </a:prstGeom>
        </p:spPr>
        <p:txBody>
          <a:bodyPr lIns="0" tIns="0" rIns="0" bIns="0"/>
          <a:lstStyle/>
          <a:p>
            <a:pPr>
              <a:spcBef>
                <a:spcPts val="1250"/>
              </a:spcBef>
              <a:defRPr/>
            </a:pPr>
            <a:r>
              <a:rPr lang="sk" sz="1600" b="1">
                <a:latin typeface="Courier New"/>
              </a:rPr>
              <a:t>select ou.meno, ou.priezvisko</a:t>
            </a:r>
          </a:p>
          <a:p>
            <a:pPr marL="195547">
              <a:lnSpc>
                <a:spcPts val="1810"/>
              </a:lnSpc>
              <a:defRPr/>
            </a:pPr>
            <a:r>
              <a:rPr lang="sk" sz="1600" b="1">
                <a:latin typeface="Courier New"/>
              </a:rPr>
              <a:t>from os_udaje ou JOIN </a:t>
            </a:r>
            <a:r>
              <a:rPr lang="en-US" sz="1600" b="1">
                <a:latin typeface="Courier New"/>
              </a:rPr>
              <a:t>student</a:t>
            </a:r>
            <a:r>
              <a:rPr lang="sk" sz="1600" b="1">
                <a:latin typeface="Courier New"/>
              </a:rPr>
              <a:t> st USING (rod_cislo) where </a:t>
            </a:r>
            <a:r>
              <a:rPr lang="sk" sz="1600" b="1">
                <a:solidFill>
                  <a:srgbClr val="FF0000"/>
                </a:solidFill>
                <a:latin typeface="Courier New"/>
              </a:rPr>
              <a:t>st.os_cislo</a:t>
            </a:r>
            <a:r>
              <a:rPr lang="sk" sz="1600" b="1">
                <a:latin typeface="Courier New"/>
              </a:rPr>
              <a:t> NOT IN</a:t>
            </a:r>
          </a:p>
        </p:txBody>
      </p:sp>
      <p:sp>
        <p:nvSpPr>
          <p:cNvPr id="5" name="Obdĺžnik 4"/>
          <p:cNvSpPr/>
          <p:nvPr/>
        </p:nvSpPr>
        <p:spPr>
          <a:xfrm>
            <a:off x="2351088" y="2438400"/>
            <a:ext cx="4791075" cy="785813"/>
          </a:xfrm>
          <a:prstGeom prst="rect">
            <a:avLst/>
          </a:prstGeom>
        </p:spPr>
        <p:txBody>
          <a:bodyPr lIns="0" tIns="0" rIns="0" bIns="0"/>
          <a:lstStyle/>
          <a:p>
            <a:pPr marL="363878" indent="-327591">
              <a:lnSpc>
                <a:spcPts val="1571"/>
              </a:lnSpc>
              <a:defRPr/>
            </a:pPr>
            <a:r>
              <a:rPr lang="sk" sz="1600" b="1">
                <a:latin typeface="Courier New"/>
              </a:rPr>
              <a:t>( select </a:t>
            </a:r>
            <a:r>
              <a:rPr lang="sk" sz="1600" b="1">
                <a:solidFill>
                  <a:srgbClr val="FF0000"/>
                </a:solidFill>
                <a:latin typeface="Courier New"/>
              </a:rPr>
              <a:t>zp.os_cislo</a:t>
            </a:r>
            <a:r>
              <a:rPr lang="sk" sz="1600" b="1">
                <a:latin typeface="Courier New"/>
              </a:rPr>
              <a:t> from zap_predmety zp where zp.cis_predm = ’BIO6’ );</a:t>
            </a:r>
          </a:p>
          <a:p>
            <a:pPr marL="363878" indent="-327591">
              <a:lnSpc>
                <a:spcPts val="1571"/>
              </a:lnSpc>
              <a:defRPr/>
            </a:pPr>
            <a:endParaRPr lang="sk" sz="1091">
              <a:latin typeface="Courier New"/>
            </a:endParaRPr>
          </a:p>
        </p:txBody>
      </p:sp>
      <p:sp>
        <p:nvSpPr>
          <p:cNvPr id="6" name="Obdĺžnik 5"/>
          <p:cNvSpPr/>
          <p:nvPr/>
        </p:nvSpPr>
        <p:spPr>
          <a:xfrm>
            <a:off x="671513" y="3395663"/>
            <a:ext cx="581025" cy="315912"/>
          </a:xfrm>
          <a:prstGeom prst="rect">
            <a:avLst/>
          </a:prstGeom>
        </p:spPr>
        <p:txBody>
          <a:bodyPr wrap="none" lIns="0" tIns="0" rIns="0" bIns="0"/>
          <a:lstStyle/>
          <a:p>
            <a:pPr>
              <a:spcAft>
                <a:spcPts val="417"/>
              </a:spcAft>
              <a:defRPr/>
            </a:pPr>
            <a:r>
              <a:rPr lang="sk" sz="992" b="1">
                <a:latin typeface="Microsoft Sans Serif"/>
              </a:rPr>
              <a:t>EXiSTS</a:t>
            </a:r>
          </a:p>
        </p:txBody>
      </p:sp>
      <p:sp>
        <p:nvSpPr>
          <p:cNvPr id="7" name="Obdĺžnik 6"/>
          <p:cNvSpPr/>
          <p:nvPr/>
        </p:nvSpPr>
        <p:spPr>
          <a:xfrm>
            <a:off x="1239838" y="3883025"/>
            <a:ext cx="6502400" cy="1536700"/>
          </a:xfrm>
          <a:prstGeom prst="rect">
            <a:avLst/>
          </a:prstGeom>
        </p:spPr>
        <p:txBody>
          <a:bodyPr lIns="0" tIns="0" rIns="0" bIns="0"/>
          <a:lstStyle/>
          <a:p>
            <a:pPr>
              <a:lnSpc>
                <a:spcPts val="1381"/>
              </a:lnSpc>
              <a:spcBef>
                <a:spcPts val="417"/>
              </a:spcBef>
              <a:defRPr/>
            </a:pPr>
            <a:r>
              <a:rPr lang="sk" sz="1600" b="1">
                <a:latin typeface="Courier New"/>
              </a:rPr>
              <a:t>select ou.meno, ou.priezvisko</a:t>
            </a:r>
          </a:p>
          <a:p>
            <a:pPr marL="195547">
              <a:lnSpc>
                <a:spcPts val="1381"/>
              </a:lnSpc>
              <a:defRPr/>
            </a:pPr>
            <a:r>
              <a:rPr lang="sk" sz="1600" b="1">
                <a:latin typeface="Courier New"/>
              </a:rPr>
              <a:t>from os_udaje ou JOIN </a:t>
            </a:r>
            <a:r>
              <a:rPr lang="en-US" sz="1600" b="1">
                <a:latin typeface="Courier New"/>
              </a:rPr>
              <a:t>student</a:t>
            </a:r>
            <a:r>
              <a:rPr lang="sk" sz="1600" b="1">
                <a:latin typeface="Courier New"/>
              </a:rPr>
              <a:t> st USING (rod_cislo) where NOT EXISTS </a:t>
            </a:r>
          </a:p>
          <a:p>
            <a:pPr marL="195547">
              <a:lnSpc>
                <a:spcPts val="1381"/>
              </a:lnSpc>
              <a:defRPr/>
            </a:pPr>
            <a:endParaRPr lang="sk" sz="1600" b="1">
              <a:latin typeface="Courier New"/>
            </a:endParaRPr>
          </a:p>
          <a:p>
            <a:pPr marL="195547">
              <a:lnSpc>
                <a:spcPts val="1381"/>
              </a:lnSpc>
              <a:defRPr/>
            </a:pPr>
            <a:r>
              <a:rPr lang="sk" sz="1600" b="1">
                <a:latin typeface="Courier New"/>
              </a:rPr>
              <a:t>( select ’x’ from zap_predmety zp </a:t>
            </a:r>
          </a:p>
          <a:p>
            <a:pPr marL="195547">
              <a:lnSpc>
                <a:spcPts val="1381"/>
              </a:lnSpc>
              <a:defRPr/>
            </a:pPr>
            <a:r>
              <a:rPr lang="sk" sz="1600" b="1">
                <a:latin typeface="Courier New"/>
              </a:rPr>
              <a:t>	where zp.cis_predm = ’BIO6’ </a:t>
            </a:r>
          </a:p>
          <a:p>
            <a:pPr marL="195547">
              <a:lnSpc>
                <a:spcPts val="1381"/>
              </a:lnSpc>
              <a:defRPr/>
            </a:pPr>
            <a:r>
              <a:rPr lang="sk" sz="1600" b="1">
                <a:latin typeface="Courier New"/>
              </a:rPr>
              <a:t>        </a:t>
            </a:r>
            <a:r>
              <a:rPr lang="sk" sz="1600" b="1">
                <a:solidFill>
                  <a:srgbClr val="FF0000"/>
                </a:solidFill>
                <a:latin typeface="Courier New"/>
              </a:rPr>
              <a:t>and zp.os_cislo = st.os_cislo</a:t>
            </a:r>
          </a:p>
          <a:p>
            <a:pPr marL="926328" indent="-327591">
              <a:spcAft>
                <a:spcPts val="5834"/>
              </a:spcAft>
              <a:defRPr/>
            </a:pPr>
            <a:r>
              <a:rPr lang="sk" sz="1600" b="1">
                <a:latin typeface="Courier New"/>
              </a:rPr>
              <a:t>);</a:t>
            </a:r>
          </a:p>
        </p:txBody>
      </p:sp>
      <p:sp>
        <p:nvSpPr>
          <p:cNvPr id="8" name="Obdĺžnik 7"/>
          <p:cNvSpPr/>
          <p:nvPr/>
        </p:nvSpPr>
        <p:spPr>
          <a:xfrm>
            <a:off x="6199188" y="6423025"/>
            <a:ext cx="525462" cy="187325"/>
          </a:xfrm>
          <a:prstGeom prst="rect">
            <a:avLst/>
          </a:prstGeom>
        </p:spPr>
        <p:txBody>
          <a:bodyPr wrap="none" lIns="0" tIns="0" rIns="0" bIns="0"/>
          <a:lstStyle/>
          <a:p>
            <a:pPr>
              <a:spcBef>
                <a:spcPts val="5834"/>
              </a:spcBef>
              <a:defRPr/>
            </a:pPr>
            <a:r>
              <a:rPr lang="sk" sz="1191">
                <a:solidFill>
                  <a:srgbClr val="D4D4D4"/>
                </a:solidFill>
                <a:latin typeface="Microsoft Sans Serif"/>
              </a:rPr>
              <a:t>► </a:t>
            </a:r>
            <a:r>
              <a:rPr lang="sk" sz="992" i="1">
                <a:solidFill>
                  <a:srgbClr val="D4D4D4"/>
                </a:solidFill>
                <a:latin typeface="Courier New"/>
              </a:rPr>
              <a:t>4</a:t>
            </a:r>
            <a:r>
              <a:rPr lang="sk" sz="1290" i="1">
                <a:solidFill>
                  <a:srgbClr val="D4D4D4"/>
                </a:solidFill>
                <a:latin typeface="Palatino Linotype"/>
              </a:rPr>
              <a:t> &amp;</a:t>
            </a:r>
          </a:p>
        </p:txBody>
      </p:sp>
      <p:sp>
        <p:nvSpPr>
          <p:cNvPr id="9" name="Obdĺžnik 8"/>
          <p:cNvSpPr/>
          <p:nvPr/>
        </p:nvSpPr>
        <p:spPr>
          <a:xfrm>
            <a:off x="5848350" y="6446838"/>
            <a:ext cx="327025" cy="146050"/>
          </a:xfrm>
          <a:prstGeom prst="rect">
            <a:avLst/>
          </a:prstGeom>
        </p:spPr>
        <p:txBody>
          <a:bodyPr wrap="none" lIns="0" tIns="0" rIns="0" bIns="0"/>
          <a:lstStyle/>
          <a:p>
            <a:pPr>
              <a:defRPr/>
            </a:pPr>
            <a:r>
              <a:rPr lang="sk" sz="992" i="1">
                <a:solidFill>
                  <a:srgbClr val="D4D4D4"/>
                </a:solidFill>
                <a:latin typeface="Courier New"/>
              </a:rPr>
              <a:t>4</a:t>
            </a:r>
            <a:r>
              <a:rPr lang="sk" sz="1191">
                <a:solidFill>
                  <a:srgbClr val="D4D4D4"/>
                </a:solidFill>
                <a:latin typeface="Microsoft Sans Serif"/>
              </a:rPr>
              <a:t> □</a:t>
            </a:r>
          </a:p>
        </p:txBody>
      </p:sp>
    </p:spTree>
    <p:extLst>
      <p:ext uri="{BB962C8B-B14F-4D97-AF65-F5344CB8AC3E}">
        <p14:creationId xmlns:p14="http://schemas.microsoft.com/office/powerpoint/2010/main" val="3510215039"/>
      </p:ext>
    </p:extLst>
  </p:cSld>
  <p:clrMapOvr>
    <a:masterClrMapping/>
  </p:clrMapOvr>
  <p:transition spd="med">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ĺžnik 1"/>
          <p:cNvSpPr/>
          <p:nvPr/>
        </p:nvSpPr>
        <p:spPr>
          <a:xfrm>
            <a:off x="4529138" y="0"/>
            <a:ext cx="152400" cy="296863"/>
          </a:xfrm>
          <a:prstGeom prst="rect">
            <a:avLst/>
          </a:prstGeom>
          <a:solidFill>
            <a:srgbClr val="808080"/>
          </a:solidFill>
        </p:spPr>
        <p:txBody>
          <a:bodyPr wrap="none" lIns="0" tIns="0" rIns="0" bIns="0"/>
          <a:lstStyle/>
          <a:p>
            <a:pPr>
              <a:defRPr/>
            </a:pPr>
            <a:r>
              <a:rPr lang="sk" sz="1984">
                <a:solidFill>
                  <a:srgbClr val="808080"/>
                </a:solidFill>
                <a:latin typeface="Courier New"/>
              </a:rPr>
              <a:t>1</a:t>
            </a:r>
          </a:p>
        </p:txBody>
      </p:sp>
      <p:sp>
        <p:nvSpPr>
          <p:cNvPr id="3" name="Obdĺžnik 2"/>
          <p:cNvSpPr/>
          <p:nvPr/>
        </p:nvSpPr>
        <p:spPr>
          <a:xfrm>
            <a:off x="695325" y="762000"/>
            <a:ext cx="1984375" cy="266700"/>
          </a:xfrm>
          <a:prstGeom prst="rect">
            <a:avLst/>
          </a:prstGeom>
          <a:solidFill>
            <a:srgbClr val="606060"/>
          </a:solidFill>
        </p:spPr>
        <p:txBody>
          <a:bodyPr wrap="none" lIns="0" tIns="0" rIns="0" bIns="0"/>
          <a:lstStyle/>
          <a:p>
            <a:pPr>
              <a:spcAft>
                <a:spcPts val="833"/>
              </a:spcAft>
              <a:defRPr/>
            </a:pPr>
            <a:r>
              <a:rPr lang="sk" sz="1984" i="1">
                <a:solidFill>
                  <a:srgbClr val="FFFFFF"/>
                </a:solidFill>
                <a:latin typeface="Palatino Linotype"/>
              </a:rPr>
              <a:t>Min - minimum</a:t>
            </a:r>
          </a:p>
        </p:txBody>
      </p:sp>
      <p:sp>
        <p:nvSpPr>
          <p:cNvPr id="4" name="Obdĺžnik 3"/>
          <p:cNvSpPr/>
          <p:nvPr/>
        </p:nvSpPr>
        <p:spPr>
          <a:xfrm>
            <a:off x="682625" y="1143000"/>
            <a:ext cx="1463675" cy="327025"/>
          </a:xfrm>
          <a:prstGeom prst="rect">
            <a:avLst/>
          </a:prstGeom>
          <a:solidFill>
            <a:srgbClr val="E5E5E5"/>
          </a:solidFill>
        </p:spPr>
        <p:txBody>
          <a:bodyPr wrap="none" lIns="0" tIns="0" rIns="0" bIns="0"/>
          <a:lstStyle/>
          <a:p>
            <a:pPr>
              <a:spcBef>
                <a:spcPts val="833"/>
              </a:spcBef>
              <a:spcAft>
                <a:spcPts val="2500"/>
              </a:spcAft>
              <a:defRPr/>
            </a:pPr>
            <a:r>
              <a:rPr lang="sk" sz="1687" b="1">
                <a:latin typeface="Courier New"/>
              </a:rPr>
              <a:t>Min(vyraz)</a:t>
            </a:r>
          </a:p>
        </p:txBody>
      </p:sp>
      <p:sp>
        <p:nvSpPr>
          <p:cNvPr id="5" name="Obdĺžnik 4"/>
          <p:cNvSpPr/>
          <p:nvPr/>
        </p:nvSpPr>
        <p:spPr>
          <a:xfrm>
            <a:off x="695325" y="1863725"/>
            <a:ext cx="2044700" cy="265113"/>
          </a:xfrm>
          <a:prstGeom prst="rect">
            <a:avLst/>
          </a:prstGeom>
          <a:solidFill>
            <a:srgbClr val="606060"/>
          </a:solidFill>
        </p:spPr>
        <p:txBody>
          <a:bodyPr wrap="none" lIns="0" tIns="0" rIns="0" bIns="0"/>
          <a:lstStyle/>
          <a:p>
            <a:pPr>
              <a:spcBef>
                <a:spcPts val="2500"/>
              </a:spcBef>
              <a:spcAft>
                <a:spcPts val="833"/>
              </a:spcAft>
              <a:defRPr/>
            </a:pPr>
            <a:r>
              <a:rPr lang="sk" sz="1984" i="1">
                <a:solidFill>
                  <a:srgbClr val="FFFFFF"/>
                </a:solidFill>
                <a:latin typeface="Palatino Linotype"/>
              </a:rPr>
              <a:t>Max - maximum</a:t>
            </a:r>
          </a:p>
        </p:txBody>
      </p:sp>
      <p:sp>
        <p:nvSpPr>
          <p:cNvPr id="6" name="Obdĺžnik 5"/>
          <p:cNvSpPr/>
          <p:nvPr/>
        </p:nvSpPr>
        <p:spPr>
          <a:xfrm>
            <a:off x="682625" y="2249488"/>
            <a:ext cx="1463675" cy="327025"/>
          </a:xfrm>
          <a:prstGeom prst="rect">
            <a:avLst/>
          </a:prstGeom>
          <a:solidFill>
            <a:srgbClr val="E5E5E5"/>
          </a:solidFill>
        </p:spPr>
        <p:txBody>
          <a:bodyPr wrap="none" lIns="0" tIns="0" rIns="0" bIns="0"/>
          <a:lstStyle/>
          <a:p>
            <a:pPr>
              <a:spcBef>
                <a:spcPts val="833"/>
              </a:spcBef>
              <a:spcAft>
                <a:spcPts val="2500"/>
              </a:spcAft>
              <a:defRPr/>
            </a:pPr>
            <a:r>
              <a:rPr lang="sk" sz="1687" b="1">
                <a:latin typeface="Courier New"/>
              </a:rPr>
              <a:t>Max(vyraz)</a:t>
            </a:r>
          </a:p>
        </p:txBody>
      </p:sp>
      <p:sp>
        <p:nvSpPr>
          <p:cNvPr id="7" name="Obdĺžnik 6"/>
          <p:cNvSpPr/>
          <p:nvPr/>
        </p:nvSpPr>
        <p:spPr>
          <a:xfrm>
            <a:off x="695325" y="2970213"/>
            <a:ext cx="1493838" cy="271462"/>
          </a:xfrm>
          <a:prstGeom prst="rect">
            <a:avLst/>
          </a:prstGeom>
          <a:solidFill>
            <a:srgbClr val="606060"/>
          </a:solidFill>
        </p:spPr>
        <p:txBody>
          <a:bodyPr wrap="none" lIns="0" tIns="0" rIns="0" bIns="0"/>
          <a:lstStyle/>
          <a:p>
            <a:pPr>
              <a:spcBef>
                <a:spcPts val="2500"/>
              </a:spcBef>
              <a:spcAft>
                <a:spcPts val="833"/>
              </a:spcAft>
              <a:defRPr/>
            </a:pPr>
            <a:r>
              <a:rPr lang="sk" sz="1984" i="1">
                <a:solidFill>
                  <a:srgbClr val="FFFFFF"/>
                </a:solidFill>
                <a:latin typeface="Palatino Linotype"/>
              </a:rPr>
              <a:t>Sum - súčet</a:t>
            </a:r>
          </a:p>
        </p:txBody>
      </p:sp>
      <p:sp>
        <p:nvSpPr>
          <p:cNvPr id="8" name="Obdĺžnik 7"/>
          <p:cNvSpPr/>
          <p:nvPr/>
        </p:nvSpPr>
        <p:spPr>
          <a:xfrm>
            <a:off x="688975" y="3362325"/>
            <a:ext cx="1457325" cy="327025"/>
          </a:xfrm>
          <a:prstGeom prst="rect">
            <a:avLst/>
          </a:prstGeom>
          <a:solidFill>
            <a:srgbClr val="E5E5E5"/>
          </a:solidFill>
        </p:spPr>
        <p:txBody>
          <a:bodyPr wrap="none" lIns="0" tIns="0" rIns="0" bIns="0"/>
          <a:lstStyle/>
          <a:p>
            <a:pPr>
              <a:spcBef>
                <a:spcPts val="833"/>
              </a:spcBef>
              <a:spcAft>
                <a:spcPts val="2500"/>
              </a:spcAft>
              <a:defRPr/>
            </a:pPr>
            <a:r>
              <a:rPr lang="sk" sz="1687" b="1">
                <a:latin typeface="Courier New"/>
              </a:rPr>
              <a:t>Sum(vyraz)</a:t>
            </a:r>
          </a:p>
        </p:txBody>
      </p:sp>
      <p:sp>
        <p:nvSpPr>
          <p:cNvPr id="9" name="Obdĺžnik 8"/>
          <p:cNvSpPr/>
          <p:nvPr/>
        </p:nvSpPr>
        <p:spPr>
          <a:xfrm>
            <a:off x="695325" y="4070350"/>
            <a:ext cx="1754188" cy="333375"/>
          </a:xfrm>
          <a:prstGeom prst="rect">
            <a:avLst/>
          </a:prstGeom>
          <a:solidFill>
            <a:srgbClr val="606060"/>
          </a:solidFill>
        </p:spPr>
        <p:txBody>
          <a:bodyPr wrap="none" lIns="0" tIns="0" rIns="0" bIns="0"/>
          <a:lstStyle/>
          <a:p>
            <a:pPr>
              <a:spcBef>
                <a:spcPts val="2500"/>
              </a:spcBef>
              <a:spcAft>
                <a:spcPts val="833"/>
              </a:spcAft>
              <a:defRPr/>
            </a:pPr>
            <a:r>
              <a:rPr lang="sk" sz="1984" i="1">
                <a:solidFill>
                  <a:srgbClr val="FFFFFF"/>
                </a:solidFill>
                <a:latin typeface="Palatino Linotype"/>
              </a:rPr>
              <a:t>Avg - priemer</a:t>
            </a:r>
          </a:p>
        </p:txBody>
      </p:sp>
      <p:sp>
        <p:nvSpPr>
          <p:cNvPr id="10" name="Obdĺžnik 9"/>
          <p:cNvSpPr/>
          <p:nvPr/>
        </p:nvSpPr>
        <p:spPr>
          <a:xfrm>
            <a:off x="682625" y="4481513"/>
            <a:ext cx="1463675" cy="327025"/>
          </a:xfrm>
          <a:prstGeom prst="rect">
            <a:avLst/>
          </a:prstGeom>
          <a:solidFill>
            <a:srgbClr val="E5E5E5"/>
          </a:solidFill>
        </p:spPr>
        <p:txBody>
          <a:bodyPr wrap="none" lIns="0" tIns="0" rIns="0" bIns="0"/>
          <a:lstStyle/>
          <a:p>
            <a:pPr>
              <a:spcBef>
                <a:spcPts val="833"/>
              </a:spcBef>
              <a:spcAft>
                <a:spcPts val="2500"/>
              </a:spcAft>
              <a:defRPr/>
            </a:pPr>
            <a:r>
              <a:rPr lang="sk" sz="1687" b="1">
                <a:latin typeface="Courier New"/>
              </a:rPr>
              <a:t>Avg(vyraz)</a:t>
            </a:r>
          </a:p>
        </p:txBody>
      </p:sp>
      <p:sp>
        <p:nvSpPr>
          <p:cNvPr id="11" name="Obdĺžnik 10"/>
          <p:cNvSpPr/>
          <p:nvPr/>
        </p:nvSpPr>
        <p:spPr>
          <a:xfrm>
            <a:off x="719138" y="5200650"/>
            <a:ext cx="2649537" cy="320675"/>
          </a:xfrm>
          <a:prstGeom prst="rect">
            <a:avLst/>
          </a:prstGeom>
          <a:solidFill>
            <a:srgbClr val="606060"/>
          </a:solidFill>
        </p:spPr>
        <p:txBody>
          <a:bodyPr wrap="none" lIns="0" tIns="0" rIns="0" bIns="0"/>
          <a:lstStyle/>
          <a:p>
            <a:pPr>
              <a:spcBef>
                <a:spcPts val="2500"/>
              </a:spcBef>
              <a:spcAft>
                <a:spcPts val="833"/>
              </a:spcAft>
              <a:defRPr/>
            </a:pPr>
            <a:r>
              <a:rPr lang="sk" sz="1984" i="1">
                <a:solidFill>
                  <a:srgbClr val="FFFFFF"/>
                </a:solidFill>
                <a:latin typeface="Palatino Linotype"/>
              </a:rPr>
              <a:t>Count - počet riadkov</a:t>
            </a:r>
          </a:p>
        </p:txBody>
      </p:sp>
      <p:sp>
        <p:nvSpPr>
          <p:cNvPr id="12" name="Obdĺžnik 11"/>
          <p:cNvSpPr/>
          <p:nvPr/>
        </p:nvSpPr>
        <p:spPr>
          <a:xfrm>
            <a:off x="688975" y="5607050"/>
            <a:ext cx="4197350" cy="325438"/>
          </a:xfrm>
          <a:prstGeom prst="rect">
            <a:avLst/>
          </a:prstGeom>
          <a:solidFill>
            <a:srgbClr val="E5E5E5"/>
          </a:solidFill>
        </p:spPr>
        <p:txBody>
          <a:bodyPr wrap="none" lIns="0" tIns="0" rIns="0" bIns="0"/>
          <a:lstStyle/>
          <a:p>
            <a:pPr>
              <a:spcBef>
                <a:spcPts val="833"/>
              </a:spcBef>
              <a:defRPr/>
            </a:pPr>
            <a:r>
              <a:rPr lang="sk" sz="1687" b="1">
                <a:latin typeface="Courier New"/>
              </a:rPr>
              <a:t>Count( * | [DISTINCT] vyraz )</a:t>
            </a:r>
          </a:p>
        </p:txBody>
      </p:sp>
    </p:spTree>
    <p:extLst>
      <p:ext uri="{BB962C8B-B14F-4D97-AF65-F5344CB8AC3E}">
        <p14:creationId xmlns:p14="http://schemas.microsoft.com/office/powerpoint/2010/main" val="820876694"/>
      </p:ext>
    </p:extLst>
  </p:cSld>
  <p:clrMapOvr>
    <a:masterClrMapping/>
  </p:clrMapOvr>
  <p:transition spd="med">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Obrázok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8488" y="1838325"/>
            <a:ext cx="80375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dĺžnik 2"/>
          <p:cNvSpPr/>
          <p:nvPr/>
        </p:nvSpPr>
        <p:spPr>
          <a:xfrm>
            <a:off x="682625" y="2836863"/>
            <a:ext cx="5643563" cy="973137"/>
          </a:xfrm>
          <a:prstGeom prst="rect">
            <a:avLst/>
          </a:prstGeom>
        </p:spPr>
        <p:txBody>
          <a:bodyPr lIns="0" tIns="0" rIns="0" bIns="0"/>
          <a:lstStyle/>
          <a:p>
            <a:pPr algn="just">
              <a:lnSpc>
                <a:spcPts val="5381"/>
              </a:lnSpc>
              <a:defRPr/>
            </a:pPr>
            <a:r>
              <a:rPr lang="sk" sz="1687" b="1">
                <a:latin typeface="Courier New"/>
              </a:rPr>
              <a:t>SQL&gt; select min(os_cislo) from študent; MIN(0S_CISL0)</a:t>
            </a:r>
          </a:p>
        </p:txBody>
      </p:sp>
      <p:sp>
        <p:nvSpPr>
          <p:cNvPr id="4" name="Obdĺžnik 3"/>
          <p:cNvSpPr/>
          <p:nvPr/>
        </p:nvSpPr>
        <p:spPr>
          <a:xfrm>
            <a:off x="1698625" y="4227513"/>
            <a:ext cx="908050" cy="242887"/>
          </a:xfrm>
          <a:prstGeom prst="rect">
            <a:avLst/>
          </a:prstGeom>
        </p:spPr>
        <p:txBody>
          <a:bodyPr wrap="none" lIns="0" tIns="0" rIns="0" bIns="0"/>
          <a:lstStyle/>
          <a:p>
            <a:pPr>
              <a:defRPr/>
            </a:pPr>
            <a:r>
              <a:rPr lang="sk" sz="1687" b="1">
                <a:latin typeface="Courier New"/>
              </a:rPr>
              <a:t>500422</a:t>
            </a:r>
          </a:p>
        </p:txBody>
      </p:sp>
      <p:sp>
        <p:nvSpPr>
          <p:cNvPr id="5" name="Obdĺžnik 4"/>
          <p:cNvSpPr/>
          <p:nvPr/>
        </p:nvSpPr>
        <p:spPr>
          <a:xfrm>
            <a:off x="5848350" y="6423025"/>
            <a:ext cx="876300" cy="187325"/>
          </a:xfrm>
          <a:prstGeom prst="rect">
            <a:avLst/>
          </a:prstGeom>
        </p:spPr>
        <p:txBody>
          <a:bodyPr wrap="none" lIns="0" tIns="0" rIns="0" bIns="0"/>
          <a:lstStyle/>
          <a:p>
            <a:pPr>
              <a:defRPr/>
            </a:pPr>
            <a:r>
              <a:rPr lang="sk" sz="794" i="1">
                <a:solidFill>
                  <a:srgbClr val="D4D4D4"/>
                </a:solidFill>
                <a:latin typeface="SimHei"/>
              </a:rPr>
              <a:t>&lt;</a:t>
            </a:r>
            <a:r>
              <a:rPr lang="sk" sz="794">
                <a:solidFill>
                  <a:srgbClr val="D4D4D4"/>
                </a:solidFill>
                <a:latin typeface="Arial"/>
              </a:rPr>
              <a:t> □ ► -4 ifjP</a:t>
            </a:r>
          </a:p>
        </p:txBody>
      </p:sp>
    </p:spTree>
    <p:extLst>
      <p:ext uri="{BB962C8B-B14F-4D97-AF65-F5344CB8AC3E}">
        <p14:creationId xmlns:p14="http://schemas.microsoft.com/office/powerpoint/2010/main" val="3561089939"/>
      </p:ext>
    </p:extLst>
  </p:cSld>
  <p:clrMapOvr>
    <a:masterClrMapping/>
  </p:clrMapOvr>
  <p:transition spd="med">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Obrázok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8488" y="1808163"/>
            <a:ext cx="8037512"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dĺžnik 2"/>
          <p:cNvSpPr/>
          <p:nvPr/>
        </p:nvSpPr>
        <p:spPr>
          <a:xfrm>
            <a:off x="682625" y="2836863"/>
            <a:ext cx="5643563" cy="973137"/>
          </a:xfrm>
          <a:prstGeom prst="rect">
            <a:avLst/>
          </a:prstGeom>
        </p:spPr>
        <p:txBody>
          <a:bodyPr lIns="0" tIns="0" rIns="0" bIns="0"/>
          <a:lstStyle/>
          <a:p>
            <a:pPr algn="just">
              <a:lnSpc>
                <a:spcPts val="5381"/>
              </a:lnSpc>
              <a:defRPr/>
            </a:pPr>
            <a:r>
              <a:rPr lang="sk" sz="1687" b="1">
                <a:latin typeface="Courier New"/>
              </a:rPr>
              <a:t>SQL&gt; select max(os_cislo) from študent; MAX(0S_CISL0)</a:t>
            </a:r>
          </a:p>
        </p:txBody>
      </p:sp>
      <p:sp>
        <p:nvSpPr>
          <p:cNvPr id="4" name="Obdĺžnik 3"/>
          <p:cNvSpPr/>
          <p:nvPr/>
        </p:nvSpPr>
        <p:spPr>
          <a:xfrm>
            <a:off x="1698625" y="4227513"/>
            <a:ext cx="908050" cy="242887"/>
          </a:xfrm>
          <a:prstGeom prst="rect">
            <a:avLst/>
          </a:prstGeom>
        </p:spPr>
        <p:txBody>
          <a:bodyPr wrap="none" lIns="0" tIns="0" rIns="0" bIns="0"/>
          <a:lstStyle/>
          <a:p>
            <a:pPr>
              <a:defRPr/>
            </a:pPr>
            <a:r>
              <a:rPr lang="sk" sz="1687" b="1">
                <a:latin typeface="Courier New"/>
              </a:rPr>
              <a:t>550945</a:t>
            </a:r>
          </a:p>
        </p:txBody>
      </p:sp>
      <p:sp>
        <p:nvSpPr>
          <p:cNvPr id="5" name="Obdĺžnik 4"/>
          <p:cNvSpPr/>
          <p:nvPr/>
        </p:nvSpPr>
        <p:spPr>
          <a:xfrm>
            <a:off x="5848350" y="6423025"/>
            <a:ext cx="876300" cy="187325"/>
          </a:xfrm>
          <a:prstGeom prst="rect">
            <a:avLst/>
          </a:prstGeom>
        </p:spPr>
        <p:txBody>
          <a:bodyPr wrap="none" lIns="0" tIns="0" rIns="0" bIns="0"/>
          <a:lstStyle/>
          <a:p>
            <a:pPr>
              <a:defRPr/>
            </a:pPr>
            <a:r>
              <a:rPr lang="sk" sz="794" i="1">
                <a:solidFill>
                  <a:srgbClr val="D4D4D4"/>
                </a:solidFill>
                <a:latin typeface="SimHei"/>
              </a:rPr>
              <a:t>&lt;</a:t>
            </a:r>
            <a:r>
              <a:rPr lang="sk" sz="794">
                <a:solidFill>
                  <a:srgbClr val="D4D4D4"/>
                </a:solidFill>
                <a:latin typeface="Arial"/>
              </a:rPr>
              <a:t> □ ► -4 ifjP</a:t>
            </a:r>
          </a:p>
        </p:txBody>
      </p:sp>
    </p:spTree>
    <p:extLst>
      <p:ext uri="{BB962C8B-B14F-4D97-AF65-F5344CB8AC3E}">
        <p14:creationId xmlns:p14="http://schemas.microsoft.com/office/powerpoint/2010/main" val="225435748"/>
      </p:ext>
    </p:extLst>
  </p:cSld>
  <p:clrMapOvr>
    <a:masterClrMapping/>
  </p:clrMapOvr>
  <p:transition spd="med">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Obrázok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8488" y="1397000"/>
            <a:ext cx="4341812"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dĺžnik 2"/>
          <p:cNvSpPr/>
          <p:nvPr/>
        </p:nvSpPr>
        <p:spPr>
          <a:xfrm>
            <a:off x="688975" y="2432050"/>
            <a:ext cx="4089400" cy="1995488"/>
          </a:xfrm>
          <a:prstGeom prst="rect">
            <a:avLst/>
          </a:prstGeom>
        </p:spPr>
        <p:txBody>
          <a:bodyPr lIns="0" tIns="0" rIns="0" bIns="0"/>
          <a:lstStyle/>
          <a:p>
            <a:pPr>
              <a:lnSpc>
                <a:spcPts val="2714"/>
              </a:lnSpc>
              <a:spcBef>
                <a:spcPts val="417"/>
              </a:spcBef>
              <a:defRPr/>
            </a:pPr>
            <a:r>
              <a:rPr lang="sk" sz="1687" b="1">
                <a:latin typeface="Courier New"/>
              </a:rPr>
              <a:t>Sselect sum(ects)</a:t>
            </a:r>
          </a:p>
          <a:p>
            <a:pPr marL="337671" algn="just">
              <a:lnSpc>
                <a:spcPts val="2714"/>
              </a:lnSpc>
              <a:defRPr/>
            </a:pPr>
            <a:r>
              <a:rPr lang="sk" sz="1687" b="1">
                <a:latin typeface="Courier New"/>
              </a:rPr>
              <a:t>    from zap_predmety</a:t>
            </a:r>
          </a:p>
          <a:p>
            <a:pPr marL="337671" algn="just">
              <a:lnSpc>
                <a:spcPts val="2714"/>
              </a:lnSpc>
              <a:defRPr/>
            </a:pPr>
            <a:r>
              <a:rPr lang="sk" sz="1687" b="1">
                <a:latin typeface="Courier New"/>
              </a:rPr>
              <a:t>    where os_cislo = 501103;</a:t>
            </a:r>
          </a:p>
          <a:p>
            <a:pPr marL="186475">
              <a:defRPr/>
            </a:pPr>
            <a:endParaRPr lang="sk" sz="1687" b="1">
              <a:latin typeface="Courier New"/>
            </a:endParaRPr>
          </a:p>
          <a:p>
            <a:pPr marL="186475">
              <a:defRPr/>
            </a:pPr>
            <a:endParaRPr lang="sk" sz="1687" b="1">
              <a:latin typeface="Courier New"/>
            </a:endParaRPr>
          </a:p>
          <a:p>
            <a:pPr marL="186475">
              <a:defRPr/>
            </a:pPr>
            <a:endParaRPr lang="sk" sz="1687" b="1">
              <a:latin typeface="Courier New"/>
            </a:endParaRPr>
          </a:p>
          <a:p>
            <a:pPr marL="186475">
              <a:defRPr/>
            </a:pPr>
            <a:endParaRPr lang="sk" sz="1687" b="1">
              <a:latin typeface="Courier New"/>
            </a:endParaRPr>
          </a:p>
          <a:p>
            <a:pPr marL="186475">
              <a:defRPr/>
            </a:pPr>
            <a:r>
              <a:rPr lang="sk" sz="1687" b="1">
                <a:latin typeface="Courier New"/>
              </a:rPr>
              <a:t>	SUM(ECTS)</a:t>
            </a:r>
          </a:p>
        </p:txBody>
      </p:sp>
      <p:sp>
        <p:nvSpPr>
          <p:cNvPr id="4" name="Obdĺžnik 3"/>
          <p:cNvSpPr/>
          <p:nvPr/>
        </p:nvSpPr>
        <p:spPr>
          <a:xfrm>
            <a:off x="1862138" y="4845050"/>
            <a:ext cx="314325" cy="241300"/>
          </a:xfrm>
          <a:prstGeom prst="rect">
            <a:avLst/>
          </a:prstGeom>
        </p:spPr>
        <p:txBody>
          <a:bodyPr wrap="none" lIns="0" tIns="0" rIns="0" bIns="0"/>
          <a:lstStyle/>
          <a:p>
            <a:pPr>
              <a:defRPr/>
            </a:pPr>
            <a:r>
              <a:rPr lang="sk" sz="1885" b="1" spc="-99">
                <a:latin typeface="Microsoft Sans Serif"/>
              </a:rPr>
              <a:t>19</a:t>
            </a:r>
          </a:p>
        </p:txBody>
      </p:sp>
    </p:spTree>
    <p:extLst>
      <p:ext uri="{BB962C8B-B14F-4D97-AF65-F5344CB8AC3E}">
        <p14:creationId xmlns:p14="http://schemas.microsoft.com/office/powerpoint/2010/main" val="2645729879"/>
      </p:ext>
    </p:extLst>
  </p:cSld>
  <p:clrMapOvr>
    <a:masterClrMapping/>
  </p:clrMapOvr>
  <p:transition spd="med">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dĺžnik 2"/>
          <p:cNvSpPr/>
          <p:nvPr/>
        </p:nvSpPr>
        <p:spPr>
          <a:xfrm>
            <a:off x="357188" y="327025"/>
            <a:ext cx="3392487" cy="398463"/>
          </a:xfrm>
          <a:prstGeom prst="rect">
            <a:avLst/>
          </a:prstGeom>
          <a:solidFill>
            <a:srgbClr val="808080"/>
          </a:solidFill>
        </p:spPr>
        <p:txBody>
          <a:bodyPr wrap="none" lIns="0" tIns="0" rIns="0" bIns="0"/>
          <a:lstStyle/>
          <a:p>
            <a:pPr>
              <a:spcAft>
                <a:spcPts val="1667"/>
              </a:spcAft>
              <a:defRPr/>
            </a:pPr>
            <a:r>
              <a:rPr lang="sk" sz="2778" i="1">
                <a:solidFill>
                  <a:srgbClr val="FFFFFF"/>
                </a:solidFill>
                <a:latin typeface="Palatino Linotype"/>
              </a:rPr>
              <a:t>Count - počet riadkov</a:t>
            </a:r>
          </a:p>
        </p:txBody>
      </p:sp>
      <p:sp>
        <p:nvSpPr>
          <p:cNvPr id="4" name="Obdĺžnik 3"/>
          <p:cNvSpPr/>
          <p:nvPr/>
        </p:nvSpPr>
        <p:spPr>
          <a:xfrm>
            <a:off x="182563" y="725488"/>
            <a:ext cx="8362950" cy="5516562"/>
          </a:xfrm>
          <a:prstGeom prst="rect">
            <a:avLst/>
          </a:prstGeom>
        </p:spPr>
        <p:txBody>
          <a:bodyPr lIns="0" tIns="0" rIns="0" bIns="0"/>
          <a:lstStyle>
            <a:lvl1pPr indent="125413">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nSpc>
                <a:spcPts val="3713"/>
              </a:lnSpc>
              <a:spcBef>
                <a:spcPts val="1663"/>
              </a:spcBef>
            </a:pPr>
            <a:r>
              <a:rPr lang="en-US" altLang="en-US" sz="1600" err="1">
                <a:latin typeface="Microsoft Sans Serif" panose="020B0604020202020204" pitchFamily="34" charset="0"/>
              </a:rPr>
              <a:t>Počet</a:t>
            </a:r>
            <a:r>
              <a:rPr lang="en-US" altLang="en-US" sz="1600">
                <a:latin typeface="Microsoft Sans Serif" panose="020B0604020202020204" pitchFamily="34" charset="0"/>
              </a:rPr>
              <a:t> </a:t>
            </a:r>
            <a:r>
              <a:rPr lang="en-US" altLang="en-US" sz="1600" err="1">
                <a:latin typeface="Microsoft Sans Serif" panose="020B0604020202020204" pitchFamily="34" charset="0"/>
              </a:rPr>
              <a:t>všetkých</a:t>
            </a:r>
            <a:r>
              <a:rPr lang="en-US" altLang="en-US" sz="1600">
                <a:latin typeface="Microsoft Sans Serif" panose="020B0604020202020204" pitchFamily="34" charset="0"/>
              </a:rPr>
              <a:t> </a:t>
            </a:r>
            <a:r>
              <a:rPr lang="en-US" altLang="en-US" sz="1600" err="1">
                <a:latin typeface="Microsoft Sans Serif" panose="020B0604020202020204" pitchFamily="34" charset="0"/>
              </a:rPr>
              <a:t>riadkov</a:t>
            </a:r>
            <a:r>
              <a:rPr lang="en-US" altLang="en-US" sz="1600">
                <a:latin typeface="Microsoft Sans Serif" panose="020B0604020202020204" pitchFamily="34" charset="0"/>
              </a:rPr>
              <a:t> </a:t>
            </a:r>
            <a:r>
              <a:rPr lang="en-US" altLang="en-US" sz="1600" err="1">
                <a:latin typeface="Microsoft Sans Serif" panose="020B0604020202020204" pitchFamily="34" charset="0"/>
              </a:rPr>
              <a:t>skupiny</a:t>
            </a:r>
            <a:r>
              <a:rPr lang="en-US" altLang="en-US" sz="1600">
                <a:latin typeface="Microsoft Sans Serif" panose="020B0604020202020204" pitchFamily="34" charset="0"/>
              </a:rPr>
              <a:t> </a:t>
            </a:r>
            <a:r>
              <a:rPr lang="en-US" altLang="en-US" sz="1600" b="1">
                <a:latin typeface="Courier New" panose="02070309020205020404" pitchFamily="49" charset="0"/>
              </a:rPr>
              <a:t>Count (*)</a:t>
            </a:r>
          </a:p>
          <a:p>
            <a:pPr algn="just">
              <a:lnSpc>
                <a:spcPts val="2763"/>
              </a:lnSpc>
            </a:pPr>
            <a:r>
              <a:rPr lang="en-US" altLang="en-US" sz="1600" b="1">
                <a:solidFill>
                  <a:srgbClr val="FF0000"/>
                </a:solidFill>
                <a:latin typeface="Courier New" panose="02070309020205020404" pitchFamily="49" charset="0"/>
              </a:rPr>
              <a:t>select count(*) from </a:t>
            </a:r>
            <a:r>
              <a:rPr lang="en-US" altLang="en-US" sz="1600" b="1" err="1">
                <a:solidFill>
                  <a:srgbClr val="FF0000"/>
                </a:solidFill>
                <a:latin typeface="Courier New" panose="02070309020205020404" pitchFamily="49" charset="0"/>
              </a:rPr>
              <a:t>zap_predmety</a:t>
            </a:r>
            <a:r>
              <a:rPr lang="en-US" altLang="en-US" sz="1600" b="1">
                <a:solidFill>
                  <a:srgbClr val="FF0000"/>
                </a:solidFill>
                <a:latin typeface="Courier New" panose="02070309020205020404" pitchFamily="49" charset="0"/>
              </a:rPr>
              <a:t>;</a:t>
            </a:r>
          </a:p>
          <a:p>
            <a:pPr>
              <a:lnSpc>
                <a:spcPts val="2763"/>
              </a:lnSpc>
            </a:pPr>
            <a:r>
              <a:rPr lang="en-US" altLang="en-US" sz="1600" b="1">
                <a:latin typeface="Courier New" panose="02070309020205020404" pitchFamily="49" charset="0"/>
              </a:rPr>
              <a:t>COUNT(*)</a:t>
            </a:r>
          </a:p>
          <a:p>
            <a:pPr>
              <a:lnSpc>
                <a:spcPts val="2763"/>
              </a:lnSpc>
            </a:pPr>
            <a:r>
              <a:rPr lang="en-US" altLang="en-US" sz="1600">
                <a:latin typeface="Courier New" panose="02070309020205020404" pitchFamily="49" charset="0"/>
              </a:rPr>
              <a:t>484</a:t>
            </a:r>
          </a:p>
          <a:p>
            <a:pPr>
              <a:spcAft>
                <a:spcPts val="1663"/>
              </a:spcAft>
            </a:pPr>
            <a:r>
              <a:rPr lang="en-US" altLang="en-US" sz="1600" err="1">
                <a:latin typeface="Microsoft Sans Serif" panose="020B0604020202020204" pitchFamily="34" charset="0"/>
              </a:rPr>
              <a:t>Počet</a:t>
            </a:r>
            <a:r>
              <a:rPr lang="en-US" altLang="en-US" sz="1600">
                <a:latin typeface="Microsoft Sans Serif" panose="020B0604020202020204" pitchFamily="34" charset="0"/>
              </a:rPr>
              <a:t> </a:t>
            </a:r>
            <a:r>
              <a:rPr lang="en-US" altLang="en-US" sz="1600" err="1">
                <a:latin typeface="Microsoft Sans Serif" panose="020B0604020202020204" pitchFamily="34" charset="0"/>
              </a:rPr>
              <a:t>riadkov</a:t>
            </a:r>
            <a:r>
              <a:rPr lang="en-US" altLang="en-US" sz="1600">
                <a:latin typeface="Microsoft Sans Serif" panose="020B0604020202020204" pitchFamily="34" charset="0"/>
              </a:rPr>
              <a:t> </a:t>
            </a:r>
            <a:r>
              <a:rPr lang="en-US" altLang="en-US" sz="1600" err="1">
                <a:latin typeface="Microsoft Sans Serif" panose="020B0604020202020204" pitchFamily="34" charset="0"/>
              </a:rPr>
              <a:t>skupiny</a:t>
            </a:r>
            <a:r>
              <a:rPr lang="en-US" altLang="en-US" sz="1600">
                <a:latin typeface="Microsoft Sans Serif" panose="020B0604020202020204" pitchFamily="34" charset="0"/>
              </a:rPr>
              <a:t>, </a:t>
            </a:r>
            <a:r>
              <a:rPr lang="en-US" altLang="en-US" sz="1600" err="1">
                <a:latin typeface="Microsoft Sans Serif" panose="020B0604020202020204" pitchFamily="34" charset="0"/>
              </a:rPr>
              <a:t>kde</a:t>
            </a:r>
            <a:r>
              <a:rPr lang="en-US" altLang="en-US" sz="1600">
                <a:latin typeface="Microsoft Sans Serif" panose="020B0604020202020204" pitchFamily="34" charset="0"/>
              </a:rPr>
              <a:t> </a:t>
            </a:r>
            <a:r>
              <a:rPr lang="en-US" altLang="en-US" sz="1600" err="1">
                <a:latin typeface="Microsoft Sans Serif" panose="020B0604020202020204" pitchFamily="34" charset="0"/>
              </a:rPr>
              <a:t>stĺpec</a:t>
            </a:r>
            <a:r>
              <a:rPr lang="en-US" altLang="en-US" sz="1600">
                <a:latin typeface="Microsoft Sans Serif" panose="020B0604020202020204" pitchFamily="34" charset="0"/>
              </a:rPr>
              <a:t> </a:t>
            </a:r>
            <a:r>
              <a:rPr lang="en-US" altLang="en-US" sz="1600" err="1">
                <a:latin typeface="Microsoft Sans Serif" panose="020B0604020202020204" pitchFamily="34" charset="0"/>
              </a:rPr>
              <a:t>nemá</a:t>
            </a:r>
            <a:r>
              <a:rPr lang="en-US" altLang="en-US" sz="1600">
                <a:latin typeface="Microsoft Sans Serif" panose="020B0604020202020204" pitchFamily="34" charset="0"/>
              </a:rPr>
              <a:t> NULL </a:t>
            </a:r>
            <a:r>
              <a:rPr lang="en-US" altLang="en-US" sz="1600" err="1">
                <a:latin typeface="Microsoft Sans Serif" panose="020B0604020202020204" pitchFamily="34" charset="0"/>
              </a:rPr>
              <a:t>hodnotu</a:t>
            </a:r>
            <a:r>
              <a:rPr lang="en-US" altLang="en-US" sz="1600">
                <a:latin typeface="Microsoft Sans Serif" panose="020B0604020202020204" pitchFamily="34" charset="0"/>
              </a:rPr>
              <a:t>.</a:t>
            </a:r>
          </a:p>
          <a:p>
            <a:pPr>
              <a:spcAft>
                <a:spcPts val="1663"/>
              </a:spcAft>
            </a:pPr>
            <a:r>
              <a:rPr lang="en-US" altLang="en-US" sz="1600" b="1">
                <a:latin typeface="Courier New" panose="02070309020205020404" pitchFamily="49" charset="0"/>
              </a:rPr>
              <a:t>Count(</a:t>
            </a:r>
            <a:r>
              <a:rPr lang="en-US" altLang="en-US" sz="1600" b="1" err="1">
                <a:latin typeface="Courier New" panose="02070309020205020404" pitchFamily="49" charset="0"/>
              </a:rPr>
              <a:t>stĺpec</a:t>
            </a:r>
            <a:r>
              <a:rPr lang="en-US" altLang="en-US" sz="1600" b="1">
                <a:latin typeface="Courier New" panose="02070309020205020404" pitchFamily="49" charset="0"/>
              </a:rPr>
              <a:t>)</a:t>
            </a:r>
          </a:p>
          <a:p>
            <a:pPr algn="just">
              <a:lnSpc>
                <a:spcPts val="2763"/>
              </a:lnSpc>
            </a:pPr>
            <a:r>
              <a:rPr lang="en-US" altLang="en-US" sz="1600" b="1">
                <a:solidFill>
                  <a:srgbClr val="FF0000"/>
                </a:solidFill>
                <a:latin typeface="Courier New" panose="02070309020205020404" pitchFamily="49" charset="0"/>
              </a:rPr>
              <a:t>select count(</a:t>
            </a:r>
            <a:r>
              <a:rPr lang="en-US" altLang="en-US" sz="1600" b="1" err="1">
                <a:solidFill>
                  <a:srgbClr val="FF0000"/>
                </a:solidFill>
                <a:latin typeface="Courier New" panose="02070309020205020404" pitchFamily="49" charset="0"/>
              </a:rPr>
              <a:t>vysledok</a:t>
            </a:r>
            <a:r>
              <a:rPr lang="en-US" altLang="en-US" sz="1600" b="1">
                <a:solidFill>
                  <a:srgbClr val="FF0000"/>
                </a:solidFill>
                <a:latin typeface="Courier New" panose="02070309020205020404" pitchFamily="49" charset="0"/>
              </a:rPr>
              <a:t>) from </a:t>
            </a:r>
            <a:r>
              <a:rPr lang="en-US" altLang="en-US" sz="1600" b="1" err="1">
                <a:solidFill>
                  <a:srgbClr val="FF0000"/>
                </a:solidFill>
                <a:latin typeface="Courier New" panose="02070309020205020404" pitchFamily="49" charset="0"/>
              </a:rPr>
              <a:t>zap_predmety</a:t>
            </a:r>
            <a:r>
              <a:rPr lang="en-US" altLang="en-US" sz="1600" b="1">
                <a:solidFill>
                  <a:srgbClr val="FF0000"/>
                </a:solidFill>
                <a:latin typeface="Courier New" panose="02070309020205020404" pitchFamily="49" charset="0"/>
              </a:rPr>
              <a:t>;</a:t>
            </a:r>
          </a:p>
          <a:p>
            <a:pPr algn="just">
              <a:lnSpc>
                <a:spcPts val="2763"/>
              </a:lnSpc>
            </a:pPr>
            <a:r>
              <a:rPr lang="en-US" altLang="en-US" sz="1600">
                <a:latin typeface="Courier New" panose="02070309020205020404" pitchFamily="49" charset="0"/>
              </a:rPr>
              <a:t>COUNT(VYSLEDOK)</a:t>
            </a:r>
          </a:p>
          <a:p>
            <a:pPr>
              <a:lnSpc>
                <a:spcPts val="2763"/>
              </a:lnSpc>
            </a:pPr>
            <a:r>
              <a:rPr lang="en-US" altLang="en-US" sz="1600">
                <a:latin typeface="Courier New" panose="02070309020205020404" pitchFamily="49" charset="0"/>
              </a:rPr>
              <a:t>295</a:t>
            </a:r>
          </a:p>
          <a:p>
            <a:pPr>
              <a:spcAft>
                <a:spcPts val="1663"/>
              </a:spcAft>
            </a:pPr>
            <a:r>
              <a:rPr lang="en-US" altLang="en-US" sz="1600" err="1">
                <a:latin typeface="Microsoft Sans Serif" panose="020B0604020202020204" pitchFamily="34" charset="0"/>
              </a:rPr>
              <a:t>Počet</a:t>
            </a:r>
            <a:r>
              <a:rPr lang="en-US" altLang="en-US" sz="1600">
                <a:latin typeface="Microsoft Sans Serif" panose="020B0604020202020204" pitchFamily="34" charset="0"/>
              </a:rPr>
              <a:t> </a:t>
            </a:r>
            <a:r>
              <a:rPr lang="en-US" altLang="en-US" sz="1600" err="1">
                <a:latin typeface="Microsoft Sans Serif" panose="020B0604020202020204" pitchFamily="34" charset="0"/>
              </a:rPr>
              <a:t>unikátnych</a:t>
            </a:r>
            <a:r>
              <a:rPr lang="en-US" altLang="en-US" sz="1600">
                <a:latin typeface="Microsoft Sans Serif" panose="020B0604020202020204" pitchFamily="34" charset="0"/>
              </a:rPr>
              <a:t> </a:t>
            </a:r>
            <a:r>
              <a:rPr lang="en-US" altLang="en-US" sz="1600" err="1">
                <a:latin typeface="Microsoft Sans Serif" panose="020B0604020202020204" pitchFamily="34" charset="0"/>
              </a:rPr>
              <a:t>hodnôt</a:t>
            </a:r>
            <a:r>
              <a:rPr lang="en-US" altLang="en-US" sz="1600">
                <a:latin typeface="Microsoft Sans Serif" panose="020B0604020202020204" pitchFamily="34" charset="0"/>
              </a:rPr>
              <a:t> </a:t>
            </a:r>
            <a:r>
              <a:rPr lang="en-US" altLang="en-US" sz="1600" err="1">
                <a:latin typeface="Courier New" panose="02070309020205020404" pitchFamily="49" charset="0"/>
              </a:rPr>
              <a:t>stĺpca</a:t>
            </a:r>
            <a:r>
              <a:rPr lang="en-US" altLang="en-US" sz="1600">
                <a:latin typeface="Courier New" panose="02070309020205020404" pitchFamily="49" charset="0"/>
              </a:rPr>
              <a:t> v </a:t>
            </a:r>
            <a:r>
              <a:rPr lang="en-US" altLang="en-US" sz="1600" err="1">
                <a:latin typeface="Microsoft Sans Serif" panose="020B0604020202020204" pitchFamily="34" charset="0"/>
              </a:rPr>
              <a:t>skupine</a:t>
            </a:r>
            <a:r>
              <a:rPr lang="en-US" altLang="en-US" sz="1600">
                <a:latin typeface="Microsoft Sans Serif" panose="020B0604020202020204" pitchFamily="34" charset="0"/>
              </a:rPr>
              <a:t>.</a:t>
            </a:r>
          </a:p>
          <a:p>
            <a:pPr>
              <a:spcAft>
                <a:spcPts val="1663"/>
              </a:spcAft>
            </a:pPr>
            <a:r>
              <a:rPr lang="en-US" altLang="en-US" sz="1600" b="1">
                <a:latin typeface="Courier New" panose="02070309020205020404" pitchFamily="49" charset="0"/>
              </a:rPr>
              <a:t>Count(DISTINCT </a:t>
            </a:r>
            <a:r>
              <a:rPr lang="en-US" altLang="en-US" sz="1600" b="1" err="1">
                <a:latin typeface="Courier New" panose="02070309020205020404" pitchFamily="49" charset="0"/>
              </a:rPr>
              <a:t>stĺpec</a:t>
            </a:r>
            <a:r>
              <a:rPr lang="en-US" altLang="en-US" sz="1600" b="1">
                <a:latin typeface="Courier New" panose="02070309020205020404" pitchFamily="49" charset="0"/>
              </a:rPr>
              <a:t>)</a:t>
            </a:r>
          </a:p>
          <a:p>
            <a:pPr algn="just">
              <a:lnSpc>
                <a:spcPts val="2763"/>
              </a:lnSpc>
            </a:pPr>
            <a:r>
              <a:rPr lang="en-US" altLang="en-US" sz="1600" b="1">
                <a:solidFill>
                  <a:srgbClr val="FF0000"/>
                </a:solidFill>
                <a:latin typeface="Courier New" panose="02070309020205020404" pitchFamily="49" charset="0"/>
              </a:rPr>
              <a:t>select count(DISTINCT </a:t>
            </a:r>
            <a:r>
              <a:rPr lang="en-US" altLang="en-US" sz="1600" b="1" err="1">
                <a:solidFill>
                  <a:srgbClr val="FF0000"/>
                </a:solidFill>
                <a:latin typeface="Courier New" panose="02070309020205020404" pitchFamily="49" charset="0"/>
              </a:rPr>
              <a:t>vysledok</a:t>
            </a:r>
            <a:r>
              <a:rPr lang="en-US" altLang="en-US" sz="1600" b="1">
                <a:solidFill>
                  <a:srgbClr val="FF0000"/>
                </a:solidFill>
                <a:latin typeface="Courier New" panose="02070309020205020404" pitchFamily="49" charset="0"/>
              </a:rPr>
              <a:t>) from </a:t>
            </a:r>
            <a:r>
              <a:rPr lang="en-US" altLang="en-US" sz="1600" b="1" err="1">
                <a:solidFill>
                  <a:srgbClr val="FF0000"/>
                </a:solidFill>
                <a:latin typeface="Courier New" panose="02070309020205020404" pitchFamily="49" charset="0"/>
              </a:rPr>
              <a:t>zap_predmety</a:t>
            </a:r>
            <a:r>
              <a:rPr lang="en-US" altLang="en-US" sz="1600" b="1">
                <a:solidFill>
                  <a:srgbClr val="FF0000"/>
                </a:solidFill>
                <a:latin typeface="Courier New" panose="02070309020205020404" pitchFamily="49" charset="0"/>
              </a:rPr>
              <a:t>;</a:t>
            </a:r>
          </a:p>
          <a:p>
            <a:pPr algn="just">
              <a:lnSpc>
                <a:spcPts val="2763"/>
              </a:lnSpc>
            </a:pPr>
            <a:r>
              <a:rPr lang="en-US" altLang="en-US" sz="1600">
                <a:latin typeface="Courier New" panose="02070309020205020404" pitchFamily="49" charset="0"/>
              </a:rPr>
              <a:t> COUNT(DISTINCTVYSLEDOK)</a:t>
            </a:r>
          </a:p>
        </p:txBody>
      </p:sp>
      <p:sp>
        <p:nvSpPr>
          <p:cNvPr id="7" name="Obdĺžnik 6"/>
          <p:cNvSpPr/>
          <p:nvPr/>
        </p:nvSpPr>
        <p:spPr>
          <a:xfrm>
            <a:off x="3087688" y="5964238"/>
            <a:ext cx="44450" cy="446087"/>
          </a:xfrm>
          <a:prstGeom prst="rect">
            <a:avLst/>
          </a:prstGeom>
        </p:spPr>
        <p:txBody>
          <a:bodyPr wrap="none" lIns="0" tIns="0" rIns="0" bIns="0"/>
          <a:lstStyle/>
          <a:p>
            <a:pPr>
              <a:defRPr/>
            </a:pPr>
            <a:r>
              <a:rPr lang="sk" sz="1600" spc="99">
                <a:latin typeface="Palatino Linotype"/>
              </a:rPr>
              <a:t>6</a:t>
            </a:r>
          </a:p>
        </p:txBody>
      </p:sp>
      <p:sp>
        <p:nvSpPr>
          <p:cNvPr id="8" name="Obdĺžnik 7"/>
          <p:cNvSpPr/>
          <p:nvPr/>
        </p:nvSpPr>
        <p:spPr>
          <a:xfrm>
            <a:off x="5848350" y="6423025"/>
            <a:ext cx="876300" cy="187325"/>
          </a:xfrm>
          <a:prstGeom prst="rect">
            <a:avLst/>
          </a:prstGeom>
        </p:spPr>
        <p:txBody>
          <a:bodyPr wrap="none" lIns="0" tIns="0" rIns="0" bIns="0"/>
          <a:lstStyle/>
          <a:p>
            <a:pPr>
              <a:defRPr/>
            </a:pPr>
            <a:r>
              <a:rPr lang="sk" sz="1984" i="1">
                <a:solidFill>
                  <a:srgbClr val="D4D4D4"/>
                </a:solidFill>
                <a:latin typeface="Courier New"/>
              </a:rPr>
              <a:t>4</a:t>
            </a:r>
            <a:r>
              <a:rPr lang="sk" sz="1191" spc="-198">
                <a:solidFill>
                  <a:srgbClr val="D4D4D4"/>
                </a:solidFill>
                <a:latin typeface="Courier New"/>
              </a:rPr>
              <a:t> □ ► </a:t>
            </a:r>
            <a:r>
              <a:rPr lang="sk" sz="1984" i="1">
                <a:solidFill>
                  <a:srgbClr val="D4D4D4"/>
                </a:solidFill>
                <a:latin typeface="Courier New"/>
              </a:rPr>
              <a:t>4</a:t>
            </a:r>
            <a:r>
              <a:rPr lang="sk" sz="1191" spc="-198">
                <a:solidFill>
                  <a:srgbClr val="D4D4D4"/>
                </a:solidFill>
                <a:latin typeface="Courier New"/>
              </a:rPr>
              <a:t> ifjP</a:t>
            </a:r>
          </a:p>
        </p:txBody>
      </p:sp>
    </p:spTree>
    <p:extLst>
      <p:ext uri="{BB962C8B-B14F-4D97-AF65-F5344CB8AC3E}">
        <p14:creationId xmlns:p14="http://schemas.microsoft.com/office/powerpoint/2010/main" val="2462379666"/>
      </p:ext>
    </p:extLst>
  </p:cSld>
  <p:clrMapOvr>
    <a:masterClrMapping/>
  </p:clrMapOvr>
  <p:transition spd="med">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a:t>SQL DML</a:t>
            </a:r>
            <a:endParaRPr lang="cs-CZ"/>
          </a:p>
        </p:txBody>
      </p:sp>
      <p:sp>
        <p:nvSpPr>
          <p:cNvPr id="119811" name="Rectangle 3"/>
          <p:cNvSpPr>
            <a:spLocks noGrp="1" noChangeArrowheads="1"/>
          </p:cNvSpPr>
          <p:nvPr>
            <p:ph type="body" idx="1"/>
          </p:nvPr>
        </p:nvSpPr>
        <p:spPr/>
        <p:txBody>
          <a:bodyPr/>
          <a:lstStyle/>
          <a:p>
            <a:pPr eaLnBrk="1" hangingPunct="1">
              <a:lnSpc>
                <a:spcPct val="80000"/>
              </a:lnSpc>
              <a:buFontTx/>
              <a:buNone/>
            </a:pPr>
            <a:r>
              <a:rPr lang="sk-SK" altLang="en-US" sz="2400" b="1"/>
              <a:t>SELECT-</a:t>
            </a:r>
            <a:r>
              <a:rPr lang="sk-SK" altLang="en-US" sz="2400"/>
              <a:t>príkaz </a:t>
            </a:r>
            <a:endParaRPr lang="en-US" altLang="en-US" sz="2400"/>
          </a:p>
          <a:p>
            <a:pPr eaLnBrk="1" hangingPunct="1">
              <a:lnSpc>
                <a:spcPct val="80000"/>
              </a:lnSpc>
              <a:buFontTx/>
              <a:buNone/>
            </a:pPr>
            <a:endParaRPr lang="sk-SK" altLang="en-US" sz="2400" b="1"/>
          </a:p>
          <a:p>
            <a:pPr eaLnBrk="1" hangingPunct="1">
              <a:lnSpc>
                <a:spcPct val="80000"/>
              </a:lnSpc>
              <a:buFontTx/>
              <a:buNone/>
            </a:pPr>
            <a:r>
              <a:rPr lang="sk-SK" altLang="en-US" sz="2400" b="1"/>
              <a:t>UNION </a:t>
            </a:r>
            <a:r>
              <a:rPr lang="sk-SK" altLang="en-US" sz="2400"/>
              <a:t>[</a:t>
            </a:r>
            <a:r>
              <a:rPr lang="sk-SK" altLang="en-US" sz="2400" b="1"/>
              <a:t>ALL</a:t>
            </a:r>
            <a:r>
              <a:rPr lang="sk-SK" altLang="en-US" sz="2400"/>
              <a:t>]</a:t>
            </a:r>
            <a:endParaRPr lang="en-US" altLang="en-US" sz="2400"/>
          </a:p>
          <a:p>
            <a:pPr eaLnBrk="1" hangingPunct="1">
              <a:lnSpc>
                <a:spcPct val="80000"/>
              </a:lnSpc>
              <a:buFontTx/>
              <a:buNone/>
            </a:pPr>
            <a:endParaRPr lang="sk-SK" altLang="en-US" sz="2400" b="1"/>
          </a:p>
          <a:p>
            <a:pPr eaLnBrk="1" hangingPunct="1">
              <a:lnSpc>
                <a:spcPct val="80000"/>
              </a:lnSpc>
              <a:buFontTx/>
              <a:buNone/>
            </a:pPr>
            <a:r>
              <a:rPr lang="sk-SK" altLang="en-US" sz="2400" b="1"/>
              <a:t>SELECT-</a:t>
            </a:r>
            <a:r>
              <a:rPr lang="sk-SK" altLang="en-US" sz="2400"/>
              <a:t>príkaz</a:t>
            </a:r>
            <a:endParaRPr lang="en-US" altLang="en-US" sz="2400"/>
          </a:p>
          <a:p>
            <a:pPr eaLnBrk="1" hangingPunct="1">
              <a:lnSpc>
                <a:spcPct val="80000"/>
              </a:lnSpc>
              <a:buFontTx/>
              <a:buNone/>
            </a:pPr>
            <a:endParaRPr lang="sk-SK" altLang="en-US" sz="2400"/>
          </a:p>
          <a:p>
            <a:pPr eaLnBrk="1" hangingPunct="1">
              <a:lnSpc>
                <a:spcPct val="80000"/>
              </a:lnSpc>
              <a:buFontTx/>
              <a:buNone/>
            </a:pPr>
            <a:r>
              <a:rPr lang="sk-SK" altLang="en-US" sz="2400"/>
              <a:t>[</a:t>
            </a:r>
            <a:r>
              <a:rPr lang="sk-SK" altLang="en-US" sz="2400" b="1"/>
              <a:t>UNION </a:t>
            </a:r>
            <a:r>
              <a:rPr lang="sk-SK" altLang="en-US" sz="2400"/>
              <a:t>[</a:t>
            </a:r>
            <a:r>
              <a:rPr lang="sk-SK" altLang="en-US" sz="2400" b="1"/>
              <a:t>ALL</a:t>
            </a:r>
            <a:r>
              <a:rPr lang="sk-SK" altLang="en-US" sz="2400"/>
              <a:t>] </a:t>
            </a:r>
            <a:endParaRPr lang="en-US" altLang="en-US" sz="2400"/>
          </a:p>
          <a:p>
            <a:pPr eaLnBrk="1" hangingPunct="1">
              <a:lnSpc>
                <a:spcPct val="80000"/>
              </a:lnSpc>
              <a:buFontTx/>
              <a:buNone/>
            </a:pPr>
            <a:endParaRPr lang="en-US" altLang="en-US" sz="2400" b="1"/>
          </a:p>
          <a:p>
            <a:pPr eaLnBrk="1" hangingPunct="1">
              <a:lnSpc>
                <a:spcPct val="80000"/>
              </a:lnSpc>
              <a:buFontTx/>
              <a:buNone/>
            </a:pPr>
            <a:r>
              <a:rPr lang="sk-SK" altLang="en-US" sz="2400" b="1"/>
              <a:t>SELECT-</a:t>
            </a:r>
            <a:r>
              <a:rPr lang="sk-SK" altLang="en-US" sz="2400"/>
              <a:t>príkaz]</a:t>
            </a:r>
            <a:r>
              <a:rPr lang="sk-SK" altLang="en-US" sz="2400" b="1"/>
              <a:t> </a:t>
            </a:r>
            <a:r>
              <a:rPr lang="sk-SK" altLang="en-US" sz="2400"/>
              <a:t>...</a:t>
            </a:r>
          </a:p>
          <a:p>
            <a:pPr eaLnBrk="1" hangingPunct="1">
              <a:lnSpc>
                <a:spcPct val="80000"/>
              </a:lnSpc>
            </a:pPr>
            <a:endParaRPr lang="cs-CZ" altLang="en-US" sz="2400"/>
          </a:p>
        </p:txBody>
      </p:sp>
    </p:spTree>
    <p:extLst>
      <p:ext uri="{BB962C8B-B14F-4D97-AF65-F5344CB8AC3E}">
        <p14:creationId xmlns:p14="http://schemas.microsoft.com/office/powerpoint/2010/main" val="28917821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defRPr/>
            </a:pPr>
            <a:r>
              <a:rPr lang="en-US"/>
              <a:t>SQL DML</a:t>
            </a:r>
            <a:endParaRPr lang="cs-CZ"/>
          </a:p>
        </p:txBody>
      </p:sp>
      <p:sp>
        <p:nvSpPr>
          <p:cNvPr id="123907" name="Rectangle 3"/>
          <p:cNvSpPr>
            <a:spLocks noGrp="1" noChangeArrowheads="1"/>
          </p:cNvSpPr>
          <p:nvPr>
            <p:ph type="body" idx="1"/>
          </p:nvPr>
        </p:nvSpPr>
        <p:spPr/>
        <p:txBody>
          <a:bodyPr/>
          <a:lstStyle/>
          <a:p>
            <a:pPr eaLnBrk="1" hangingPunct="1"/>
            <a:r>
              <a:rPr lang="sk-SK" altLang="en-US"/>
              <a:t>INSERT</a:t>
            </a:r>
          </a:p>
          <a:p>
            <a:pPr eaLnBrk="1" hangingPunct="1"/>
            <a:r>
              <a:rPr lang="sk-SK" altLang="en-US"/>
              <a:t>DELETE</a:t>
            </a:r>
          </a:p>
          <a:p>
            <a:pPr eaLnBrk="1" hangingPunct="1"/>
            <a:r>
              <a:rPr lang="sk-SK" altLang="en-US"/>
              <a:t>UPDATE</a:t>
            </a:r>
          </a:p>
        </p:txBody>
      </p:sp>
    </p:spTree>
    <p:extLst>
      <p:ext uri="{BB962C8B-B14F-4D97-AF65-F5344CB8AC3E}">
        <p14:creationId xmlns:p14="http://schemas.microsoft.com/office/powerpoint/2010/main" val="9143831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defRPr/>
            </a:pPr>
            <a:r>
              <a:rPr lang="en-US"/>
              <a:t>SQL DML</a:t>
            </a:r>
            <a:endParaRPr lang="cs-CZ"/>
          </a:p>
        </p:txBody>
      </p:sp>
      <p:sp>
        <p:nvSpPr>
          <p:cNvPr id="125955" name="Rectangle 3"/>
          <p:cNvSpPr>
            <a:spLocks noGrp="1" noChangeArrowheads="1"/>
          </p:cNvSpPr>
          <p:nvPr>
            <p:ph type="body" idx="1"/>
          </p:nvPr>
        </p:nvSpPr>
        <p:spPr/>
        <p:txBody>
          <a:bodyPr/>
          <a:lstStyle/>
          <a:p>
            <a:pPr eaLnBrk="1" hangingPunct="1">
              <a:buFontTx/>
              <a:buNone/>
            </a:pPr>
            <a:r>
              <a:rPr lang="sk-SK" altLang="en-US" b="1"/>
              <a:t>INSERT INTO </a:t>
            </a:r>
            <a:r>
              <a:rPr lang="sk-SK" altLang="en-US"/>
              <a:t>meno_tabulky [</a:t>
            </a:r>
            <a:r>
              <a:rPr lang="sk-SK" altLang="en-US" b="1"/>
              <a:t>(</a:t>
            </a:r>
            <a:r>
              <a:rPr lang="sk-SK" altLang="en-US"/>
              <a:t>zoznam_stĺpcov</a:t>
            </a:r>
            <a:r>
              <a:rPr lang="sk-SK" altLang="en-US" b="1"/>
              <a:t>)</a:t>
            </a:r>
            <a:r>
              <a:rPr lang="sk-SK" altLang="en-US"/>
              <a:t>]</a:t>
            </a:r>
          </a:p>
          <a:p>
            <a:pPr eaLnBrk="1" hangingPunct="1">
              <a:buFontTx/>
              <a:buNone/>
            </a:pPr>
            <a:r>
              <a:rPr lang="sk-SK" altLang="en-US"/>
              <a:t>{</a:t>
            </a:r>
            <a:endParaRPr lang="sk-SK" altLang="en-US" b="1"/>
          </a:p>
          <a:p>
            <a:pPr eaLnBrk="1" hangingPunct="1">
              <a:buFontTx/>
              <a:buNone/>
            </a:pPr>
            <a:r>
              <a:rPr lang="sk-SK" altLang="en-US" b="1"/>
              <a:t>	VALUES (</a:t>
            </a:r>
            <a:r>
              <a:rPr lang="sk-SK" altLang="en-US"/>
              <a:t>zoznam_hodnôt</a:t>
            </a:r>
            <a:r>
              <a:rPr lang="sk-SK" altLang="en-US" b="1"/>
              <a:t>)</a:t>
            </a:r>
            <a:endParaRPr lang="sk-SK" altLang="en-US"/>
          </a:p>
          <a:p>
            <a:pPr eaLnBrk="1" hangingPunct="1">
              <a:buFontTx/>
              <a:buNone/>
            </a:pPr>
            <a:r>
              <a:rPr lang="sk-SK" altLang="en-US"/>
              <a:t>|</a:t>
            </a:r>
            <a:endParaRPr lang="sk-SK" altLang="en-US" b="1"/>
          </a:p>
          <a:p>
            <a:pPr eaLnBrk="1" hangingPunct="1">
              <a:buFontTx/>
              <a:buNone/>
            </a:pPr>
            <a:r>
              <a:rPr lang="sk-SK" altLang="en-US" b="1"/>
              <a:t>	SELECT</a:t>
            </a:r>
            <a:r>
              <a:rPr lang="sk-SK" altLang="en-US"/>
              <a:t>-príkaz</a:t>
            </a:r>
          </a:p>
          <a:p>
            <a:pPr eaLnBrk="1" hangingPunct="1">
              <a:buFontTx/>
              <a:buNone/>
            </a:pPr>
            <a:r>
              <a:rPr lang="sk-SK" altLang="en-US"/>
              <a:t>}</a:t>
            </a:r>
            <a:endParaRPr lang="cs-CZ" altLang="en-US"/>
          </a:p>
        </p:txBody>
      </p:sp>
    </p:spTree>
    <p:extLst>
      <p:ext uri="{BB962C8B-B14F-4D97-AF65-F5344CB8AC3E}">
        <p14:creationId xmlns:p14="http://schemas.microsoft.com/office/powerpoint/2010/main" val="8705809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pPr algn="ctr">
              <a:defRPr/>
            </a:pPr>
            <a:r>
              <a:rPr lang="en-US"/>
              <a:t>Model – pr</a:t>
            </a:r>
            <a:r>
              <a:rPr lang="sk-SK"/>
              <a:t>í</a:t>
            </a:r>
            <a:r>
              <a:rPr lang="en-US" err="1"/>
              <a:t>klad</a:t>
            </a:r>
            <a:br>
              <a:rPr lang="en-US"/>
            </a:br>
            <a:endParaRPr lang="en-US"/>
          </a:p>
        </p:txBody>
      </p:sp>
      <p:pic>
        <p:nvPicPr>
          <p:cNvPr id="128003" name="Zástupný symbol obsahu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76250" y="982663"/>
            <a:ext cx="9128125" cy="4848225"/>
          </a:xfrm>
        </p:spPr>
      </p:pic>
    </p:spTree>
    <p:extLst>
      <p:ext uri="{BB962C8B-B14F-4D97-AF65-F5344CB8AC3E}">
        <p14:creationId xmlns:p14="http://schemas.microsoft.com/office/powerpoint/2010/main" val="24091357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en-US"/>
              <a:t>SQL DML</a:t>
            </a:r>
            <a:endParaRPr lang="cs-CZ"/>
          </a:p>
        </p:txBody>
      </p:sp>
      <p:sp>
        <p:nvSpPr>
          <p:cNvPr id="129027" name="Rectangle 3"/>
          <p:cNvSpPr>
            <a:spLocks noGrp="1" noChangeArrowheads="1"/>
          </p:cNvSpPr>
          <p:nvPr>
            <p:ph type="body" idx="1"/>
          </p:nvPr>
        </p:nvSpPr>
        <p:spPr/>
        <p:txBody>
          <a:bodyPr/>
          <a:lstStyle/>
          <a:p>
            <a:pPr eaLnBrk="1" hangingPunct="1">
              <a:buFontTx/>
              <a:buNone/>
            </a:pPr>
            <a:r>
              <a:rPr lang="sk-SK" altLang="en-US" b="1"/>
              <a:t>DELETE FROM </a:t>
            </a:r>
            <a:r>
              <a:rPr lang="sk-SK" altLang="en-US"/>
              <a:t>meno_tabulky</a:t>
            </a:r>
            <a:r>
              <a:rPr lang="sk-SK" altLang="en-US" b="1"/>
              <a:t> </a:t>
            </a:r>
            <a:r>
              <a:rPr lang="sk-SK" altLang="en-US"/>
              <a:t>[</a:t>
            </a:r>
            <a:r>
              <a:rPr lang="sk-SK" altLang="en-US" b="1"/>
              <a:t>WHERE </a:t>
            </a:r>
            <a:r>
              <a:rPr lang="sk-SK" altLang="en-US"/>
              <a:t>podmienka]</a:t>
            </a:r>
            <a:endParaRPr lang="cs-CZ" altLang="en-US"/>
          </a:p>
        </p:txBody>
      </p:sp>
    </p:spTree>
    <p:extLst>
      <p:ext uri="{BB962C8B-B14F-4D97-AF65-F5344CB8AC3E}">
        <p14:creationId xmlns:p14="http://schemas.microsoft.com/office/powerpoint/2010/main" val="13761695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pPr algn="ctr">
              <a:defRPr/>
            </a:pPr>
            <a:r>
              <a:rPr lang="en-US"/>
              <a:t>Model – </a:t>
            </a:r>
            <a:r>
              <a:rPr lang="en-US" err="1"/>
              <a:t>priklad</a:t>
            </a:r>
            <a:br>
              <a:rPr lang="en-US"/>
            </a:br>
            <a:endParaRPr lang="en-US"/>
          </a:p>
        </p:txBody>
      </p:sp>
      <p:pic>
        <p:nvPicPr>
          <p:cNvPr id="131075" name="Zástupný symbol obsahu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76250" y="982663"/>
            <a:ext cx="9128125" cy="4848225"/>
          </a:xfrm>
        </p:spPr>
      </p:pic>
      <p:sp>
        <p:nvSpPr>
          <p:cNvPr id="131076" name="Zástupný symbol päty 3"/>
          <p:cNvSpPr>
            <a:spLocks noGrp="1"/>
          </p:cNvSpPr>
          <p:nvPr>
            <p:ph type="ftr" sz="quarter" idx="4294967295"/>
          </p:nvPr>
        </p:nvSpPr>
        <p:spPr bwMode="auto">
          <a:xfrm>
            <a:off x="8045450" y="6464300"/>
            <a:ext cx="1066800" cy="2476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de-DE" altLang="en-US"/>
              <a:t>Page </a:t>
            </a:r>
            <a:fld id="{B074F615-5829-432D-90C8-89606852079A}" type="slidenum">
              <a:rPr lang="de-DE" altLang="en-US" sz="1400" b="1"/>
              <a:pPr/>
              <a:t>90</a:t>
            </a:fld>
            <a:endParaRPr lang="de-DE" altLang="en-US" sz="1400" b="1"/>
          </a:p>
        </p:txBody>
      </p:sp>
    </p:spTree>
    <p:extLst>
      <p:ext uri="{BB962C8B-B14F-4D97-AF65-F5344CB8AC3E}">
        <p14:creationId xmlns:p14="http://schemas.microsoft.com/office/powerpoint/2010/main" val="25926346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defRPr/>
            </a:pPr>
            <a:r>
              <a:rPr lang="en-US"/>
              <a:t>SQL DML</a:t>
            </a:r>
            <a:endParaRPr lang="cs-CZ"/>
          </a:p>
        </p:txBody>
      </p:sp>
      <p:sp>
        <p:nvSpPr>
          <p:cNvPr id="132099" name="Rectangle 3"/>
          <p:cNvSpPr>
            <a:spLocks noGrp="1" noChangeArrowheads="1"/>
          </p:cNvSpPr>
          <p:nvPr>
            <p:ph type="body" idx="1"/>
          </p:nvPr>
        </p:nvSpPr>
        <p:spPr/>
        <p:txBody>
          <a:bodyPr/>
          <a:lstStyle/>
          <a:p>
            <a:pPr eaLnBrk="1" hangingPunct="1">
              <a:lnSpc>
                <a:spcPct val="80000"/>
              </a:lnSpc>
              <a:buFontTx/>
              <a:buNone/>
            </a:pPr>
            <a:r>
              <a:rPr lang="sk-SK" altLang="en-US" sz="2800" b="1"/>
              <a:t>UPDATE </a:t>
            </a:r>
            <a:r>
              <a:rPr lang="sk-SK" altLang="en-US" sz="2800"/>
              <a:t>meno_tabulky</a:t>
            </a:r>
            <a:r>
              <a:rPr lang="sk-SK" altLang="en-US" sz="2800" b="1"/>
              <a:t> SET </a:t>
            </a:r>
            <a:endParaRPr lang="sk-SK" altLang="en-US" sz="2800"/>
          </a:p>
          <a:p>
            <a:pPr eaLnBrk="1" hangingPunct="1">
              <a:lnSpc>
                <a:spcPct val="80000"/>
              </a:lnSpc>
              <a:buFontTx/>
              <a:buNone/>
            </a:pPr>
            <a:r>
              <a:rPr lang="sk-SK" altLang="en-US" sz="2800"/>
              <a:t>{</a:t>
            </a:r>
          </a:p>
          <a:p>
            <a:pPr eaLnBrk="1" hangingPunct="1">
              <a:lnSpc>
                <a:spcPct val="80000"/>
              </a:lnSpc>
              <a:buFontTx/>
              <a:buNone/>
            </a:pPr>
            <a:r>
              <a:rPr lang="sk-SK" altLang="en-US" sz="2800"/>
              <a:t>	meno_stĺpca </a:t>
            </a:r>
            <a:r>
              <a:rPr lang="sk-SK" altLang="en-US" sz="2800" b="1"/>
              <a:t>=</a:t>
            </a:r>
            <a:r>
              <a:rPr lang="sk-SK" altLang="en-US" sz="2800"/>
              <a:t> výraz[,...]</a:t>
            </a:r>
          </a:p>
          <a:p>
            <a:pPr eaLnBrk="1" hangingPunct="1">
              <a:lnSpc>
                <a:spcPct val="80000"/>
              </a:lnSpc>
              <a:buFontTx/>
              <a:buNone/>
            </a:pPr>
            <a:r>
              <a:rPr lang="sk-SK" altLang="en-US" sz="2800"/>
              <a:t>	| </a:t>
            </a:r>
          </a:p>
          <a:p>
            <a:pPr eaLnBrk="1" hangingPunct="1">
              <a:lnSpc>
                <a:spcPct val="80000"/>
              </a:lnSpc>
              <a:buFontTx/>
              <a:buNone/>
            </a:pPr>
            <a:r>
              <a:rPr lang="sk-SK" altLang="en-US" sz="2800"/>
              <a:t>	{	</a:t>
            </a:r>
            <a:r>
              <a:rPr lang="sk-SK" altLang="en-US" sz="2800" b="1"/>
              <a:t>(</a:t>
            </a:r>
            <a:r>
              <a:rPr lang="sk-SK" altLang="en-US" sz="2800"/>
              <a:t>zoznam_stĺpcov</a:t>
            </a:r>
            <a:r>
              <a:rPr lang="sk-SK" altLang="en-US" sz="2800" b="1"/>
              <a:t>)</a:t>
            </a:r>
            <a:endParaRPr lang="sk-SK" altLang="en-US" sz="2800"/>
          </a:p>
          <a:p>
            <a:pPr eaLnBrk="1" hangingPunct="1">
              <a:lnSpc>
                <a:spcPct val="80000"/>
              </a:lnSpc>
              <a:buFontTx/>
              <a:buNone/>
            </a:pPr>
            <a:r>
              <a:rPr lang="sk-SK" altLang="en-US" sz="2800"/>
              <a:t>		|</a:t>
            </a:r>
            <a:endParaRPr lang="sk-SK" altLang="en-US" sz="2800" b="1"/>
          </a:p>
          <a:p>
            <a:pPr eaLnBrk="1" hangingPunct="1">
              <a:lnSpc>
                <a:spcPct val="80000"/>
              </a:lnSpc>
              <a:buFontTx/>
              <a:buNone/>
            </a:pPr>
            <a:r>
              <a:rPr lang="sk-SK" altLang="en-US" sz="2800" b="1"/>
              <a:t>		*</a:t>
            </a:r>
          </a:p>
          <a:p>
            <a:pPr eaLnBrk="1" hangingPunct="1">
              <a:lnSpc>
                <a:spcPct val="80000"/>
              </a:lnSpc>
              <a:buFontTx/>
              <a:buNone/>
            </a:pPr>
            <a:r>
              <a:rPr lang="sk-SK" altLang="en-US" sz="2800" b="1"/>
              <a:t>	</a:t>
            </a:r>
            <a:r>
              <a:rPr lang="sk-SK" altLang="en-US" sz="2800"/>
              <a:t>}</a:t>
            </a:r>
            <a:r>
              <a:rPr lang="sk-SK" altLang="en-US" sz="2800" b="1"/>
              <a:t> = (</a:t>
            </a:r>
            <a:r>
              <a:rPr lang="sk-SK" altLang="en-US" sz="2800"/>
              <a:t>zoznam_výrazov</a:t>
            </a:r>
            <a:r>
              <a:rPr lang="sk-SK" altLang="en-US" sz="2800" b="1"/>
              <a:t>)</a:t>
            </a:r>
            <a:endParaRPr lang="sk-SK" altLang="en-US" sz="2800"/>
          </a:p>
          <a:p>
            <a:pPr eaLnBrk="1" hangingPunct="1">
              <a:lnSpc>
                <a:spcPct val="80000"/>
              </a:lnSpc>
              <a:buFontTx/>
              <a:buNone/>
            </a:pPr>
            <a:r>
              <a:rPr lang="sk-SK" altLang="en-US" sz="2800"/>
              <a:t>}</a:t>
            </a:r>
          </a:p>
          <a:p>
            <a:pPr eaLnBrk="1" hangingPunct="1">
              <a:lnSpc>
                <a:spcPct val="80000"/>
              </a:lnSpc>
              <a:buFontTx/>
              <a:buNone/>
            </a:pPr>
            <a:r>
              <a:rPr lang="sk-SK" altLang="en-US" sz="2800"/>
              <a:t>[</a:t>
            </a:r>
            <a:r>
              <a:rPr lang="sk-SK" altLang="en-US" sz="2800" b="1"/>
              <a:t>WHERE </a:t>
            </a:r>
            <a:r>
              <a:rPr lang="sk-SK" altLang="en-US" sz="2800"/>
              <a:t>podmienka]</a:t>
            </a:r>
            <a:endParaRPr lang="cs-CZ" altLang="en-US" sz="2800"/>
          </a:p>
        </p:txBody>
      </p:sp>
    </p:spTree>
    <p:extLst>
      <p:ext uri="{BB962C8B-B14F-4D97-AF65-F5344CB8AC3E}">
        <p14:creationId xmlns:p14="http://schemas.microsoft.com/office/powerpoint/2010/main" val="9547074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pPr algn="ctr">
              <a:defRPr/>
            </a:pPr>
            <a:r>
              <a:rPr lang="en-US"/>
              <a:t>Model – pr</a:t>
            </a:r>
            <a:r>
              <a:rPr lang="sk-SK"/>
              <a:t>í</a:t>
            </a:r>
            <a:r>
              <a:rPr lang="en-US" err="1"/>
              <a:t>klad</a:t>
            </a:r>
            <a:br>
              <a:rPr lang="en-US"/>
            </a:br>
            <a:endParaRPr lang="en-US"/>
          </a:p>
        </p:txBody>
      </p:sp>
      <p:pic>
        <p:nvPicPr>
          <p:cNvPr id="134147" name="Zástupný symbol obsahu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76250" y="982663"/>
            <a:ext cx="9128125" cy="4848225"/>
          </a:xfrm>
        </p:spPr>
      </p:pic>
    </p:spTree>
    <p:extLst>
      <p:ext uri="{BB962C8B-B14F-4D97-AF65-F5344CB8AC3E}">
        <p14:creationId xmlns:p14="http://schemas.microsoft.com/office/powerpoint/2010/main" val="387614901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7" descr="Hintergru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7" name="Rectangle 19"/>
          <p:cNvSpPr>
            <a:spLocks noChangeArrowheads="1"/>
          </p:cNvSpPr>
          <p:nvPr/>
        </p:nvSpPr>
        <p:spPr bwMode="auto">
          <a:xfrm>
            <a:off x="576263" y="4727575"/>
            <a:ext cx="39433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90000" rIns="72000" bIns="90000"/>
          <a:lstStyle>
            <a:lvl1pPr marL="177800" indent="-177800" defTabSz="801688">
              <a:defRPr sz="2000">
                <a:solidFill>
                  <a:schemeClr val="tx1"/>
                </a:solidFill>
                <a:latin typeface="Arial" panose="020B0604020202020204" pitchFamily="34" charset="0"/>
              </a:defRPr>
            </a:lvl1pPr>
            <a:lvl2pPr marL="742950" indent="-285750" defTabSz="801688">
              <a:defRPr sz="2000">
                <a:solidFill>
                  <a:schemeClr val="tx1"/>
                </a:solidFill>
                <a:latin typeface="Arial" panose="020B0604020202020204" pitchFamily="34" charset="0"/>
              </a:defRPr>
            </a:lvl2pPr>
            <a:lvl3pPr marL="1143000" indent="-228600" defTabSz="801688">
              <a:defRPr sz="2000">
                <a:solidFill>
                  <a:schemeClr val="tx1"/>
                </a:solidFill>
                <a:latin typeface="Arial" panose="020B0604020202020204" pitchFamily="34" charset="0"/>
              </a:defRPr>
            </a:lvl3pPr>
            <a:lvl4pPr marL="1600200" indent="-228600" defTabSz="801688">
              <a:defRPr sz="2000">
                <a:solidFill>
                  <a:schemeClr val="tx1"/>
                </a:solidFill>
                <a:latin typeface="Arial" panose="020B0604020202020204" pitchFamily="34" charset="0"/>
              </a:defRPr>
            </a:lvl4pPr>
            <a:lvl5pPr marL="2057400" indent="-228600" defTabSz="801688">
              <a:defRPr sz="2000">
                <a:solidFill>
                  <a:schemeClr val="tx1"/>
                </a:solidFill>
                <a:latin typeface="Arial" panose="020B0604020202020204" pitchFamily="34" charset="0"/>
              </a:defRPr>
            </a:lvl5pPr>
            <a:lvl6pPr marL="2514600" indent="-228600" defTabSz="801688"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801688"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801688"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801688"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spcBef>
                <a:spcPct val="20000"/>
              </a:spcBef>
              <a:buClr>
                <a:schemeClr val="accent1"/>
              </a:buClr>
              <a:buFont typeface="Wingdings" panose="05000000000000000000" pitchFamily="2" charset="2"/>
              <a:buNone/>
            </a:pPr>
            <a:r>
              <a:rPr lang="en-US" altLang="sk-SK" sz="1200">
                <a:solidFill>
                  <a:schemeClr val="accent1"/>
                </a:solidFill>
              </a:rPr>
              <a:t>Department of Informatics</a:t>
            </a:r>
          </a:p>
          <a:p>
            <a:pPr eaLnBrk="1" hangingPunct="1">
              <a:spcBef>
                <a:spcPct val="20000"/>
              </a:spcBef>
              <a:buClr>
                <a:schemeClr val="accent1"/>
              </a:buClr>
              <a:buFont typeface="Wingdings" panose="05000000000000000000" pitchFamily="2" charset="2"/>
              <a:buNone/>
            </a:pPr>
            <a:r>
              <a:rPr lang="en-US" altLang="sk-SK" sz="1200">
                <a:solidFill>
                  <a:schemeClr val="accent1"/>
                </a:solidFill>
              </a:rPr>
              <a:t>Faculty of Management Science and Informatics</a:t>
            </a:r>
            <a:endParaRPr lang="sk-SK" altLang="sk-SK" sz="1200">
              <a:solidFill>
                <a:schemeClr val="accent1"/>
              </a:solidFill>
            </a:endParaRPr>
          </a:p>
          <a:p>
            <a:pPr eaLnBrk="1" hangingPunct="1">
              <a:spcBef>
                <a:spcPct val="20000"/>
              </a:spcBef>
              <a:buClr>
                <a:schemeClr val="accent1"/>
              </a:buClr>
              <a:buFont typeface="Wingdings" panose="05000000000000000000" pitchFamily="2" charset="2"/>
              <a:buNone/>
            </a:pPr>
            <a:r>
              <a:rPr lang="en-US" altLang="sk-SK" sz="1200" b="1">
                <a:solidFill>
                  <a:schemeClr val="accent1"/>
                </a:solidFill>
              </a:rPr>
              <a:t>University of Zilina</a:t>
            </a:r>
            <a:endParaRPr lang="en-US" altLang="sk-SK" sz="1200">
              <a:solidFill>
                <a:schemeClr val="accent1"/>
              </a:solidFill>
            </a:endParaRPr>
          </a:p>
        </p:txBody>
      </p:sp>
      <p:sp>
        <p:nvSpPr>
          <p:cNvPr id="98308" name="Line 22"/>
          <p:cNvSpPr>
            <a:spLocks noChangeShapeType="1"/>
          </p:cNvSpPr>
          <p:nvPr/>
        </p:nvSpPr>
        <p:spPr bwMode="auto">
          <a:xfrm>
            <a:off x="676275" y="3695700"/>
            <a:ext cx="311467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wrap="none" anchor="ctr"/>
          <a:lstStyle/>
          <a:p>
            <a:endParaRPr lang="sk-SK"/>
          </a:p>
        </p:txBody>
      </p:sp>
      <p:sp>
        <p:nvSpPr>
          <p:cNvPr id="1073176" name="Rectangle 24"/>
          <p:cNvSpPr>
            <a:spLocks noChangeArrowheads="1"/>
          </p:cNvSpPr>
          <p:nvPr/>
        </p:nvSpPr>
        <p:spPr bwMode="auto">
          <a:xfrm>
            <a:off x="4586288" y="1287463"/>
            <a:ext cx="3943350" cy="4214812"/>
          </a:xfrm>
          <a:prstGeom prst="rect">
            <a:avLst/>
          </a:prstGeom>
          <a:noFill/>
          <a:ln w="9525">
            <a:noFill/>
            <a:miter lim="800000"/>
            <a:headEnd/>
            <a:tailEnd/>
          </a:ln>
        </p:spPr>
        <p:txBody>
          <a:bodyPr lIns="90000" tIns="90000" rIns="72000" bIns="90000"/>
          <a:lstStyle/>
          <a:p>
            <a:pPr marL="177800" indent="-177800" defTabSz="801688" eaLnBrk="1" hangingPunct="1">
              <a:spcBef>
                <a:spcPct val="20000"/>
              </a:spcBef>
              <a:buClr>
                <a:schemeClr val="accent1"/>
              </a:buClr>
              <a:buFont typeface="Wingdings" pitchFamily="2" charset="2"/>
              <a:buNone/>
              <a:defRPr/>
            </a:pPr>
            <a:r>
              <a:rPr lang="en-US" sz="1000" b="1">
                <a:solidFill>
                  <a:schemeClr val="accent1"/>
                </a:solidFill>
                <a:effectLst>
                  <a:outerShdw blurRad="38100" dist="38100" dir="2700000" algn="tl">
                    <a:srgbClr val="C0C0C0"/>
                  </a:outerShdw>
                </a:effectLst>
                <a:latin typeface="Arial" charset="0"/>
              </a:rPr>
              <a:t>UNIVERSITY OF ZILINA</a:t>
            </a:r>
            <a:endParaRPr lang="sk-SK" sz="1000" b="1">
              <a:solidFill>
                <a:schemeClr val="accent1"/>
              </a:solidFill>
              <a:effectLst>
                <a:outerShdw blurRad="38100" dist="38100" dir="2700000" algn="tl">
                  <a:srgbClr val="C0C0C0"/>
                </a:outerShdw>
              </a:effectLst>
              <a:latin typeface="Arial" charset="0"/>
            </a:endParaRPr>
          </a:p>
          <a:p>
            <a:pPr marL="177800" indent="-177800" defTabSz="801688" eaLnBrk="1" hangingPunct="1">
              <a:spcBef>
                <a:spcPct val="20000"/>
              </a:spcBef>
              <a:buClr>
                <a:schemeClr val="accent1"/>
              </a:buClr>
              <a:buFont typeface="Wingdings" pitchFamily="2" charset="2"/>
              <a:buNone/>
              <a:defRPr/>
            </a:pPr>
            <a:r>
              <a:rPr lang="en-US" sz="1000" b="1">
                <a:solidFill>
                  <a:schemeClr val="accent1"/>
                </a:solidFill>
                <a:effectLst>
                  <a:outerShdw blurRad="38100" dist="38100" dir="2700000" algn="tl">
                    <a:srgbClr val="C0C0C0"/>
                  </a:outerShdw>
                </a:effectLst>
                <a:latin typeface="Arial" charset="0"/>
              </a:rPr>
              <a:t>FACULTY OF MANAGEMENT SCIENCE AND INFORMATICS</a:t>
            </a:r>
            <a:endParaRPr lang="sk-SK" sz="1000" b="1">
              <a:solidFill>
                <a:schemeClr val="accent1"/>
              </a:solidFill>
              <a:effectLst>
                <a:outerShdw blurRad="38100" dist="38100" dir="2700000" algn="tl">
                  <a:srgbClr val="C0C0C0"/>
                </a:outerShdw>
              </a:effectLst>
              <a:latin typeface="Arial" charset="0"/>
            </a:endParaRPr>
          </a:p>
          <a:p>
            <a:pPr marL="177800" indent="-177800" defTabSz="801688" eaLnBrk="1" hangingPunct="1">
              <a:spcBef>
                <a:spcPct val="20000"/>
              </a:spcBef>
              <a:buClr>
                <a:schemeClr val="accent1"/>
              </a:buClr>
              <a:buFont typeface="Wingdings" pitchFamily="2" charset="2"/>
              <a:buNone/>
              <a:defRPr/>
            </a:pPr>
            <a:r>
              <a:rPr lang="en-US" sz="1000">
                <a:solidFill>
                  <a:schemeClr val="accent1"/>
                </a:solidFill>
                <a:effectLst>
                  <a:outerShdw blurRad="38100" dist="38100" dir="2700000" algn="tl">
                    <a:srgbClr val="C0C0C0"/>
                  </a:outerShdw>
                </a:effectLst>
                <a:latin typeface="Arial" charset="0"/>
              </a:rPr>
              <a:t>DEPARTMENT OF INFORMATICS</a:t>
            </a:r>
            <a:endParaRPr lang="sk-SK" sz="1000" b="1">
              <a:solidFill>
                <a:schemeClr val="accent1"/>
              </a:solidFill>
              <a:effectLst>
                <a:outerShdw blurRad="38100" dist="38100" dir="2700000" algn="tl">
                  <a:srgbClr val="C0C0C0"/>
                </a:outerShdw>
              </a:effectLst>
              <a:latin typeface="Arial" charset="0"/>
            </a:endParaRPr>
          </a:p>
          <a:p>
            <a:pPr marL="177800" indent="-177800" defTabSz="801688" eaLnBrk="1" hangingPunct="1">
              <a:spcBef>
                <a:spcPct val="20000"/>
              </a:spcBef>
              <a:buClr>
                <a:schemeClr val="accent1"/>
              </a:buClr>
              <a:buFont typeface="Wingdings" pitchFamily="2" charset="2"/>
              <a:buNone/>
              <a:defRPr/>
            </a:pPr>
            <a:endParaRPr lang="sk-SK" sz="1000" b="1">
              <a:solidFill>
                <a:schemeClr val="accent1"/>
              </a:solidFill>
              <a:effectLst>
                <a:outerShdw blurRad="38100" dist="38100" dir="2700000" algn="tl">
                  <a:srgbClr val="C0C0C0"/>
                </a:outerShdw>
              </a:effectLst>
              <a:latin typeface="Arial" charset="0"/>
            </a:endParaRPr>
          </a:p>
          <a:p>
            <a:pPr marL="177800" indent="-177800" defTabSz="801688" eaLnBrk="1" hangingPunct="1">
              <a:spcBef>
                <a:spcPct val="20000"/>
              </a:spcBef>
              <a:buClr>
                <a:schemeClr val="accent1"/>
              </a:buClr>
              <a:buFont typeface="Wingdings" pitchFamily="2" charset="2"/>
              <a:buNone/>
              <a:defRPr/>
            </a:pPr>
            <a:r>
              <a:rPr lang="en-US" sz="1000" b="1" err="1">
                <a:solidFill>
                  <a:schemeClr val="accent1"/>
                </a:solidFill>
                <a:effectLst>
                  <a:outerShdw blurRad="38100" dist="38100" dir="2700000" algn="tl">
                    <a:srgbClr val="C0C0C0"/>
                  </a:outerShdw>
                </a:effectLst>
                <a:latin typeface="Arial" charset="0"/>
              </a:rPr>
              <a:t>Univerzitna</a:t>
            </a:r>
            <a:r>
              <a:rPr lang="en-US" sz="1000" b="1">
                <a:solidFill>
                  <a:schemeClr val="accent1"/>
                </a:solidFill>
                <a:effectLst>
                  <a:outerShdw blurRad="38100" dist="38100" dir="2700000" algn="tl">
                    <a:srgbClr val="C0C0C0"/>
                  </a:outerShdw>
                </a:effectLst>
                <a:latin typeface="Arial" charset="0"/>
              </a:rPr>
              <a:t> 8215/1SK-01026, Zilina</a:t>
            </a:r>
            <a:r>
              <a:rPr lang="sk-SK" sz="1000" b="1">
                <a:solidFill>
                  <a:schemeClr val="accent1"/>
                </a:solidFill>
                <a:effectLst>
                  <a:outerShdw blurRad="38100" dist="38100" dir="2700000" algn="tl">
                    <a:srgbClr val="C0C0C0"/>
                  </a:outerShdw>
                </a:effectLst>
                <a:latin typeface="Arial" charset="0"/>
              </a:rPr>
              <a:t>, </a:t>
            </a:r>
            <a:r>
              <a:rPr lang="en-US" sz="1000" b="1">
                <a:solidFill>
                  <a:schemeClr val="accent1"/>
                </a:solidFill>
                <a:effectLst>
                  <a:outerShdw blurRad="38100" dist="38100" dir="2700000" algn="tl">
                    <a:srgbClr val="C0C0C0"/>
                  </a:outerShdw>
                </a:effectLst>
                <a:latin typeface="Arial" charset="0"/>
              </a:rPr>
              <a:t>Slovak Republic</a:t>
            </a:r>
            <a:endParaRPr lang="sk-SK" sz="1000" b="1">
              <a:solidFill>
                <a:schemeClr val="accent1"/>
              </a:solidFill>
              <a:effectLst>
                <a:outerShdw blurRad="38100" dist="38100" dir="2700000" algn="tl">
                  <a:srgbClr val="C0C0C0"/>
                </a:outerShdw>
              </a:effectLst>
              <a:latin typeface="Arial" charset="0"/>
            </a:endParaRPr>
          </a:p>
          <a:p>
            <a:pPr marL="177800" indent="-177800" defTabSz="801688" eaLnBrk="1" hangingPunct="1">
              <a:spcBef>
                <a:spcPct val="20000"/>
              </a:spcBef>
              <a:buClr>
                <a:schemeClr val="accent1"/>
              </a:buClr>
              <a:buFont typeface="Wingdings" pitchFamily="2" charset="2"/>
              <a:buNone/>
              <a:defRPr/>
            </a:pPr>
            <a:r>
              <a:rPr lang="en-US" sz="1000">
                <a:solidFill>
                  <a:schemeClr val="accent1"/>
                </a:solidFill>
                <a:effectLst>
                  <a:outerShdw blurRad="38100" dist="38100" dir="2700000" algn="tl">
                    <a:srgbClr val="C0C0C0"/>
                  </a:outerShdw>
                </a:effectLst>
                <a:latin typeface="Arial" charset="0"/>
              </a:rPr>
              <a:t>Phone: +421-41-513 </a:t>
            </a:r>
            <a:r>
              <a:rPr lang="sk-SK" sz="1000">
                <a:solidFill>
                  <a:schemeClr val="accent1"/>
                </a:solidFill>
                <a:effectLst>
                  <a:outerShdw blurRad="38100" dist="38100" dir="2700000" algn="tl">
                    <a:srgbClr val="C0C0C0"/>
                  </a:outerShdw>
                </a:effectLst>
                <a:latin typeface="Arial" charset="0"/>
              </a:rPr>
              <a:t>4040</a:t>
            </a:r>
            <a:r>
              <a:rPr lang="en-US" sz="1000">
                <a:solidFill>
                  <a:schemeClr val="accent1"/>
                </a:solidFill>
                <a:effectLst>
                  <a:outerShdw blurRad="38100" dist="38100" dir="2700000" algn="tl">
                    <a:srgbClr val="C0C0C0"/>
                  </a:outerShdw>
                </a:effectLst>
                <a:latin typeface="Arial" charset="0"/>
              </a:rPr>
              <a:t> </a:t>
            </a:r>
            <a:endParaRPr lang="sk-SK" sz="1000">
              <a:solidFill>
                <a:schemeClr val="accent1"/>
              </a:solidFill>
              <a:effectLst>
                <a:outerShdw blurRad="38100" dist="38100" dir="2700000" algn="tl">
                  <a:srgbClr val="C0C0C0"/>
                </a:outerShdw>
              </a:effectLst>
              <a:latin typeface="Arial" charset="0"/>
            </a:endParaRPr>
          </a:p>
          <a:p>
            <a:pPr marL="177800" indent="-177800" defTabSz="801688" eaLnBrk="1" hangingPunct="1">
              <a:spcBef>
                <a:spcPct val="20000"/>
              </a:spcBef>
              <a:buClr>
                <a:schemeClr val="accent1"/>
              </a:buClr>
              <a:buFont typeface="Wingdings" pitchFamily="2" charset="2"/>
              <a:buNone/>
              <a:defRPr/>
            </a:pPr>
            <a:r>
              <a:rPr lang="en-US" sz="1000">
                <a:solidFill>
                  <a:schemeClr val="accent1"/>
                </a:solidFill>
                <a:effectLst>
                  <a:outerShdw blurRad="38100" dist="38100" dir="2700000" algn="tl">
                    <a:srgbClr val="C0C0C0"/>
                  </a:outerShdw>
                </a:effectLst>
                <a:latin typeface="Arial" charset="0"/>
              </a:rPr>
              <a:t>Fax: </a:t>
            </a:r>
            <a:r>
              <a:rPr lang="sk-SK" sz="1000">
                <a:solidFill>
                  <a:schemeClr val="accent1"/>
                </a:solidFill>
                <a:effectLst>
                  <a:outerShdw blurRad="38100" dist="38100" dir="2700000" algn="tl">
                    <a:srgbClr val="C0C0C0"/>
                  </a:outerShdw>
                </a:effectLst>
                <a:latin typeface="Arial" charset="0"/>
              </a:rPr>
              <a:t>    </a:t>
            </a:r>
            <a:r>
              <a:rPr lang="en-US" sz="1000">
                <a:solidFill>
                  <a:schemeClr val="accent1"/>
                </a:solidFill>
                <a:effectLst>
                  <a:outerShdw blurRad="38100" dist="38100" dir="2700000" algn="tl">
                    <a:srgbClr val="C0C0C0"/>
                  </a:outerShdw>
                </a:effectLst>
                <a:latin typeface="Arial" charset="0"/>
              </a:rPr>
              <a:t>+421-41-513 4055 </a:t>
            </a:r>
            <a:endParaRPr lang="sk-SK" sz="1000">
              <a:solidFill>
                <a:schemeClr val="accent1"/>
              </a:solidFill>
              <a:effectLst>
                <a:outerShdw blurRad="38100" dist="38100" dir="2700000" algn="tl">
                  <a:srgbClr val="C0C0C0"/>
                </a:outerShdw>
              </a:effectLst>
              <a:latin typeface="Arial" charset="0"/>
            </a:endParaRPr>
          </a:p>
          <a:p>
            <a:pPr marL="177800" indent="-177800" defTabSz="801688" eaLnBrk="1" hangingPunct="1">
              <a:spcBef>
                <a:spcPct val="20000"/>
              </a:spcBef>
              <a:buClr>
                <a:schemeClr val="accent1"/>
              </a:buClr>
              <a:buFont typeface="Wingdings" pitchFamily="2" charset="2"/>
              <a:buNone/>
              <a:defRPr/>
            </a:pPr>
            <a:r>
              <a:rPr lang="en-US" sz="1000">
                <a:solidFill>
                  <a:schemeClr val="accent1"/>
                </a:solidFill>
                <a:effectLst>
                  <a:outerShdw blurRad="38100" dist="38100" dir="2700000" algn="tl">
                    <a:srgbClr val="C0C0C0"/>
                  </a:outerShdw>
                </a:effectLst>
                <a:latin typeface="Arial" charset="0"/>
              </a:rPr>
              <a:t>Homepage: http://www.fri.uniza.sk</a:t>
            </a:r>
            <a:endParaRPr lang="sk-SK" sz="1000" b="1">
              <a:solidFill>
                <a:schemeClr val="accent1"/>
              </a:solidFill>
              <a:effectLst>
                <a:outerShdw blurRad="38100" dist="38100" dir="2700000" algn="tl">
                  <a:srgbClr val="C0C0C0"/>
                </a:outerShdw>
              </a:effectLst>
              <a:latin typeface="Arial" charset="0"/>
            </a:endParaRPr>
          </a:p>
          <a:p>
            <a:pPr marL="177800" indent="-177800" defTabSz="801688" eaLnBrk="1" hangingPunct="1">
              <a:spcBef>
                <a:spcPct val="20000"/>
              </a:spcBef>
              <a:buClr>
                <a:schemeClr val="accent1"/>
              </a:buClr>
              <a:buFont typeface="Wingdings" pitchFamily="2" charset="2"/>
              <a:buNone/>
              <a:defRPr/>
            </a:pPr>
            <a:endParaRPr lang="sk-SK" sz="1000" b="1">
              <a:solidFill>
                <a:schemeClr val="accent1"/>
              </a:solidFill>
              <a:effectLst>
                <a:outerShdw blurRad="38100" dist="38100" dir="2700000" algn="tl">
                  <a:srgbClr val="C0C0C0"/>
                </a:outerShdw>
              </a:effectLst>
              <a:latin typeface="Arial" charset="0"/>
            </a:endParaRPr>
          </a:p>
          <a:p>
            <a:pPr marL="177800" indent="-177800" defTabSz="801688" eaLnBrk="1" hangingPunct="1">
              <a:spcBef>
                <a:spcPct val="20000"/>
              </a:spcBef>
              <a:buClr>
                <a:schemeClr val="accent1"/>
              </a:buClr>
              <a:buFont typeface="Wingdings" pitchFamily="2" charset="2"/>
              <a:buNone/>
              <a:defRPr/>
            </a:pPr>
            <a:r>
              <a:rPr lang="en-US" sz="1000" b="1">
                <a:solidFill>
                  <a:schemeClr val="accent1"/>
                </a:solidFill>
                <a:latin typeface="Arial" charset="0"/>
              </a:rPr>
              <a:t>Introduction</a:t>
            </a:r>
          </a:p>
          <a:p>
            <a:pPr marL="177800" indent="-177800" algn="just" defTabSz="801688" eaLnBrk="1" hangingPunct="1">
              <a:spcBef>
                <a:spcPct val="20000"/>
              </a:spcBef>
              <a:buClr>
                <a:schemeClr val="accent1"/>
              </a:buClr>
              <a:buFont typeface="Wingdings" pitchFamily="2" charset="2"/>
              <a:buNone/>
              <a:defRPr/>
            </a:pPr>
            <a:r>
              <a:rPr lang="sk-SK" sz="1000" b="1">
                <a:solidFill>
                  <a:schemeClr val="accent1"/>
                </a:solidFill>
                <a:latin typeface="Arial" charset="0"/>
              </a:rPr>
              <a:t>	</a:t>
            </a:r>
            <a:r>
              <a:rPr lang="en-US" sz="1000" b="1">
                <a:solidFill>
                  <a:schemeClr val="accent1"/>
                </a:solidFill>
                <a:latin typeface="Arial" charset="0"/>
              </a:rPr>
              <a:t>The Department of Informatics comprises around 20 academics and research fellows who form research community in Computer Science. Its complement of people directly involved in research is close to 50. The Department is strongly involved in many practical collaborative industry projects and research projects on national and international level.</a:t>
            </a:r>
            <a:endParaRPr lang="sk-SK" sz="1000" b="1">
              <a:solidFill>
                <a:schemeClr val="accent1"/>
              </a:solidFill>
              <a:latin typeface="Arial" charset="0"/>
            </a:endParaRPr>
          </a:p>
          <a:p>
            <a:pPr marL="177800" indent="-177800" algn="just" defTabSz="801688" eaLnBrk="1" hangingPunct="1">
              <a:spcBef>
                <a:spcPct val="20000"/>
              </a:spcBef>
              <a:buClr>
                <a:schemeClr val="accent1"/>
              </a:buClr>
              <a:buFont typeface="Wingdings" pitchFamily="2" charset="2"/>
              <a:buNone/>
              <a:defRPr/>
            </a:pPr>
            <a:endParaRPr lang="en-US" sz="1000" b="1">
              <a:solidFill>
                <a:schemeClr val="accent1"/>
              </a:solidFill>
              <a:latin typeface="Arial" charset="0"/>
            </a:endParaRPr>
          </a:p>
          <a:p>
            <a:pPr marL="177800" indent="-177800" defTabSz="801688" eaLnBrk="1" hangingPunct="1">
              <a:spcBef>
                <a:spcPct val="20000"/>
              </a:spcBef>
              <a:buClr>
                <a:schemeClr val="accent1"/>
              </a:buClr>
              <a:buFont typeface="Wingdings" pitchFamily="2" charset="2"/>
              <a:buNone/>
              <a:defRPr/>
            </a:pPr>
            <a:r>
              <a:rPr lang="en-US" sz="1000" b="1">
                <a:solidFill>
                  <a:schemeClr val="accent1"/>
                </a:solidFill>
                <a:latin typeface="Arial" charset="0"/>
              </a:rPr>
              <a:t>Research</a:t>
            </a:r>
          </a:p>
          <a:p>
            <a:pPr marL="177800" indent="-177800" algn="just" defTabSz="801688" eaLnBrk="1" hangingPunct="1">
              <a:spcBef>
                <a:spcPct val="20000"/>
              </a:spcBef>
              <a:buClr>
                <a:schemeClr val="accent1"/>
              </a:buClr>
              <a:buFont typeface="Wingdings" pitchFamily="2" charset="2"/>
              <a:buNone/>
              <a:defRPr/>
            </a:pPr>
            <a:r>
              <a:rPr lang="sk-SK" sz="1000" b="1">
                <a:solidFill>
                  <a:schemeClr val="accent1"/>
                </a:solidFill>
                <a:latin typeface="Arial" charset="0"/>
              </a:rPr>
              <a:t>	</a:t>
            </a:r>
            <a:r>
              <a:rPr lang="en-US" sz="1000" b="1">
                <a:solidFill>
                  <a:schemeClr val="accent1"/>
                </a:solidFill>
                <a:latin typeface="Arial" charset="0"/>
              </a:rPr>
              <a:t>Research addresses the fundamentals of computer systems, architectures, database systems and information analysis. The key research topics cover distributed and parallel systems and advanced database systems.</a:t>
            </a:r>
            <a:r>
              <a:rPr lang="sk-SK" sz="1000">
                <a:solidFill>
                  <a:schemeClr val="accent1"/>
                </a:solidFill>
                <a:latin typeface="Arial" charset="0"/>
              </a:rPr>
              <a:t> </a:t>
            </a:r>
            <a:endParaRPr lang="de-DE" sz="1000">
              <a:solidFill>
                <a:schemeClr val="accent1"/>
              </a:solidFill>
              <a:latin typeface="Arial" charset="0"/>
            </a:endParaRPr>
          </a:p>
        </p:txBody>
      </p:sp>
      <p:sp>
        <p:nvSpPr>
          <p:cNvPr id="98310" name="Rectangle 26">
            <a:hlinkClick r:id="rId4"/>
          </p:cNvPr>
          <p:cNvSpPr>
            <a:spLocks noChangeArrowheads="1"/>
          </p:cNvSpPr>
          <p:nvPr/>
        </p:nvSpPr>
        <p:spPr bwMode="auto">
          <a:xfrm>
            <a:off x="4533900" y="5100638"/>
            <a:ext cx="2066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endParaRPr lang="en-US" altLang="sk-SK" sz="1800"/>
          </a:p>
        </p:txBody>
      </p:sp>
      <p:sp>
        <p:nvSpPr>
          <p:cNvPr id="98311" name="Text Box 28"/>
          <p:cNvSpPr txBox="1">
            <a:spLocks noChangeArrowheads="1"/>
          </p:cNvSpPr>
          <p:nvPr/>
        </p:nvSpPr>
        <p:spPr bwMode="auto">
          <a:xfrm>
            <a:off x="1805781" y="3878759"/>
            <a:ext cx="253523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sk-SK" sz="1200" b="1" err="1">
                <a:solidFill>
                  <a:schemeClr val="tx2"/>
                </a:solidFill>
              </a:rPr>
              <a:t>doc.Ing</a:t>
            </a:r>
            <a:r>
              <a:rPr lang="en-US" altLang="sk-SK" sz="1200" b="1">
                <a:solidFill>
                  <a:schemeClr val="tx2"/>
                </a:solidFill>
              </a:rPr>
              <a:t>. Michal Kvet, PD.</a:t>
            </a:r>
            <a:endParaRPr lang="sk-SK" altLang="sk-SK" sz="1200" b="1">
              <a:solidFill>
                <a:schemeClr val="tx2"/>
              </a:solidFill>
            </a:endParaRPr>
          </a:p>
          <a:p>
            <a:endParaRPr lang="en-US" altLang="sk-SK" sz="1200" b="1"/>
          </a:p>
          <a:p>
            <a:r>
              <a:rPr lang="en-US" altLang="sk-SK" sz="1000" b="1">
                <a:solidFill>
                  <a:srgbClr val="0000FF"/>
                </a:solidFill>
              </a:rPr>
              <a:t>Michal.Kvet@uniza.sk</a:t>
            </a:r>
            <a:endParaRPr lang="sk-SK" altLang="sk-SK" sz="1000" b="1">
              <a:solidFill>
                <a:srgbClr val="0000FF"/>
              </a:solidFill>
            </a:endParaRPr>
          </a:p>
          <a:p>
            <a:endParaRPr lang="sk-SK" altLang="sk-SK" sz="1000" b="1">
              <a:solidFill>
                <a:schemeClr val="accent1"/>
              </a:solidFill>
            </a:endParaRPr>
          </a:p>
        </p:txBody>
      </p:sp>
      <p:pic>
        <p:nvPicPr>
          <p:cNvPr id="98312" name="Picture 29" descr="logo FRI"/>
          <p:cNvPicPr>
            <a:picLocks noChangeAspect="1" noChangeArrowheads="1"/>
          </p:cNvPicPr>
          <p:nvPr/>
        </p:nvPicPr>
        <p:blipFill>
          <a:blip r:embed="rId5">
            <a:lum bright="-14000" contrast="-14000"/>
            <a:grayscl/>
            <a:extLst>
              <a:ext uri="{28A0092B-C50C-407E-A947-70E740481C1C}">
                <a14:useLocalDpi xmlns:a14="http://schemas.microsoft.com/office/drawing/2010/main" val="0"/>
              </a:ext>
            </a:extLst>
          </a:blip>
          <a:srcRect/>
          <a:stretch>
            <a:fillRect/>
          </a:stretch>
        </p:blipFill>
        <p:spPr bwMode="auto">
          <a:xfrm>
            <a:off x="677863" y="3852863"/>
            <a:ext cx="882650"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55764"/>
      </p:ext>
    </p:extLst>
  </p:cSld>
  <p:clrMapOvr>
    <a:masterClrMapping/>
  </p:clrMapOvr>
</p:sld>
</file>

<file path=ppt/theme/theme1.xml><?xml version="1.0" encoding="utf-8"?>
<a:theme xmlns:a="http://schemas.openxmlformats.org/drawingml/2006/main" name="Motív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Vlastná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ív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E157D8FE381E394CA0978F18D313AF5B" ma:contentTypeVersion="11" ma:contentTypeDescription="Umožňuje vytvoriť nový dokument." ma:contentTypeScope="" ma:versionID="e681be9368498b0049e7557ea59b1456">
  <xsd:schema xmlns:xsd="http://www.w3.org/2001/XMLSchema" xmlns:xs="http://www.w3.org/2001/XMLSchema" xmlns:p="http://schemas.microsoft.com/office/2006/metadata/properties" xmlns:ns2="8b39c7c6-6374-4048-baab-732f731b7b44" xmlns:ns3="51058f39-f02b-4d4c-993e-159a0a029605" targetNamespace="http://schemas.microsoft.com/office/2006/metadata/properties" ma:root="true" ma:fieldsID="499aa344f22427fa1b68d35579a9557b" ns2:_="" ns3:_="">
    <xsd:import namespace="8b39c7c6-6374-4048-baab-732f731b7b44"/>
    <xsd:import namespace="51058f39-f02b-4d4c-993e-159a0a02960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39c7c6-6374-4048-baab-732f731b7b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Značky obrázka" ma:readOnly="false" ma:fieldId="{5cf76f15-5ced-4ddc-b409-7134ff3c332f}" ma:taxonomyMulti="true" ma:sspId="6c0d90c6-5e6a-448a-8a76-ecfc1ec5e2d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1058f39-f02b-4d4c-993e-159a0a02960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f95b176-c47e-4a87-8562-cffecdfa58cc}" ma:internalName="TaxCatchAll" ma:showField="CatchAllData" ma:web="51058f39-f02b-4d4c-993e-159a0a0296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1058f39-f02b-4d4c-993e-159a0a029605" xsi:nil="true"/>
    <lcf76f155ced4ddcb4097134ff3c332f xmlns="8b39c7c6-6374-4048-baab-732f731b7b4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DA3FF6B-7774-414F-8CD0-9B5AE1C998CC}">
  <ds:schemaRefs>
    <ds:schemaRef ds:uri="http://schemas.microsoft.com/sharepoint/v3/contenttype/forms"/>
  </ds:schemaRefs>
</ds:datastoreItem>
</file>

<file path=customXml/itemProps2.xml><?xml version="1.0" encoding="utf-8"?>
<ds:datastoreItem xmlns:ds="http://schemas.openxmlformats.org/officeDocument/2006/customXml" ds:itemID="{59FC296E-429D-40F3-9CCD-93C1D8E4715E}">
  <ds:schemaRefs>
    <ds:schemaRef ds:uri="51058f39-f02b-4d4c-993e-159a0a029605"/>
    <ds:schemaRef ds:uri="8b39c7c6-6374-4048-baab-732f731b7b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14BEDEB-E05A-4073-9B9E-A96EDB43703E}">
  <ds:schemaRefs>
    <ds:schemaRef ds:uri="http://schemas.microsoft.com/office/infopath/2007/PartnerControls"/>
    <ds:schemaRef ds:uri="http://purl.org/dc/terms/"/>
    <ds:schemaRef ds:uri="http://schemas.microsoft.com/office/2006/documentManagement/types"/>
    <ds:schemaRef ds:uri="51058f39-f02b-4d4c-993e-159a0a029605"/>
    <ds:schemaRef ds:uri="http://purl.org/dc/elements/1.1/"/>
    <ds:schemaRef ds:uri="http://schemas.microsoft.com/office/2006/metadata/properties"/>
    <ds:schemaRef ds:uri="http://schemas.openxmlformats.org/package/2006/metadata/core-properties"/>
    <ds:schemaRef ds:uri="8b39c7c6-6374-4048-baab-732f731b7b44"/>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5688</Words>
  <Application>Microsoft Office PowerPoint</Application>
  <PresentationFormat>Prezentácia na obrazovke (4:3)</PresentationFormat>
  <Paragraphs>1090</Paragraphs>
  <Slides>93</Slides>
  <Notes>25</Notes>
  <HiddenSlides>0</HiddenSlides>
  <MMClips>0</MMClips>
  <ScaleCrop>false</ScaleCrop>
  <HeadingPairs>
    <vt:vector size="8" baseType="variant">
      <vt:variant>
        <vt:lpstr>Použité písma</vt:lpstr>
      </vt:variant>
      <vt:variant>
        <vt:i4>11</vt:i4>
      </vt:variant>
      <vt:variant>
        <vt:lpstr>Motív</vt:lpstr>
      </vt:variant>
      <vt:variant>
        <vt:i4>1</vt:i4>
      </vt:variant>
      <vt:variant>
        <vt:lpstr>Vložené servery OLE</vt:lpstr>
      </vt:variant>
      <vt:variant>
        <vt:i4>1</vt:i4>
      </vt:variant>
      <vt:variant>
        <vt:lpstr>Nadpisy snímok</vt:lpstr>
      </vt:variant>
      <vt:variant>
        <vt:i4>93</vt:i4>
      </vt:variant>
    </vt:vector>
  </HeadingPairs>
  <TitlesOfParts>
    <vt:vector size="106" baseType="lpstr">
      <vt:lpstr>SimHei</vt:lpstr>
      <vt:lpstr>Arial</vt:lpstr>
      <vt:lpstr>Calibri</vt:lpstr>
      <vt:lpstr>Century Schoolbook</vt:lpstr>
      <vt:lpstr>Constantia</vt:lpstr>
      <vt:lpstr>Courier New</vt:lpstr>
      <vt:lpstr>Microsoft Sans Serif</vt:lpstr>
      <vt:lpstr>Palatino Linotype</vt:lpstr>
      <vt:lpstr>Tahoma</vt:lpstr>
      <vt:lpstr>Times New Roman</vt:lpstr>
      <vt:lpstr>Wingdings</vt:lpstr>
      <vt:lpstr>Motív Office</vt:lpstr>
      <vt:lpstr>Rastrový obrázek</vt:lpstr>
      <vt:lpstr>SQL DML Select statement … part one</vt:lpstr>
      <vt:lpstr>Dátový model</vt:lpstr>
      <vt:lpstr>Dátový model</vt:lpstr>
      <vt:lpstr>SQL</vt:lpstr>
      <vt:lpstr>SQL DML</vt:lpstr>
      <vt:lpstr>Prezentácia programu PowerPoint</vt:lpstr>
      <vt:lpstr>Výber všetkých riadkov tabuľky</vt:lpstr>
      <vt:lpstr>Projekcia – výber stĺpcov</vt:lpstr>
      <vt:lpstr>Projekcia – výber stĺpcov</vt:lpstr>
      <vt:lpstr>Projekcia – výber stĺpcov</vt:lpstr>
      <vt:lpstr>Alias tabuľky a stĺpcov</vt:lpstr>
      <vt:lpstr>Selekcia – výber  stĺpcov  a riadkov</vt:lpstr>
      <vt:lpstr>Výber bez aliasov</vt:lpstr>
      <vt:lpstr>Výber s použitím aliasov</vt:lpstr>
      <vt:lpstr>Alias stĺpca</vt:lpstr>
      <vt:lpstr>Nesprávne použitie alias stĺpca</vt:lpstr>
      <vt:lpstr>Použitie alias stĺpca ako nového stĺpca v tabuľke</vt:lpstr>
      <vt:lpstr>Použitie aliasov kompletné použitie príklad </vt:lpstr>
      <vt:lpstr>Práca s viacerými  tabuľkami</vt:lpstr>
      <vt:lpstr>Základné typy spojení</vt:lpstr>
      <vt:lpstr>Typy spojenia USING</vt:lpstr>
      <vt:lpstr>Typy spojenia USING</vt:lpstr>
      <vt:lpstr>Typy spojenia ON</vt:lpstr>
      <vt:lpstr>Typy spojenia ON</vt:lpstr>
      <vt:lpstr>Porovnanie typov spojenia </vt:lpstr>
      <vt:lpstr>Porovnanie typov spojenia </vt:lpstr>
      <vt:lpstr>Bez ANSI spojenia</vt:lpstr>
      <vt:lpstr> Projekcia a kartézsky súčin</vt:lpstr>
      <vt:lpstr>Prezentácia programu PowerPoint</vt:lpstr>
      <vt:lpstr>Prezentácia programu PowerPoint</vt:lpstr>
      <vt:lpstr>TRIEDENIE výstupu</vt:lpstr>
      <vt:lpstr>TRIEDENIE výstupu</vt:lpstr>
      <vt:lpstr>TRIEDENIE výstupu</vt:lpstr>
      <vt:lpstr>TRIEDENIE výstupu</vt:lpstr>
      <vt:lpstr>TRIEDENIE výstupu</vt:lpstr>
      <vt:lpstr>Podmienky</vt:lpstr>
      <vt:lpstr>Príklady</vt:lpstr>
      <vt:lpstr>Vypíšte názvy predmetov študenta s priezviskom Baláž</vt:lpstr>
      <vt:lpstr>Vypíšte názvy predmetov študenta s priezviskom Baláž</vt:lpstr>
      <vt:lpstr>Vypíšte názvy predmetov študenta s priezviskom Baláž</vt:lpstr>
      <vt:lpstr>Vypíšte názvy predmetov študenta s priezviskom Baláž</vt:lpstr>
      <vt:lpstr>Funkcie</vt:lpstr>
      <vt:lpstr>Funkcie</vt:lpstr>
      <vt:lpstr> Špeciálne Funkcie - DECODE – prekódovanie hodnôt </vt:lpstr>
      <vt:lpstr> Funkcie  pre číselné dátové typy </vt:lpstr>
      <vt:lpstr>Fcie  pre číselné dátové typy-  ROUND </vt:lpstr>
      <vt:lpstr>Funkcie  pre číselné dátové typy-  TRUNC</vt:lpstr>
      <vt:lpstr>Funkcie  pre číselné dátové typy-  MOD</vt:lpstr>
      <vt:lpstr>Funkcie  pre reťazcové dátové typy</vt:lpstr>
      <vt:lpstr> Funkcie  pre reťazcové dátové typy- SUBSTR – vytvorí  podreťazec </vt:lpstr>
      <vt:lpstr>Funkcie  pre reťazcové dátové typy- SUBSTR – vytvorí  podreťazec </vt:lpstr>
      <vt:lpstr>Funkcie  pre reťazcové dátové typy- LENGTH </vt:lpstr>
      <vt:lpstr>Funkcie  pre reťazcové dátové typy- CONCAT </vt:lpstr>
      <vt:lpstr>Funkcie  pre reťazcové dátové typy- CONCAT </vt:lpstr>
      <vt:lpstr>Funkcie  pre reťazcové dátové typy-spájanie s operátorom || </vt:lpstr>
      <vt:lpstr>Funkcie  pre reťazcové dátové typy-UPPER </vt:lpstr>
      <vt:lpstr>Funkcie  pre reťazcové dátové typy-LOWER </vt:lpstr>
      <vt:lpstr>INITCAP</vt:lpstr>
      <vt:lpstr>Operátor LIKE</vt:lpstr>
      <vt:lpstr>Operátor LIKE – vybrané znaky na ľubovoľnom mieste</vt:lpstr>
      <vt:lpstr>Operátor LIKE – znak 3 po štyroch ľubovoľných znakoch</vt:lpstr>
      <vt:lpstr>Funkcie pre dátumové dátové typy</vt:lpstr>
      <vt:lpstr>Funkcie pre dátumové dátové typy SYSDATE</vt:lpstr>
      <vt:lpstr>TO_CHAR (datum, format) – prevod casu na retazec</vt:lpstr>
      <vt:lpstr>Formát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SQL DML</vt:lpstr>
      <vt:lpstr>SQL DML</vt:lpstr>
      <vt:lpstr>SQL DML</vt:lpstr>
      <vt:lpstr>Model – príklad </vt:lpstr>
      <vt:lpstr>SQL DML</vt:lpstr>
      <vt:lpstr>Model – priklad </vt:lpstr>
      <vt:lpstr>SQL DML</vt:lpstr>
      <vt:lpstr>Model – príklad </vt:lpstr>
      <vt:lpstr>Prezentácia programu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Prezentácia programu PowerPoint</dc:title>
  <dc:creator>Eva Štípalová</dc:creator>
  <cp:lastModifiedBy>STUD - Tobiáš Plavecký</cp:lastModifiedBy>
  <cp:revision>1</cp:revision>
  <dcterms:created xsi:type="dcterms:W3CDTF">2014-11-14T12:13:46Z</dcterms:created>
  <dcterms:modified xsi:type="dcterms:W3CDTF">2025-03-05T22:16:07Z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0x010100E157D8FE381E394CA0978F18D313AF5B</vt:lpwstr>
  </property>
  <property fmtid="{D5CDD505-2E9C-101B-9397-08002B2CF9AE}" pid="3" name="MediaServiceImageTags">
    <vt:lpwstr/>
  </property>
</Properties>
</file>